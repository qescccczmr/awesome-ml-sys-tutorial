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60" r:id="rId2"/>
    <p:sldId id="261" r:id="rId3"/>
    <p:sldId id="276" r:id="rId4"/>
    <p:sldId id="262" r:id="rId5"/>
    <p:sldId id="264" r:id="rId6"/>
    <p:sldId id="265" r:id="rId7"/>
    <p:sldId id="267" r:id="rId8"/>
    <p:sldId id="266" r:id="rId9"/>
    <p:sldId id="268" r:id="rId10"/>
    <p:sldId id="277" r:id="rId11"/>
    <p:sldId id="269" r:id="rId12"/>
    <p:sldId id="270" r:id="rId13"/>
    <p:sldId id="279" r:id="rId14"/>
    <p:sldId id="259" r:id="rId15"/>
    <p:sldId id="271" r:id="rId16"/>
    <p:sldId id="272" r:id="rId17"/>
    <p:sldId id="278" r:id="rId18"/>
    <p:sldId id="273" r:id="rId19"/>
    <p:sldId id="274" r:id="rId20"/>
    <p:sldId id="275" r:id="rId21"/>
    <p:sldId id="263" r:id="rId22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105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200" b="1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1pPr>
    <a:lvl2pPr marL="0" marR="0" indent="228600" algn="ctr" defTabSz="82105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200" b="1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2pPr>
    <a:lvl3pPr marL="0" marR="0" indent="457200" algn="ctr" defTabSz="82105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200" b="1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3pPr>
    <a:lvl4pPr marL="0" marR="0" indent="685800" algn="ctr" defTabSz="82105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200" b="1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4pPr>
    <a:lvl5pPr marL="0" marR="0" indent="914400" algn="ctr" defTabSz="82105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200" b="1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5pPr>
    <a:lvl6pPr marL="0" marR="0" indent="1143000" algn="ctr" defTabSz="82105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200" b="1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6pPr>
    <a:lvl7pPr marL="0" marR="0" indent="1371600" algn="ctr" defTabSz="82105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200" b="1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7pPr>
    <a:lvl8pPr marL="0" marR="0" indent="1600200" algn="ctr" defTabSz="82105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200" b="1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8pPr>
    <a:lvl9pPr marL="0" marR="0" indent="1828800" algn="ctr" defTabSz="82105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200" b="1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88"/>
    <a:srgbClr val="90BEF9"/>
    <a:srgbClr val="D5E8D4"/>
    <a:srgbClr val="666666"/>
    <a:srgbClr val="E1FEC4"/>
    <a:srgbClr val="FEFE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2"/>
    <p:restoredTop sz="94719"/>
  </p:normalViewPr>
  <p:slideViewPr>
    <p:cSldViewPr snapToGrid="0">
      <p:cViewPr>
        <p:scale>
          <a:sx n="71" d="100"/>
          <a:sy n="71" d="100"/>
        </p:scale>
        <p:origin x="416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1pPr>
    <a:lvl2pPr indent="2286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2pPr>
    <a:lvl3pPr indent="4572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3pPr>
    <a:lvl4pPr indent="6858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4pPr>
    <a:lvl5pPr indent="9144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5pPr>
    <a:lvl6pPr indent="11430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6pPr>
    <a:lvl7pPr indent="13716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7pPr>
    <a:lvl8pPr indent="16002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8pPr>
    <a:lvl9pPr indent="18288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 - 水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mage"/>
          <p:cNvSpPr>
            <a:spLocks noGrp="1"/>
          </p:cNvSpPr>
          <p:nvPr>
            <p:ph type="pic" idx="13"/>
          </p:nvPr>
        </p:nvSpPr>
        <p:spPr>
          <a:xfrm>
            <a:off x="2137171" y="714375"/>
            <a:ext cx="17395034" cy="8637945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4833937" y="9447609"/>
            <a:ext cx="14716126" cy="200025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2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833937" y="11465718"/>
            <a:ext cx="14716126" cy="1589486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ClrTx/>
              <a:buSzTx/>
              <a:buNone/>
              <a:defRPr sz="5200"/>
            </a:lvl1pPr>
            <a:lvl2pPr marL="0" indent="0" algn="ctr">
              <a:spcBef>
                <a:spcPts val="0"/>
              </a:spcBef>
              <a:buClrTx/>
              <a:buSzTx/>
              <a:buNone/>
              <a:defRPr sz="5200"/>
            </a:lvl2pPr>
            <a:lvl3pPr marL="0" indent="0" algn="ctr">
              <a:spcBef>
                <a:spcPts val="0"/>
              </a:spcBef>
              <a:buClrTx/>
              <a:buSzTx/>
              <a:buNone/>
              <a:defRPr sz="5200"/>
            </a:lvl3pPr>
            <a:lvl4pPr marL="0" indent="0" algn="ctr">
              <a:spcBef>
                <a:spcPts val="0"/>
              </a:spcBef>
              <a:buClrTx/>
              <a:buSzTx/>
              <a:buNone/>
              <a:defRPr sz="5200"/>
            </a:lvl4pPr>
            <a:lvl5pPr marL="0" indent="0" algn="ctr">
              <a:spcBef>
                <a:spcPts val="0"/>
              </a:spcBef>
              <a:buClrTx/>
              <a:buSzTx/>
              <a:buNone/>
              <a:defRPr sz="5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 - 居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4833937" y="4536281"/>
            <a:ext cx="14716126" cy="4643438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 - 垂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mage"/>
          <p:cNvSpPr>
            <a:spLocks noGrp="1"/>
          </p:cNvSpPr>
          <p:nvPr>
            <p:ph type="pic" idx="13"/>
          </p:nvPr>
        </p:nvSpPr>
        <p:spPr>
          <a:xfrm>
            <a:off x="6494800" y="-194764"/>
            <a:ext cx="19020237" cy="12680158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4387453" y="892968"/>
            <a:ext cx="7500938" cy="5607845"/>
          </a:xfrm>
          <a:prstGeom prst="rect">
            <a:avLst/>
          </a:prstGeom>
        </p:spPr>
        <p:txBody>
          <a:bodyPr anchor="b"/>
          <a:lstStyle>
            <a:lvl1pPr>
              <a:defRPr sz="8400"/>
            </a:lvl1pPr>
          </a:lstStyle>
          <a:p>
            <a:r>
              <a:t>Title Text</a:t>
            </a:r>
          </a:p>
        </p:txBody>
      </p:sp>
      <p:sp>
        <p:nvSpPr>
          <p:cNvPr id="40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387453" y="6643687"/>
            <a:ext cx="7500938" cy="5786438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ClrTx/>
              <a:buSzTx/>
              <a:buNone/>
              <a:defRPr sz="5200"/>
            </a:lvl1pPr>
            <a:lvl2pPr marL="0" indent="0" algn="ctr">
              <a:spcBef>
                <a:spcPts val="0"/>
              </a:spcBef>
              <a:buClrTx/>
              <a:buSzTx/>
              <a:buNone/>
              <a:defRPr sz="5200"/>
            </a:lvl2pPr>
            <a:lvl3pPr marL="0" indent="0" algn="ctr">
              <a:spcBef>
                <a:spcPts val="0"/>
              </a:spcBef>
              <a:buClrTx/>
              <a:buSzTx/>
              <a:buNone/>
              <a:defRPr sz="5200"/>
            </a:lvl3pPr>
            <a:lvl4pPr marL="0" indent="0" algn="ctr">
              <a:spcBef>
                <a:spcPts val="0"/>
              </a:spcBef>
              <a:buClrTx/>
              <a:buSzTx/>
              <a:buNone/>
              <a:defRPr sz="5200"/>
            </a:lvl4pPr>
            <a:lvl5pPr marL="0" indent="0" algn="ctr">
              <a:spcBef>
                <a:spcPts val="0"/>
              </a:spcBef>
              <a:buClrTx/>
              <a:buSzTx/>
              <a:buNone/>
              <a:defRPr sz="5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 - 顶部对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buClrTx/>
            </a:lvl1pPr>
            <a:lvl2pPr>
              <a:buClrTx/>
            </a:lvl2pPr>
            <a:lvl3pPr>
              <a:buClrTx/>
            </a:lvl3pPr>
            <a:lvl4pPr>
              <a:buClrTx/>
            </a:lvl4pPr>
            <a:lvl5pPr>
              <a:buClrTx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、项目符号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"/>
          <p:cNvSpPr>
            <a:spLocks noGrp="1"/>
          </p:cNvSpPr>
          <p:nvPr>
            <p:ph type="pic" idx="13"/>
          </p:nvPr>
        </p:nvSpPr>
        <p:spPr>
          <a:xfrm>
            <a:off x="9338964" y="2857500"/>
            <a:ext cx="14466095" cy="9644063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387453" y="3643312"/>
            <a:ext cx="7500938" cy="8840392"/>
          </a:xfrm>
          <a:prstGeom prst="rect">
            <a:avLst/>
          </a:prstGeom>
        </p:spPr>
        <p:txBody>
          <a:bodyPr/>
          <a:lstStyle>
            <a:lvl1pPr marL="465455" indent="-465455">
              <a:spcBef>
                <a:spcPts val="4500"/>
              </a:spcBef>
              <a:buClrTx/>
              <a:defRPr sz="3800"/>
            </a:lvl1pPr>
            <a:lvl2pPr marL="808355" indent="-465455">
              <a:spcBef>
                <a:spcPts val="4500"/>
              </a:spcBef>
              <a:buClrTx/>
              <a:defRPr sz="3800"/>
            </a:lvl2pPr>
            <a:lvl3pPr marL="1151255" indent="-465455">
              <a:spcBef>
                <a:spcPts val="4500"/>
              </a:spcBef>
              <a:buClrTx/>
              <a:defRPr sz="3800"/>
            </a:lvl3pPr>
            <a:lvl4pPr marL="1494155" indent="-465455">
              <a:spcBef>
                <a:spcPts val="4500"/>
              </a:spcBef>
              <a:buClrTx/>
              <a:defRPr sz="3800"/>
            </a:lvl4pPr>
            <a:lvl5pPr marL="1837055" indent="-465455">
              <a:spcBef>
                <a:spcPts val="4500"/>
              </a:spcBef>
              <a:buClrTx/>
              <a:defRPr sz="3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4387453" y="1785937"/>
            <a:ext cx="15609094" cy="10144126"/>
          </a:xfrm>
          <a:prstGeom prst="rect">
            <a:avLst/>
          </a:prstGeom>
        </p:spPr>
        <p:txBody>
          <a:bodyPr/>
          <a:lstStyle>
            <a:lvl1pPr>
              <a:buClrTx/>
            </a:lvl1pPr>
            <a:lvl2pPr>
              <a:buClrTx/>
            </a:lvl2pPr>
            <a:lvl3pPr>
              <a:buClrTx/>
            </a:lvl3pPr>
            <a:lvl4pPr>
              <a:buClrTx/>
            </a:lvl4pPr>
            <a:lvl5pPr>
              <a:buClrTx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 - 3 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Image"/>
          <p:cNvSpPr>
            <a:spLocks noGrp="1"/>
          </p:cNvSpPr>
          <p:nvPr>
            <p:ph type="pic" sz="quarter" idx="13"/>
          </p:nvPr>
        </p:nvSpPr>
        <p:spPr>
          <a:xfrm>
            <a:off x="12084843" y="6983015"/>
            <a:ext cx="8277822" cy="5518548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4" name="Image"/>
          <p:cNvSpPr>
            <a:spLocks noGrp="1"/>
          </p:cNvSpPr>
          <p:nvPr>
            <p:ph type="pic" sz="quarter" idx="14"/>
          </p:nvPr>
        </p:nvSpPr>
        <p:spPr>
          <a:xfrm>
            <a:off x="12522398" y="898922"/>
            <a:ext cx="8268892" cy="5512594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5" name="Image"/>
          <p:cNvSpPr>
            <a:spLocks noGrp="1"/>
          </p:cNvSpPr>
          <p:nvPr>
            <p:ph type="pic" idx="15"/>
          </p:nvPr>
        </p:nvSpPr>
        <p:spPr>
          <a:xfrm>
            <a:off x="-1733848" y="-178594"/>
            <a:ext cx="19020235" cy="1268015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引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 txBox="1">
            <a:spLocks noGrp="1"/>
          </p:cNvSpPr>
          <p:nvPr>
            <p:ph type="body" sz="quarter" idx="13" hasCustomPrompt="1"/>
          </p:nvPr>
        </p:nvSpPr>
        <p:spPr>
          <a:xfrm>
            <a:off x="4833937" y="8947546"/>
            <a:ext cx="14716126" cy="647701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ClrTx/>
              <a:buSzTx/>
              <a:buNone/>
              <a:defRPr sz="3200" i="1"/>
            </a:lvl1pPr>
          </a:lstStyle>
          <a:p>
            <a:r>
              <a:t>–Johnny Appleseed</a:t>
            </a:r>
          </a:p>
        </p:txBody>
      </p:sp>
      <p:sp>
        <p:nvSpPr>
          <p:cNvPr id="94" name="“在此键入引文。”"/>
          <p:cNvSpPr txBox="1">
            <a:spLocks noGrp="1"/>
          </p:cNvSpPr>
          <p:nvPr>
            <p:ph type="body" sz="quarter" idx="14" hasCustomPrompt="1"/>
          </p:nvPr>
        </p:nvSpPr>
        <p:spPr>
          <a:xfrm>
            <a:off x="4833937" y="6003528"/>
            <a:ext cx="14716126" cy="968376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ClrTx/>
              <a:buSzTx/>
              <a:buNone/>
              <a:defRPr sz="4600">
                <a:latin typeface="+mn-lt"/>
                <a:ea typeface="+mn-ea"/>
                <a:cs typeface="+mn-cs"/>
                <a:sym typeface="Helvetica Neue Medium" panose="02000503000000020004"/>
              </a:defRPr>
            </a:lvl1pPr>
          </a:lstStyle>
          <a:p>
            <a:r>
              <a:t>“在此键入引文。”</a:t>
            </a:r>
          </a:p>
        </p:txBody>
      </p:sp>
      <p:sp>
        <p:nvSpPr>
          <p:cNvPr id="9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Image"/>
          <p:cNvSpPr>
            <a:spLocks noGrp="1"/>
          </p:cNvSpPr>
          <p:nvPr>
            <p:ph type="pic" idx="13"/>
          </p:nvPr>
        </p:nvSpPr>
        <p:spPr>
          <a:xfrm>
            <a:off x="1740742" y="-17860"/>
            <a:ext cx="23275935" cy="1551729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77BAE9-E305-7A99-310D-18CCF0ABA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751C1A-5EBB-3ADC-697F-C64FAE2E03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44066B6-A7B2-DFED-7168-908DE76E8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C55D0-B920-294C-9EEA-6FEBD1F357AB}" type="datetimeFigureOut">
              <a:rPr kumimoji="1" lang="zh-CN" altLang="en-US" smtClean="0"/>
              <a:t>2026/3/12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C4B893-EC92-C25C-D792-51218C852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E8BC24-BBDF-F795-48C5-0AA699052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962817" y="13073062"/>
            <a:ext cx="448840" cy="482823"/>
          </a:xfrm>
        </p:spPr>
        <p:txBody>
          <a:bodyPr/>
          <a:lstStyle/>
          <a:p>
            <a:fld id="{2E1D4E09-DA47-CB47-9239-C18337444BB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85788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  <a:ln w="12700">
            <a:miter lim="400000"/>
          </a:ln>
        </p:spPr>
        <p:txBody>
          <a:bodyPr lIns="71437" tIns="71437" rIns="71437" bIns="71437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4387453" y="3643312"/>
            <a:ext cx="15609094" cy="8840392"/>
          </a:xfrm>
          <a:prstGeom prst="rect">
            <a:avLst/>
          </a:prstGeom>
          <a:ln w="12700">
            <a:miter lim="400000"/>
          </a:ln>
        </p:spPr>
        <p:txBody>
          <a:bodyPr lIns="71437" tIns="71437" rIns="71437" bIns="71437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>
            <a:spAutoFit/>
          </a:bodyPr>
          <a:lstStyle>
            <a:lvl1pPr>
              <a:defRPr sz="2200" b="0"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transition spd="med"/>
  <p:txStyles>
    <p:titleStyle>
      <a:lvl1pPr marL="0" marR="0" indent="0" algn="ctr" defTabSz="82105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 Medium" panose="02000503000000020004"/>
        </a:defRPr>
      </a:lvl1pPr>
      <a:lvl2pPr marL="0" marR="0" indent="0" algn="ctr" defTabSz="82105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 Medium" panose="02000503000000020004"/>
        </a:defRPr>
      </a:lvl2pPr>
      <a:lvl3pPr marL="0" marR="0" indent="0" algn="ctr" defTabSz="82105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 Medium" panose="02000503000000020004"/>
        </a:defRPr>
      </a:lvl3pPr>
      <a:lvl4pPr marL="0" marR="0" indent="0" algn="ctr" defTabSz="82105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 Medium" panose="02000503000000020004"/>
        </a:defRPr>
      </a:lvl4pPr>
      <a:lvl5pPr marL="0" marR="0" indent="0" algn="ctr" defTabSz="82105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 Medium" panose="02000503000000020004"/>
        </a:defRPr>
      </a:lvl5pPr>
      <a:lvl6pPr marL="0" marR="0" indent="0" algn="ctr" defTabSz="82105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 Medium" panose="02000503000000020004"/>
        </a:defRPr>
      </a:lvl6pPr>
      <a:lvl7pPr marL="0" marR="0" indent="0" algn="ctr" defTabSz="82105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 Medium" panose="02000503000000020004"/>
        </a:defRPr>
      </a:lvl7pPr>
      <a:lvl8pPr marL="0" marR="0" indent="0" algn="ctr" defTabSz="82105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 Medium" panose="02000503000000020004"/>
        </a:defRPr>
      </a:lvl8pPr>
      <a:lvl9pPr marL="0" marR="0" indent="0" algn="ctr" defTabSz="82105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 Medium" panose="02000503000000020004"/>
        </a:defRPr>
      </a:lvl9pPr>
    </p:titleStyle>
    <p:bodyStyle>
      <a:lvl1pPr marL="610870" marR="0" indent="-610870" algn="l" defTabSz="821055" rtl="0" latinLnBrk="0">
        <a:lnSpc>
          <a:spcPct val="100000"/>
        </a:lnSpc>
        <a:spcBef>
          <a:spcPts val="5900"/>
        </a:spcBef>
        <a:spcAft>
          <a:spcPts val="0"/>
        </a:spcAft>
        <a:buClr>
          <a:srgbClr val="FFFFFF"/>
        </a:buClr>
        <a:buSzPct val="145000"/>
        <a:buFontTx/>
        <a:buChar char="•"/>
        <a:defRPr sz="4400" b="0" i="0" u="none" strike="noStrike" cap="none" spc="0" baseline="0">
          <a:solidFill>
            <a:srgbClr val="FFFFFF"/>
          </a:solidFill>
          <a:uFillTx/>
          <a:latin typeface="Helvetica Neue" panose="02000503000000020004"/>
          <a:ea typeface="Helvetica Neue" panose="02000503000000020004"/>
          <a:cs typeface="Helvetica Neue" panose="02000503000000020004"/>
          <a:sym typeface="Helvetica Neue" panose="02000503000000020004"/>
        </a:defRPr>
      </a:lvl1pPr>
      <a:lvl2pPr marL="1055370" marR="0" indent="-610870" algn="l" defTabSz="821055" rtl="0" latinLnBrk="0">
        <a:lnSpc>
          <a:spcPct val="100000"/>
        </a:lnSpc>
        <a:spcBef>
          <a:spcPts val="5900"/>
        </a:spcBef>
        <a:spcAft>
          <a:spcPts val="0"/>
        </a:spcAft>
        <a:buClr>
          <a:srgbClr val="FFFFFF"/>
        </a:buClr>
        <a:buSzPct val="145000"/>
        <a:buFontTx/>
        <a:buChar char="•"/>
        <a:defRPr sz="4400" b="0" i="0" u="none" strike="noStrike" cap="none" spc="0" baseline="0">
          <a:solidFill>
            <a:srgbClr val="FFFFFF"/>
          </a:solidFill>
          <a:uFillTx/>
          <a:latin typeface="Helvetica Neue" panose="02000503000000020004"/>
          <a:ea typeface="Helvetica Neue" panose="02000503000000020004"/>
          <a:cs typeface="Helvetica Neue" panose="02000503000000020004"/>
          <a:sym typeface="Helvetica Neue" panose="02000503000000020004"/>
        </a:defRPr>
      </a:lvl2pPr>
      <a:lvl3pPr marL="1499870" marR="0" indent="-610870" algn="l" defTabSz="821055" rtl="0" latinLnBrk="0">
        <a:lnSpc>
          <a:spcPct val="100000"/>
        </a:lnSpc>
        <a:spcBef>
          <a:spcPts val="5900"/>
        </a:spcBef>
        <a:spcAft>
          <a:spcPts val="0"/>
        </a:spcAft>
        <a:buClr>
          <a:srgbClr val="FFFFFF"/>
        </a:buClr>
        <a:buSzPct val="145000"/>
        <a:buFontTx/>
        <a:buChar char="•"/>
        <a:defRPr sz="4400" b="0" i="0" u="none" strike="noStrike" cap="none" spc="0" baseline="0">
          <a:solidFill>
            <a:srgbClr val="FFFFFF"/>
          </a:solidFill>
          <a:uFillTx/>
          <a:latin typeface="Helvetica Neue" panose="02000503000000020004"/>
          <a:ea typeface="Helvetica Neue" panose="02000503000000020004"/>
          <a:cs typeface="Helvetica Neue" panose="02000503000000020004"/>
          <a:sym typeface="Helvetica Neue" panose="02000503000000020004"/>
        </a:defRPr>
      </a:lvl3pPr>
      <a:lvl4pPr marL="1944370" marR="0" indent="-610870" algn="l" defTabSz="821055" rtl="0" latinLnBrk="0">
        <a:lnSpc>
          <a:spcPct val="100000"/>
        </a:lnSpc>
        <a:spcBef>
          <a:spcPts val="5900"/>
        </a:spcBef>
        <a:spcAft>
          <a:spcPts val="0"/>
        </a:spcAft>
        <a:buClr>
          <a:srgbClr val="FFFFFF"/>
        </a:buClr>
        <a:buSzPct val="145000"/>
        <a:buFontTx/>
        <a:buChar char="•"/>
        <a:defRPr sz="4400" b="0" i="0" u="none" strike="noStrike" cap="none" spc="0" baseline="0">
          <a:solidFill>
            <a:srgbClr val="FFFFFF"/>
          </a:solidFill>
          <a:uFillTx/>
          <a:latin typeface="Helvetica Neue" panose="02000503000000020004"/>
          <a:ea typeface="Helvetica Neue" panose="02000503000000020004"/>
          <a:cs typeface="Helvetica Neue" panose="02000503000000020004"/>
          <a:sym typeface="Helvetica Neue" panose="02000503000000020004"/>
        </a:defRPr>
      </a:lvl4pPr>
      <a:lvl5pPr marL="2388870" marR="0" indent="-610870" algn="l" defTabSz="821055" rtl="0" latinLnBrk="0">
        <a:lnSpc>
          <a:spcPct val="100000"/>
        </a:lnSpc>
        <a:spcBef>
          <a:spcPts val="5900"/>
        </a:spcBef>
        <a:spcAft>
          <a:spcPts val="0"/>
        </a:spcAft>
        <a:buClr>
          <a:srgbClr val="FFFFFF"/>
        </a:buClr>
        <a:buSzPct val="145000"/>
        <a:buFontTx/>
        <a:buChar char="•"/>
        <a:defRPr sz="4400" b="0" i="0" u="none" strike="noStrike" cap="none" spc="0" baseline="0">
          <a:solidFill>
            <a:srgbClr val="FFFFFF"/>
          </a:solidFill>
          <a:uFillTx/>
          <a:latin typeface="Helvetica Neue" panose="02000503000000020004"/>
          <a:ea typeface="Helvetica Neue" panose="02000503000000020004"/>
          <a:cs typeface="Helvetica Neue" panose="02000503000000020004"/>
          <a:sym typeface="Helvetica Neue" panose="02000503000000020004"/>
        </a:defRPr>
      </a:lvl5pPr>
      <a:lvl6pPr marL="2833370" marR="0" indent="-610870" algn="l" defTabSz="821055" rtl="0" latinLnBrk="0">
        <a:lnSpc>
          <a:spcPct val="100000"/>
        </a:lnSpc>
        <a:spcBef>
          <a:spcPts val="5900"/>
        </a:spcBef>
        <a:spcAft>
          <a:spcPts val="0"/>
        </a:spcAft>
        <a:buClr>
          <a:srgbClr val="FFFFFF"/>
        </a:buClr>
        <a:buSzPct val="145000"/>
        <a:buFontTx/>
        <a:buChar char="•"/>
        <a:defRPr sz="4400" b="0" i="0" u="none" strike="noStrike" cap="none" spc="0" baseline="0">
          <a:solidFill>
            <a:srgbClr val="FFFFFF"/>
          </a:solidFill>
          <a:uFillTx/>
          <a:latin typeface="Helvetica Neue" panose="02000503000000020004"/>
          <a:ea typeface="Helvetica Neue" panose="02000503000000020004"/>
          <a:cs typeface="Helvetica Neue" panose="02000503000000020004"/>
          <a:sym typeface="Helvetica Neue" panose="02000503000000020004"/>
        </a:defRPr>
      </a:lvl6pPr>
      <a:lvl7pPr marL="3277870" marR="0" indent="-610870" algn="l" defTabSz="821055" rtl="0" latinLnBrk="0">
        <a:lnSpc>
          <a:spcPct val="100000"/>
        </a:lnSpc>
        <a:spcBef>
          <a:spcPts val="5900"/>
        </a:spcBef>
        <a:spcAft>
          <a:spcPts val="0"/>
        </a:spcAft>
        <a:buClr>
          <a:srgbClr val="FFFFFF"/>
        </a:buClr>
        <a:buSzPct val="145000"/>
        <a:buFontTx/>
        <a:buChar char="•"/>
        <a:defRPr sz="4400" b="0" i="0" u="none" strike="noStrike" cap="none" spc="0" baseline="0">
          <a:solidFill>
            <a:srgbClr val="FFFFFF"/>
          </a:solidFill>
          <a:uFillTx/>
          <a:latin typeface="Helvetica Neue" panose="02000503000000020004"/>
          <a:ea typeface="Helvetica Neue" panose="02000503000000020004"/>
          <a:cs typeface="Helvetica Neue" panose="02000503000000020004"/>
          <a:sym typeface="Helvetica Neue" panose="02000503000000020004"/>
        </a:defRPr>
      </a:lvl7pPr>
      <a:lvl8pPr marL="3722370" marR="0" indent="-610870" algn="l" defTabSz="821055" rtl="0" latinLnBrk="0">
        <a:lnSpc>
          <a:spcPct val="100000"/>
        </a:lnSpc>
        <a:spcBef>
          <a:spcPts val="5900"/>
        </a:spcBef>
        <a:spcAft>
          <a:spcPts val="0"/>
        </a:spcAft>
        <a:buClr>
          <a:srgbClr val="FFFFFF"/>
        </a:buClr>
        <a:buSzPct val="145000"/>
        <a:buFontTx/>
        <a:buChar char="•"/>
        <a:defRPr sz="4400" b="0" i="0" u="none" strike="noStrike" cap="none" spc="0" baseline="0">
          <a:solidFill>
            <a:srgbClr val="FFFFFF"/>
          </a:solidFill>
          <a:uFillTx/>
          <a:latin typeface="Helvetica Neue" panose="02000503000000020004"/>
          <a:ea typeface="Helvetica Neue" panose="02000503000000020004"/>
          <a:cs typeface="Helvetica Neue" panose="02000503000000020004"/>
          <a:sym typeface="Helvetica Neue" panose="02000503000000020004"/>
        </a:defRPr>
      </a:lvl8pPr>
      <a:lvl9pPr marL="4166870" marR="0" indent="-610870" algn="l" defTabSz="821055" rtl="0" latinLnBrk="0">
        <a:lnSpc>
          <a:spcPct val="100000"/>
        </a:lnSpc>
        <a:spcBef>
          <a:spcPts val="5900"/>
        </a:spcBef>
        <a:spcAft>
          <a:spcPts val="0"/>
        </a:spcAft>
        <a:buClr>
          <a:srgbClr val="FFFFFF"/>
        </a:buClr>
        <a:buSzPct val="145000"/>
        <a:buFontTx/>
        <a:buChar char="•"/>
        <a:defRPr sz="4400" b="0" i="0" u="none" strike="noStrike" cap="none" spc="0" baseline="0">
          <a:solidFill>
            <a:srgbClr val="FFFFFF"/>
          </a:solidFill>
          <a:uFillTx/>
          <a:latin typeface="Helvetica Neue" panose="02000503000000020004"/>
          <a:ea typeface="Helvetica Neue" panose="02000503000000020004"/>
          <a:cs typeface="Helvetica Neue" panose="02000503000000020004"/>
          <a:sym typeface="Helvetica Neue" panose="02000503000000020004"/>
        </a:defRPr>
      </a:lvl9pPr>
    </p:bodyStyle>
    <p:otherStyle>
      <a:lvl1pPr marL="0" marR="0" indent="0" algn="ctr" defTabSz="82105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1pPr>
      <a:lvl2pPr marL="0" marR="0" indent="228600" algn="ctr" defTabSz="82105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2pPr>
      <a:lvl3pPr marL="0" marR="0" indent="457200" algn="ctr" defTabSz="82105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3pPr>
      <a:lvl4pPr marL="0" marR="0" indent="685800" algn="ctr" defTabSz="82105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4pPr>
      <a:lvl5pPr marL="0" marR="0" indent="914400" algn="ctr" defTabSz="82105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5pPr>
      <a:lvl6pPr marL="0" marR="0" indent="1143000" algn="ctr" defTabSz="82105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6pPr>
      <a:lvl7pPr marL="0" marR="0" indent="1371600" algn="ctr" defTabSz="82105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7pPr>
      <a:lvl8pPr marL="0" marR="0" indent="1600200" algn="ctr" defTabSz="82105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8pPr>
      <a:lvl9pPr marL="0" marR="0" indent="1828800" algn="ctr" defTabSz="82105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svg"/><Relationship Id="rId3" Type="http://schemas.openxmlformats.org/officeDocument/2006/relationships/image" Target="../media/image23.svg"/><Relationship Id="rId7" Type="http://schemas.openxmlformats.org/officeDocument/2006/relationships/image" Target="../media/image27.svg"/><Relationship Id="rId12" Type="http://schemas.openxmlformats.org/officeDocument/2006/relationships/image" Target="../media/image3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6.png"/><Relationship Id="rId11" Type="http://schemas.openxmlformats.org/officeDocument/2006/relationships/image" Target="../media/image31.svg"/><Relationship Id="rId5" Type="http://schemas.openxmlformats.org/officeDocument/2006/relationships/image" Target="../media/image25.sv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sv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这里是标题 Title"/>
          <p:cNvSpPr txBox="1"/>
          <p:nvPr/>
        </p:nvSpPr>
        <p:spPr>
          <a:xfrm>
            <a:off x="2023716" y="2666378"/>
            <a:ext cx="12659818" cy="1375376"/>
          </a:xfrm>
          <a:prstGeom prst="rect">
            <a:avLst/>
          </a:prstGeom>
          <a:ln w="12700">
            <a:miter lim="400000"/>
          </a:ln>
        </p:spPr>
        <p:txBody>
          <a:bodyPr lIns="71437" tIns="71437" rIns="71437" bIns="71437" anchor="ctr">
            <a:spAutoFit/>
          </a:bodyPr>
          <a:lstStyle/>
          <a:p>
            <a:pPr algn="l">
              <a:defRPr sz="9000">
                <a:solidFill>
                  <a:srgbClr val="323232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US" sz="8000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704020202090204"/>
                <a:sym typeface="Arial" panose="020B0704020202090204"/>
              </a:rPr>
              <a:t>视频生成下的通算融合优化</a:t>
            </a:r>
            <a:endParaRPr sz="80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704020202090204"/>
              <a:sym typeface="Arial" panose="020B0704020202090204"/>
            </a:endParaRPr>
          </a:p>
        </p:txBody>
      </p:sp>
      <p:sp>
        <p:nvSpPr>
          <p:cNvPr id="139" name="副标题或姓名 Subtitle or Name"/>
          <p:cNvSpPr txBox="1"/>
          <p:nvPr/>
        </p:nvSpPr>
        <p:spPr>
          <a:xfrm>
            <a:off x="2133706" y="4283520"/>
            <a:ext cx="13095983" cy="690342"/>
          </a:xfrm>
          <a:prstGeom prst="rect">
            <a:avLst/>
          </a:prstGeom>
          <a:ln w="12700">
            <a:miter lim="400000"/>
          </a:ln>
        </p:spPr>
        <p:txBody>
          <a:bodyPr wrap="none" lIns="37033" tIns="37033" rIns="37033" bIns="37033" anchor="ctr">
            <a:spAutoFit/>
          </a:bodyPr>
          <a:lstStyle>
            <a:lvl1pPr algn="l" defTabSz="825500">
              <a:defRPr sz="4000" b="0">
                <a:solidFill>
                  <a:srgbClr val="555555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Tile-level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Fusion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of MMA and Communication in USP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0" name="logo-黑色.png" descr="logo-黑色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67655" y="12086919"/>
            <a:ext cx="2243998" cy="84407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F278ECD5-FDD8-7C80-5D20-4EB4F59DDF00}"/>
              </a:ext>
            </a:extLst>
          </p:cNvPr>
          <p:cNvSpPr txBox="1"/>
          <p:nvPr/>
        </p:nvSpPr>
        <p:spPr>
          <a:xfrm>
            <a:off x="24513116" y="-542643"/>
            <a:ext cx="144334" cy="63671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none" lIns="71437" tIns="71437" rIns="71437" bIns="71437" numCol="1" spcCol="38100" rtlCol="0" anchor="ctr">
            <a:spAutoFit/>
          </a:bodyPr>
          <a:lstStyle/>
          <a:p>
            <a:pPr marL="0" marR="0" indent="0" algn="ctr" defTabSz="82105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1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" panose="02000503000000020004"/>
              <a:ea typeface="Helvetica Neue" panose="02000503000000020004"/>
              <a:cs typeface="Helvetica Neue" panose="02000503000000020004"/>
              <a:sym typeface="Helvetica Neue" panose="02000503000000020004"/>
            </a:endParaRPr>
          </a:p>
        </p:txBody>
      </p:sp>
      <p:sp>
        <p:nvSpPr>
          <p:cNvPr id="3" name="副标题或姓名 Subtitle or Name">
            <a:extLst>
              <a:ext uri="{FF2B5EF4-FFF2-40B4-BE49-F238E27FC236}">
                <a16:creationId xmlns:a16="http://schemas.microsoft.com/office/drawing/2014/main" id="{464A3D9D-410D-BF7C-76F6-106207A990F0}"/>
              </a:ext>
            </a:extLst>
          </p:cNvPr>
          <p:cNvSpPr txBox="1"/>
          <p:nvPr/>
        </p:nvSpPr>
        <p:spPr>
          <a:xfrm>
            <a:off x="2133706" y="5688987"/>
            <a:ext cx="3665516" cy="690342"/>
          </a:xfrm>
          <a:prstGeom prst="rect">
            <a:avLst/>
          </a:prstGeom>
          <a:ln w="12700">
            <a:miter lim="400000"/>
          </a:ln>
        </p:spPr>
        <p:txBody>
          <a:bodyPr wrap="none" lIns="37033" tIns="37033" rIns="37033" bIns="37033" anchor="ctr">
            <a:spAutoFit/>
          </a:bodyPr>
          <a:lstStyle>
            <a:lvl1pPr algn="l" defTabSz="825500">
              <a:defRPr sz="4000" b="0">
                <a:solidFill>
                  <a:srgbClr val="555555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r>
              <a:rPr lang="en-US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分享人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：冼健文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空白页面，自由制作"/>
          <p:cNvSpPr txBox="1"/>
          <p:nvPr/>
        </p:nvSpPr>
        <p:spPr>
          <a:xfrm>
            <a:off x="579744" y="796211"/>
            <a:ext cx="4957457" cy="913711"/>
          </a:xfrm>
          <a:prstGeom prst="rect">
            <a:avLst/>
          </a:prstGeom>
          <a:ln w="12700">
            <a:miter lim="400000"/>
          </a:ln>
        </p:spPr>
        <p:txBody>
          <a:bodyPr wrap="square" lIns="71437" tIns="71437" rIns="71437" bIns="71437" anchor="ctr">
            <a:spAutoFit/>
          </a:bodyPr>
          <a:lstStyle>
            <a:lvl1pPr>
              <a:defRPr sz="6000" b="0">
                <a:solidFill>
                  <a:srgbClr val="6C6C6C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r>
              <a:rPr lang="en-US" sz="5000" dirty="0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分享内容</a:t>
            </a:r>
            <a:endParaRPr sz="50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空白页面，自由制作">
            <a:extLst>
              <a:ext uri="{FF2B5EF4-FFF2-40B4-BE49-F238E27FC236}">
                <a16:creationId xmlns:a16="http://schemas.microsoft.com/office/drawing/2014/main" id="{207AA476-5FE1-38E2-4FFC-7043481F459A}"/>
              </a:ext>
            </a:extLst>
          </p:cNvPr>
          <p:cNvSpPr txBox="1"/>
          <p:nvPr/>
        </p:nvSpPr>
        <p:spPr>
          <a:xfrm>
            <a:off x="8815805" y="2784770"/>
            <a:ext cx="7054115" cy="8146460"/>
          </a:xfrm>
          <a:prstGeom prst="rect">
            <a:avLst/>
          </a:prstGeom>
          <a:ln w="12700">
            <a:miter lim="400000"/>
          </a:ln>
        </p:spPr>
        <p:txBody>
          <a:bodyPr wrap="square" lIns="71437" tIns="71437" rIns="71437" bIns="71437" anchor="ctr">
            <a:spAutoFit/>
          </a:bodyPr>
          <a:lstStyle>
            <a:lvl1pPr>
              <a:defRPr sz="6000" b="0">
                <a:solidFill>
                  <a:srgbClr val="6C6C6C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pPr marL="742950" indent="-742950" algn="l">
              <a:buAutoNum type="arabicPeriod"/>
            </a:pPr>
            <a:r>
              <a:rPr lang="zh-CN" altLang="en-US" sz="4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</a:t>
            </a:r>
            <a:r>
              <a:rPr lang="en-US" altLang="zh-CN" sz="4000" dirty="0">
                <a:solidFill>
                  <a:srgbClr val="66666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USP</a:t>
            </a:r>
          </a:p>
          <a:p>
            <a:pPr marL="742950" indent="-742950" algn="l">
              <a:buAutoNum type="arabicPeriod"/>
            </a:pPr>
            <a:endParaRPr lang="en-US" sz="40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indent="-742950" algn="l">
              <a:buAutoNum type="arabicPeriod"/>
            </a:pPr>
            <a:r>
              <a:rPr lang="zh-CN" altLang="en-US" sz="4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现存方案</a:t>
            </a:r>
            <a:r>
              <a:rPr lang="en-US" altLang="zh-CN" sz="4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en-US" altLang="zh-CN" sz="4000" dirty="0">
                <a:solidFill>
                  <a:srgbClr val="66666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Async</a:t>
            </a:r>
            <a:r>
              <a:rPr lang="zh-CN" altLang="en-US" sz="4000" dirty="0">
                <a:solidFill>
                  <a:srgbClr val="666666"/>
                </a:solidFill>
                <a:latin typeface="JetBrains Mono NL" panose="02000009000000000000" pitchFamily="49" charset="0"/>
                <a:ea typeface="微软雅黑" panose="020B0503020204020204" pitchFamily="34" charset="-122"/>
                <a:cs typeface="JetBrains Mono NL" panose="02000009000000000000" pitchFamily="49" charset="0"/>
              </a:rPr>
              <a:t> </a:t>
            </a:r>
            <a:r>
              <a:rPr lang="en-US" altLang="zh-CN" sz="4000" dirty="0">
                <a:solidFill>
                  <a:srgbClr val="66666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USP</a:t>
            </a:r>
          </a:p>
          <a:p>
            <a:pPr marL="742950" indent="-742950" algn="l">
              <a:buAutoNum type="arabicPeriod"/>
            </a:pPr>
            <a:endParaRPr lang="en-US" sz="40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indent="-742950" algn="l">
              <a:buAutoNum type="arabicPeriod"/>
            </a:pPr>
            <a:r>
              <a:rPr lang="zh-CN" altLang="en-US" sz="4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实现思路与调优过程</a:t>
            </a:r>
            <a:endParaRPr lang="en-US" altLang="zh-CN" sz="40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indent="-742950" algn="l">
              <a:buAutoNum type="arabicPeriod"/>
            </a:pPr>
            <a:endParaRPr lang="en-US" sz="40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indent="-742950" algn="l">
              <a:buAutoNum type="arabicPeriod"/>
            </a:pPr>
            <a:r>
              <a:rPr lang="zh-CN" altLang="en-US" sz="4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性能收益</a:t>
            </a:r>
            <a:endParaRPr lang="en-US" altLang="zh-CN" sz="40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indent="-742950" algn="l">
              <a:buAutoNum type="arabicPeriod"/>
            </a:pPr>
            <a:endParaRPr lang="en-US" sz="40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indent="-742950" algn="l">
              <a:buAutoNum type="arabicPeriod"/>
            </a:pPr>
            <a:r>
              <a:rPr lang="zh-CN" altLang="en-US" sz="4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通算融合的不同类型</a:t>
            </a:r>
            <a:endParaRPr lang="en-US" altLang="zh-CN" sz="40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indent="-742950" algn="l">
              <a:buAutoNum type="arabicPeriod"/>
            </a:pPr>
            <a:endParaRPr lang="en-US" sz="40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indent="-742950" algn="l">
              <a:buAutoNum type="arabicPeriod"/>
            </a:pPr>
            <a:r>
              <a:rPr lang="zh-CN" altLang="en-US" sz="4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妙用</a:t>
            </a:r>
            <a:r>
              <a:rPr lang="en-US" altLang="zh-CN" sz="4000" dirty="0" err="1">
                <a:solidFill>
                  <a:srgbClr val="66666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NVSwitch</a:t>
            </a:r>
            <a:endParaRPr lang="en-US" altLang="zh-CN" sz="4000" dirty="0">
              <a:solidFill>
                <a:srgbClr val="666666"/>
              </a:solidFill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pPr marL="742950" indent="-742950" algn="l">
              <a:buAutoNum type="arabicPeriod"/>
            </a:pPr>
            <a:endParaRPr lang="en-US" sz="40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indent="-742950" algn="l">
              <a:buAutoNum type="arabicPeriod"/>
            </a:pPr>
            <a:r>
              <a:rPr lang="zh-CN" altLang="en-US" sz="4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下一代架构展望</a:t>
            </a:r>
            <a:endParaRPr sz="40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7EB8EC-02CB-7BD2-83FF-F9B459F15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空白页面，自由制作">
            <a:extLst>
              <a:ext uri="{FF2B5EF4-FFF2-40B4-BE49-F238E27FC236}">
                <a16:creationId xmlns:a16="http://schemas.microsoft.com/office/drawing/2014/main" id="{172C9CDC-42A3-D5B1-72BE-642AFEDE0EED}"/>
              </a:ext>
            </a:extLst>
          </p:cNvPr>
          <p:cNvSpPr txBox="1"/>
          <p:nvPr/>
        </p:nvSpPr>
        <p:spPr>
          <a:xfrm>
            <a:off x="579744" y="796211"/>
            <a:ext cx="4957457" cy="913711"/>
          </a:xfrm>
          <a:prstGeom prst="rect">
            <a:avLst/>
          </a:prstGeom>
          <a:ln w="12700">
            <a:miter lim="400000"/>
          </a:ln>
        </p:spPr>
        <p:txBody>
          <a:bodyPr wrap="square" lIns="71437" tIns="71437" rIns="71437" bIns="71437" anchor="ctr">
            <a:spAutoFit/>
          </a:bodyPr>
          <a:lstStyle>
            <a:lvl1pPr>
              <a:defRPr sz="6000" b="0">
                <a:solidFill>
                  <a:srgbClr val="6C6C6C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r>
              <a:rPr lang="en-US" sz="5000" dirty="0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</a:t>
            </a:r>
            <a:r>
              <a:rPr lang="en-US" sz="5000" dirty="0" err="1">
                <a:solidFill>
                  <a:srgbClr val="66666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MMDiT</a:t>
            </a:r>
            <a:r>
              <a:rPr lang="en-US" sz="5000" dirty="0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讲起</a:t>
            </a:r>
            <a:endParaRPr sz="50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B621952-28C2-DEF4-C937-FC6FE6E74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0880" y="2316519"/>
            <a:ext cx="16122239" cy="10603270"/>
          </a:xfrm>
          <a:prstGeom prst="rect">
            <a:avLst/>
          </a:prstGeom>
        </p:spPr>
      </p:pic>
      <p:sp>
        <p:nvSpPr>
          <p:cNvPr id="3" name="空白页面，自由制作">
            <a:extLst>
              <a:ext uri="{FF2B5EF4-FFF2-40B4-BE49-F238E27FC236}">
                <a16:creationId xmlns:a16="http://schemas.microsoft.com/office/drawing/2014/main" id="{48463CBB-246E-0E9C-C224-E57892383B5F}"/>
              </a:ext>
            </a:extLst>
          </p:cNvPr>
          <p:cNvSpPr txBox="1"/>
          <p:nvPr/>
        </p:nvSpPr>
        <p:spPr>
          <a:xfrm>
            <a:off x="9713270" y="1709922"/>
            <a:ext cx="4957457" cy="605934"/>
          </a:xfrm>
          <a:prstGeom prst="rect">
            <a:avLst/>
          </a:prstGeom>
          <a:ln w="12700">
            <a:miter lim="400000"/>
          </a:ln>
        </p:spPr>
        <p:txBody>
          <a:bodyPr wrap="square" lIns="71437" tIns="71437" rIns="71437" bIns="71437" anchor="ctr">
            <a:spAutoFit/>
          </a:bodyPr>
          <a:lstStyle>
            <a:lvl1pPr>
              <a:defRPr sz="6000" b="0">
                <a:solidFill>
                  <a:srgbClr val="6C6C6C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r>
              <a:rPr lang="en-US" sz="3000" b="1" dirty="0">
                <a:solidFill>
                  <a:srgbClr val="66666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Stable Diffusion 3</a:t>
            </a:r>
            <a:endParaRPr sz="3000" b="1" dirty="0">
              <a:solidFill>
                <a:srgbClr val="666666"/>
              </a:solidFill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2910000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FCE20144-F1E0-C404-1AF5-8FCAC410F5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878" y="197224"/>
            <a:ext cx="23304243" cy="13518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空白页面，自由制作">
            <a:extLst>
              <a:ext uri="{FF2B5EF4-FFF2-40B4-BE49-F238E27FC236}">
                <a16:creationId xmlns:a16="http://schemas.microsoft.com/office/drawing/2014/main" id="{BC967AD6-3E42-D8A3-EF90-E5D0E4E5A354}"/>
              </a:ext>
            </a:extLst>
          </p:cNvPr>
          <p:cNvSpPr txBox="1"/>
          <p:nvPr/>
        </p:nvSpPr>
        <p:spPr>
          <a:xfrm>
            <a:off x="882106" y="590745"/>
            <a:ext cx="4096294" cy="913711"/>
          </a:xfrm>
          <a:prstGeom prst="rect">
            <a:avLst/>
          </a:prstGeom>
          <a:ln w="12700">
            <a:miter lim="400000"/>
          </a:ln>
        </p:spPr>
        <p:txBody>
          <a:bodyPr wrap="square" lIns="71437" tIns="71437" rIns="71437" bIns="71437" anchor="ctr">
            <a:spAutoFit/>
          </a:bodyPr>
          <a:lstStyle>
            <a:lvl1pPr>
              <a:defRPr sz="6000" b="0">
                <a:solidFill>
                  <a:srgbClr val="6C6C6C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pPr algn="l"/>
            <a:r>
              <a:rPr lang="en-US" sz="5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什么是</a:t>
            </a:r>
            <a:r>
              <a:rPr lang="en-US" sz="50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USP</a:t>
            </a:r>
            <a:r>
              <a:rPr lang="zh-CN" altLang="en-US" sz="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sz="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BA1DDC-B5B3-599E-83D5-1F0BC00DD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空白页面，自由制作">
            <a:extLst>
              <a:ext uri="{FF2B5EF4-FFF2-40B4-BE49-F238E27FC236}">
                <a16:creationId xmlns:a16="http://schemas.microsoft.com/office/drawing/2014/main" id="{FC248C69-8A0E-0B5B-31D1-81A39CBE0701}"/>
              </a:ext>
            </a:extLst>
          </p:cNvPr>
          <p:cNvSpPr txBox="1"/>
          <p:nvPr/>
        </p:nvSpPr>
        <p:spPr>
          <a:xfrm>
            <a:off x="882106" y="590745"/>
            <a:ext cx="3368162" cy="913711"/>
          </a:xfrm>
          <a:prstGeom prst="rect">
            <a:avLst/>
          </a:prstGeom>
          <a:ln w="12700">
            <a:miter lim="400000"/>
          </a:ln>
        </p:spPr>
        <p:txBody>
          <a:bodyPr wrap="square" lIns="71437" tIns="71437" rIns="71437" bIns="71437" anchor="ctr">
            <a:spAutoFit/>
          </a:bodyPr>
          <a:lstStyle>
            <a:lvl1pPr>
              <a:defRPr sz="6000" b="0">
                <a:solidFill>
                  <a:srgbClr val="6C6C6C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pPr algn="l"/>
            <a:r>
              <a:rPr lang="en-US" sz="50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USP</a:t>
            </a:r>
            <a:r>
              <a:rPr lang="en-US" sz="5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优势</a:t>
            </a:r>
            <a:endParaRPr sz="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078" name="Picture 6">
            <a:extLst>
              <a:ext uri="{FF2B5EF4-FFF2-40B4-BE49-F238E27FC236}">
                <a16:creationId xmlns:a16="http://schemas.microsoft.com/office/drawing/2014/main" id="{FD56CEE4-FCF2-BBB3-1E9F-2F0E24751D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9400" y="1504456"/>
            <a:ext cx="16205200" cy="7754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912F81BC-6AFD-A4B4-C004-C715A4878B96}"/>
                  </a:ext>
                </a:extLst>
              </p:cNvPr>
              <p:cNvSpPr txBox="1"/>
              <p:nvPr/>
            </p:nvSpPr>
            <p:spPr>
              <a:xfrm>
                <a:off x="6132924" y="10355082"/>
                <a:ext cx="3719223" cy="92198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 marL="0" marR="0" indent="0" algn="ctr" defTabSz="821055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3200" b="1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Helvetica Neue" panose="02000503000000020004"/>
                              <a:cs typeface="Helvetica Neue" panose="02000503000000020004"/>
                              <a:sym typeface="Helvetica Neue" panose="02000503000000020004"/>
                            </a:rPr>
                          </m:ctrlPr>
                        </m:sSubPr>
                        <m:e>
                          <m:r>
                            <a:rPr kumimoji="0" lang="en-US" altLang="zh-CN" sz="3200" b="1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Helvetica Neue" panose="02000503000000020004"/>
                              <a:cs typeface="Helvetica Neue" panose="02000503000000020004"/>
                              <a:sym typeface="Helvetica Neue" panose="02000503000000020004"/>
                            </a:rPr>
                            <m:t>𝑫</m:t>
                          </m:r>
                        </m:e>
                        <m:sub>
                          <m:r>
                            <a:rPr kumimoji="0" lang="en-US" altLang="zh-CN" sz="3200" b="1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Helvetica Neue" panose="02000503000000020004"/>
                              <a:cs typeface="Helvetica Neue" panose="02000503000000020004"/>
                              <a:sym typeface="Helvetica Neue" panose="02000503000000020004"/>
                            </a:rPr>
                            <m:t>𝑻𝑷</m:t>
                          </m:r>
                        </m:sub>
                      </m:sSub>
                      <m:r>
                        <a:rPr kumimoji="0" lang="en-US" altLang="zh-CN" sz="3200" b="1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Helvetica Neue" panose="02000503000000020004"/>
                          <a:cs typeface="Helvetica Neue" panose="02000503000000020004"/>
                          <a:sym typeface="Helvetica Neue" panose="02000503000000020004"/>
                        </a:rPr>
                        <m:t>=</m:t>
                      </m:r>
                      <m:r>
                        <a:rPr kumimoji="0" lang="en-US" altLang="zh-CN" sz="3200" b="1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Helvetica Neue" panose="02000503000000020004"/>
                          <a:cs typeface="Helvetica Neue" panose="02000503000000020004"/>
                          <a:sym typeface="Helvetica Neue" panose="02000503000000020004"/>
                        </a:rPr>
                        <m:t>𝟐</m:t>
                      </m:r>
                      <m:r>
                        <a:rPr kumimoji="0" lang="en-US" altLang="zh-CN" sz="3200" b="1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Helvetica Neue" panose="02000503000000020004"/>
                        </a:rPr>
                        <m:t>∙</m:t>
                      </m:r>
                      <m:f>
                        <m:fPr>
                          <m:ctrlPr>
                            <a:rPr kumimoji="0" lang="en-US" altLang="zh-CN" sz="3200" b="1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Helvetica Neue" panose="02000503000000020004"/>
                              <a:cs typeface="Helvetica Neue" panose="02000503000000020004"/>
                              <a:sym typeface="Helvetica Neue" panose="02000503000000020004"/>
                            </a:rPr>
                          </m:ctrlPr>
                        </m:fPr>
                        <m:num>
                          <m:r>
                            <a:rPr kumimoji="0" lang="en-US" altLang="zh-CN" sz="3200" b="1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Helvetica Neue" panose="02000503000000020004"/>
                              <a:cs typeface="Helvetica Neue" panose="02000503000000020004"/>
                              <a:sym typeface="Helvetica Neue" panose="02000503000000020004"/>
                            </a:rPr>
                            <m:t>𝑷</m:t>
                          </m:r>
                          <m:r>
                            <a:rPr kumimoji="0" lang="en-US" altLang="zh-CN" sz="3200" b="1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Helvetica Neue" panose="02000503000000020004"/>
                              <a:cs typeface="Helvetica Neue" panose="02000503000000020004"/>
                              <a:sym typeface="Helvetica Neue" panose="02000503000000020004"/>
                            </a:rPr>
                            <m:t>−</m:t>
                          </m:r>
                          <m:r>
                            <a:rPr kumimoji="0" lang="en-US" altLang="zh-CN" sz="3200" b="1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Helvetica Neue" panose="02000503000000020004"/>
                              <a:cs typeface="Helvetica Neue" panose="02000503000000020004"/>
                              <a:sym typeface="Helvetica Neue" panose="02000503000000020004"/>
                            </a:rPr>
                            <m:t>𝟏</m:t>
                          </m:r>
                        </m:num>
                        <m:den>
                          <m:r>
                            <a:rPr kumimoji="0" lang="en-US" altLang="zh-CN" sz="3200" b="1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Helvetica Neue" panose="02000503000000020004"/>
                              <a:cs typeface="Helvetica Neue" panose="02000503000000020004"/>
                              <a:sym typeface="Helvetica Neue" panose="02000503000000020004"/>
                            </a:rPr>
                            <m:t>𝑷</m:t>
                          </m:r>
                        </m:den>
                      </m:f>
                      <m:r>
                        <a:rPr kumimoji="0" lang="en-US" altLang="zh-CN" sz="3200" b="1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Helvetica Neue" panose="02000503000000020004"/>
                        </a:rPr>
                        <m:t>∙</m:t>
                      </m:r>
                      <m:r>
                        <a:rPr kumimoji="0" lang="en-US" altLang="zh-CN" sz="3200" b="1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Helvetica Neue" panose="02000503000000020004"/>
                          <a:cs typeface="Helvetica Neue" panose="02000503000000020004"/>
                          <a:sym typeface="Helvetica Neue" panose="02000503000000020004"/>
                        </a:rPr>
                        <m:t>𝑺𝒅</m:t>
                      </m:r>
                    </m:oMath>
                  </m:oMathPara>
                </a14:m>
                <a:endParaRPr kumimoji="0" lang="zh-CN" altLang="en-US" sz="3200" b="1" i="0" u="none" strike="noStrike" cap="none" spc="0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Helvetica Neue" panose="02000503000000020004"/>
                  <a:ea typeface="Helvetica Neue" panose="02000503000000020004"/>
                  <a:cs typeface="Helvetica Neue" panose="02000503000000020004"/>
                  <a:sym typeface="Helvetica Neue" panose="02000503000000020004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912F81BC-6AFD-A4B4-C004-C715A4878B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2924" y="10355082"/>
                <a:ext cx="3719223" cy="921984"/>
              </a:xfrm>
              <a:prstGeom prst="rect">
                <a:avLst/>
              </a:prstGeom>
              <a:blipFill>
                <a:blip r:embed="rId3"/>
                <a:stretch>
                  <a:fillRect l="-3061" r="-340" b="-13514"/>
                </a:stretch>
              </a:blipFill>
              <a:ln w="12700" cap="flat">
                <a:noFill/>
                <a:miter lim="4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E8EDC373-6B18-CAC5-A80D-D0D02C63335B}"/>
                  </a:ext>
                </a:extLst>
              </p:cNvPr>
              <p:cNvSpPr txBox="1"/>
              <p:nvPr/>
            </p:nvSpPr>
            <p:spPr>
              <a:xfrm>
                <a:off x="12936787" y="10355082"/>
                <a:ext cx="3919599" cy="92198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 marL="0" marR="0" indent="0" algn="ctr" defTabSz="821055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3200" b="1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Helvetica Neue" panose="02000503000000020004"/>
                              <a:cs typeface="Helvetica Neue" panose="02000503000000020004"/>
                              <a:sym typeface="Helvetica Neue" panose="02000503000000020004"/>
                            </a:rPr>
                          </m:ctrlPr>
                        </m:sSubPr>
                        <m:e>
                          <m:r>
                            <a:rPr kumimoji="0" lang="en-US" altLang="zh-CN" sz="3200" b="1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Helvetica Neue" panose="02000503000000020004"/>
                              <a:cs typeface="Helvetica Neue" panose="02000503000000020004"/>
                              <a:sym typeface="Helvetica Neue" panose="02000503000000020004"/>
                            </a:rPr>
                            <m:t>𝑫</m:t>
                          </m:r>
                        </m:e>
                        <m:sub>
                          <m:r>
                            <a:rPr kumimoji="0" lang="en-US" altLang="zh-CN" sz="3200" b="1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Helvetica Neue" panose="02000503000000020004"/>
                              <a:cs typeface="Helvetica Neue" panose="02000503000000020004"/>
                              <a:sym typeface="Helvetica Neue" panose="02000503000000020004"/>
                            </a:rPr>
                            <m:t>𝑼𝑺𝑷</m:t>
                          </m:r>
                        </m:sub>
                      </m:sSub>
                      <m:r>
                        <a:rPr kumimoji="0" lang="en-US" altLang="zh-CN" sz="3200" b="1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Helvetica Neue" panose="02000503000000020004"/>
                          <a:cs typeface="Helvetica Neue" panose="02000503000000020004"/>
                          <a:sym typeface="Helvetica Neue" panose="02000503000000020004"/>
                        </a:rPr>
                        <m:t>=</m:t>
                      </m:r>
                      <m:r>
                        <a:rPr kumimoji="0" lang="en-US" altLang="zh-CN" sz="3200" b="1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Helvetica Neue" panose="02000503000000020004"/>
                          <a:cs typeface="Helvetica Neue" panose="02000503000000020004"/>
                          <a:sym typeface="Helvetica Neue" panose="02000503000000020004"/>
                        </a:rPr>
                        <m:t>𝟒</m:t>
                      </m:r>
                      <m:r>
                        <a:rPr kumimoji="0" lang="en-US" altLang="zh-CN" sz="3200" b="1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Helvetica Neue" panose="02000503000000020004"/>
                        </a:rPr>
                        <m:t>∙</m:t>
                      </m:r>
                      <m:f>
                        <m:fPr>
                          <m:ctrlPr>
                            <a:rPr kumimoji="0" lang="en-US" altLang="zh-CN" sz="3200" b="1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Helvetica Neue" panose="02000503000000020004"/>
                            </a:rPr>
                          </m:ctrlPr>
                        </m:fPr>
                        <m:num>
                          <m:r>
                            <a:rPr kumimoji="0" lang="en-US" altLang="zh-CN" sz="3200" b="1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Helvetica Neue" panose="02000503000000020004"/>
                            </a:rPr>
                            <m:t>𝑷</m:t>
                          </m:r>
                          <m:r>
                            <a:rPr kumimoji="0" lang="en-US" altLang="zh-CN" sz="3200" b="1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Helvetica Neue" panose="02000503000000020004"/>
                            </a:rPr>
                            <m:t>−</m:t>
                          </m:r>
                          <m:r>
                            <a:rPr kumimoji="0" lang="en-US" altLang="zh-CN" sz="3200" b="1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Helvetica Neue" panose="02000503000000020004"/>
                            </a:rPr>
                            <m:t>𝟏</m:t>
                          </m:r>
                        </m:num>
                        <m:den>
                          <m:sSup>
                            <m:sSupPr>
                              <m:ctrlPr>
                                <a:rPr kumimoji="0" lang="en-US" altLang="zh-CN" sz="3200" b="1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Helvetica Neue" panose="02000503000000020004"/>
                                </a:rPr>
                              </m:ctrlPr>
                            </m:sSupPr>
                            <m:e>
                              <m:r>
                                <a:rPr kumimoji="0" lang="en-US" altLang="zh-CN" sz="3200" b="1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Helvetica Neue" panose="02000503000000020004"/>
                                </a:rPr>
                                <m:t>𝑷</m:t>
                              </m:r>
                            </m:e>
                            <m:sup>
                              <m:r>
                                <a:rPr kumimoji="0" lang="en-US" altLang="zh-CN" sz="3200" b="1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Helvetica Neue" panose="02000503000000020004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  <m:r>
                        <a:rPr kumimoji="0" lang="en-US" altLang="zh-CN" sz="3200" b="1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Helvetica Neue" panose="02000503000000020004"/>
                        </a:rPr>
                        <m:t>∙</m:t>
                      </m:r>
                      <m:r>
                        <a:rPr kumimoji="0" lang="en-US" altLang="zh-CN" sz="3200" b="1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Helvetica Neue" panose="02000503000000020004"/>
                        </a:rPr>
                        <m:t>𝑺𝒅</m:t>
                      </m:r>
                    </m:oMath>
                  </m:oMathPara>
                </a14:m>
                <a:endParaRPr kumimoji="0" lang="zh-CN" altLang="en-US" sz="3200" b="1" i="0" u="none" strike="noStrike" cap="none" spc="0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Helvetica Neue" panose="02000503000000020004"/>
                  <a:ea typeface="Helvetica Neue" panose="02000503000000020004"/>
                  <a:cs typeface="Helvetica Neue" panose="02000503000000020004"/>
                  <a:sym typeface="Helvetica Neue" panose="02000503000000020004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E8EDC373-6B18-CAC5-A80D-D0D02C6333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36787" y="10355082"/>
                <a:ext cx="3919599" cy="921984"/>
              </a:xfrm>
              <a:prstGeom prst="rect">
                <a:avLst/>
              </a:prstGeom>
              <a:blipFill>
                <a:blip r:embed="rId4"/>
                <a:stretch>
                  <a:fillRect l="-2903" r="-323" b="-13514"/>
                </a:stretch>
              </a:blipFill>
              <a:ln w="12700" cap="flat">
                <a:noFill/>
                <a:miter lim="4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空白页面，自由制作">
            <a:extLst>
              <a:ext uri="{FF2B5EF4-FFF2-40B4-BE49-F238E27FC236}">
                <a16:creationId xmlns:a16="http://schemas.microsoft.com/office/drawing/2014/main" id="{963AAD07-3E79-A810-87C0-8D8C1319BE3E}"/>
              </a:ext>
            </a:extLst>
          </p:cNvPr>
          <p:cNvSpPr txBox="1"/>
          <p:nvPr/>
        </p:nvSpPr>
        <p:spPr>
          <a:xfrm>
            <a:off x="9852147" y="9902363"/>
            <a:ext cx="3368162" cy="605934"/>
          </a:xfrm>
          <a:prstGeom prst="rect">
            <a:avLst/>
          </a:prstGeom>
          <a:ln w="12700">
            <a:miter lim="400000"/>
          </a:ln>
        </p:spPr>
        <p:txBody>
          <a:bodyPr wrap="square" lIns="71437" tIns="71437" rIns="71437" bIns="71437" anchor="ctr">
            <a:spAutoFit/>
          </a:bodyPr>
          <a:lstStyle>
            <a:lvl1pPr>
              <a:defRPr sz="6000" b="0">
                <a:solidFill>
                  <a:srgbClr val="6C6C6C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r>
              <a:rPr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USP</a:t>
            </a: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通信量更小</a:t>
            </a:r>
            <a:endParaRPr sz="3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1396CCC-D284-1929-E461-53F711FE93E4}"/>
              </a:ext>
            </a:extLst>
          </p:cNvPr>
          <p:cNvSpPr txBox="1"/>
          <p:nvPr/>
        </p:nvSpPr>
        <p:spPr>
          <a:xfrm>
            <a:off x="12191967" y="6611779"/>
            <a:ext cx="65" cy="492443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ctr">
            <a:spAutoFit/>
          </a:bodyPr>
          <a:lstStyle/>
          <a:p>
            <a:pPr marL="0" marR="0" indent="0" algn="ctr" defTabSz="82105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1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" panose="02000503000000020004"/>
              <a:ea typeface="Helvetica Neue" panose="02000503000000020004"/>
              <a:cs typeface="Helvetica Neue" panose="02000503000000020004"/>
              <a:sym typeface="Helvetica Neue" panose="02000503000000020004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FC0F15A7-F383-34EE-CAD7-E905D8BD2B8C}"/>
                  </a:ext>
                </a:extLst>
              </p:cNvPr>
              <p:cNvSpPr txBox="1"/>
              <p:nvPr/>
            </p:nvSpPr>
            <p:spPr>
              <a:xfrm>
                <a:off x="11204544" y="10569852"/>
                <a:ext cx="663367" cy="49244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ctr">
                <a:spAutoFit/>
              </a:bodyPr>
              <a:lstStyle/>
              <a:p>
                <a:pPr marL="0" marR="0" indent="0" algn="ctr" defTabSz="821055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3200" b="1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Helvetica Neue" panose="02000503000000020004"/>
                        </a:rPr>
                        <m:t>&gt;</m:t>
                      </m:r>
                    </m:oMath>
                  </m:oMathPara>
                </a14:m>
                <a:endParaRPr kumimoji="0" lang="zh-CN" altLang="en-US" sz="3200" b="1" i="0" u="none" strike="noStrike" cap="none" spc="0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Helvetica Neue" panose="02000503000000020004"/>
                  <a:ea typeface="Helvetica Neue" panose="02000503000000020004"/>
                  <a:cs typeface="Helvetica Neue" panose="02000503000000020004"/>
                  <a:sym typeface="Helvetica Neue" panose="02000503000000020004"/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FC0F15A7-F383-34EE-CAD7-E905D8BD2B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04544" y="10569852"/>
                <a:ext cx="663367" cy="492443"/>
              </a:xfrm>
              <a:prstGeom prst="rect">
                <a:avLst/>
              </a:prstGeom>
              <a:blipFill>
                <a:blip r:embed="rId5"/>
                <a:stretch>
                  <a:fillRect l="-1887" b="-7500"/>
                </a:stretch>
              </a:blipFill>
              <a:ln w="12700" cap="flat">
                <a:noFill/>
                <a:miter lim="4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3029583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578124-D9DA-FC7C-2085-5FF19E0CB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空白页面，自由制作">
            <a:extLst>
              <a:ext uri="{FF2B5EF4-FFF2-40B4-BE49-F238E27FC236}">
                <a16:creationId xmlns:a16="http://schemas.microsoft.com/office/drawing/2014/main" id="{61CD03A9-836C-97C6-C17B-C8CC6CBEC3DF}"/>
              </a:ext>
            </a:extLst>
          </p:cNvPr>
          <p:cNvSpPr txBox="1"/>
          <p:nvPr/>
        </p:nvSpPr>
        <p:spPr>
          <a:xfrm>
            <a:off x="882105" y="590745"/>
            <a:ext cx="7584562" cy="913711"/>
          </a:xfrm>
          <a:prstGeom prst="rect">
            <a:avLst/>
          </a:prstGeom>
          <a:ln w="12700">
            <a:miter lim="400000"/>
          </a:ln>
        </p:spPr>
        <p:txBody>
          <a:bodyPr wrap="square" lIns="71437" tIns="71437" rIns="71437" bIns="71437" anchor="ctr">
            <a:spAutoFit/>
          </a:bodyPr>
          <a:lstStyle>
            <a:lvl1pPr>
              <a:defRPr sz="6000" b="0">
                <a:solidFill>
                  <a:srgbClr val="6C6C6C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pPr algn="l"/>
            <a:r>
              <a:rPr lang="en-US" sz="5000" dirty="0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现存方案</a:t>
            </a:r>
            <a:r>
              <a:rPr lang="en-US" altLang="zh-CN" sz="5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en-US" altLang="zh-CN" sz="5000" dirty="0">
                <a:solidFill>
                  <a:srgbClr val="66666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Async</a:t>
            </a:r>
            <a:r>
              <a:rPr lang="zh-CN" altLang="en-US" sz="5000" dirty="0">
                <a:solidFill>
                  <a:srgbClr val="666666"/>
                </a:solidFill>
                <a:latin typeface="JetBrains Mono NL" panose="02000009000000000000" pitchFamily="49" charset="0"/>
                <a:ea typeface="微软雅黑" panose="020B0503020204020204" pitchFamily="34" charset="-122"/>
                <a:cs typeface="JetBrains Mono NL" panose="02000009000000000000" pitchFamily="49" charset="0"/>
              </a:rPr>
              <a:t> </a:t>
            </a:r>
            <a:r>
              <a:rPr lang="en-US" altLang="zh-CN" sz="5000" dirty="0">
                <a:solidFill>
                  <a:srgbClr val="66666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USP</a:t>
            </a:r>
            <a:endParaRPr sz="5000" dirty="0">
              <a:solidFill>
                <a:srgbClr val="666666"/>
              </a:solidFill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3F69CF5A-5C58-C979-CE90-D7525691DB19}"/>
              </a:ext>
            </a:extLst>
          </p:cNvPr>
          <p:cNvSpPr/>
          <p:nvPr/>
        </p:nvSpPr>
        <p:spPr>
          <a:xfrm>
            <a:off x="4046864" y="4819426"/>
            <a:ext cx="2299062" cy="661852"/>
          </a:xfrm>
          <a:prstGeom prst="roundRect">
            <a:avLst/>
          </a:prstGeom>
          <a:solidFill>
            <a:srgbClr val="FFF2CC"/>
          </a:solidFill>
          <a:ln>
            <a:solidFill>
              <a:srgbClr val="6666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200" b="0" dirty="0">
                <a:solidFill>
                  <a:srgbClr val="66666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Q-GEMM</a:t>
            </a:r>
            <a:endParaRPr kumimoji="1" lang="zh-CN" altLang="en-US" sz="2200" b="0" dirty="0">
              <a:solidFill>
                <a:srgbClr val="666666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19AC47CA-BA2E-F8FE-7DA5-B12D5D38D744}"/>
              </a:ext>
            </a:extLst>
          </p:cNvPr>
          <p:cNvSpPr/>
          <p:nvPr/>
        </p:nvSpPr>
        <p:spPr>
          <a:xfrm>
            <a:off x="6592079" y="4819426"/>
            <a:ext cx="1480724" cy="661852"/>
          </a:xfrm>
          <a:prstGeom prst="roundRect">
            <a:avLst/>
          </a:prstGeom>
          <a:solidFill>
            <a:srgbClr val="DAE8FC"/>
          </a:solidFill>
          <a:ln>
            <a:solidFill>
              <a:srgbClr val="6666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200" b="0" dirty="0" err="1">
                <a:solidFill>
                  <a:srgbClr val="66666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PermQ</a:t>
            </a:r>
            <a:endParaRPr kumimoji="1" lang="zh-CN" altLang="en-US" sz="2200" b="0" dirty="0">
              <a:solidFill>
                <a:srgbClr val="666666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0218D455-3F0B-41E2-E8E2-F2B7A9591EAD}"/>
              </a:ext>
            </a:extLst>
          </p:cNvPr>
          <p:cNvSpPr txBox="1"/>
          <p:nvPr/>
        </p:nvSpPr>
        <p:spPr>
          <a:xfrm>
            <a:off x="1379378" y="4857965"/>
            <a:ext cx="238879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600" b="0" dirty="0">
                <a:solidFill>
                  <a:srgbClr val="66666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Comp</a:t>
            </a:r>
            <a:r>
              <a:rPr kumimoji="1" lang="zh-CN" altLang="en-US" sz="2600" b="0" dirty="0">
                <a:solidFill>
                  <a:srgbClr val="666666"/>
                </a:solidFill>
                <a:latin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r>
              <a:rPr kumimoji="1" lang="en-US" altLang="zh-CN" sz="2600" b="0" dirty="0">
                <a:solidFill>
                  <a:srgbClr val="66666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Stream</a:t>
            </a:r>
            <a:endParaRPr kumimoji="1" lang="zh-CN" altLang="en-US" sz="2600" b="0" dirty="0">
              <a:solidFill>
                <a:srgbClr val="666666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2" name="圆角矩形 31">
            <a:extLst>
              <a:ext uri="{FF2B5EF4-FFF2-40B4-BE49-F238E27FC236}">
                <a16:creationId xmlns:a16="http://schemas.microsoft.com/office/drawing/2014/main" id="{58AD560A-4B0C-E6A0-D41D-FD84DAA2EE68}"/>
              </a:ext>
            </a:extLst>
          </p:cNvPr>
          <p:cNvSpPr/>
          <p:nvPr/>
        </p:nvSpPr>
        <p:spPr>
          <a:xfrm>
            <a:off x="8318957" y="5751758"/>
            <a:ext cx="2043440" cy="661852"/>
          </a:xfrm>
          <a:prstGeom prst="roundRect">
            <a:avLst/>
          </a:prstGeom>
          <a:solidFill>
            <a:srgbClr val="FFE6CC"/>
          </a:solidFill>
          <a:ln>
            <a:solidFill>
              <a:srgbClr val="6666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200" b="0" dirty="0">
                <a:solidFill>
                  <a:srgbClr val="66666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Q-A2A</a:t>
            </a:r>
            <a:endParaRPr kumimoji="1" lang="zh-CN" altLang="en-US" sz="2200" b="0" dirty="0">
              <a:solidFill>
                <a:srgbClr val="666666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3" name="圆角矩形 32">
            <a:extLst>
              <a:ext uri="{FF2B5EF4-FFF2-40B4-BE49-F238E27FC236}">
                <a16:creationId xmlns:a16="http://schemas.microsoft.com/office/drawing/2014/main" id="{B39C2FBD-D670-219C-623A-CE60299E1E55}"/>
              </a:ext>
            </a:extLst>
          </p:cNvPr>
          <p:cNvSpPr/>
          <p:nvPr/>
        </p:nvSpPr>
        <p:spPr>
          <a:xfrm>
            <a:off x="8318958" y="4819426"/>
            <a:ext cx="2299062" cy="661852"/>
          </a:xfrm>
          <a:prstGeom prst="roundRect">
            <a:avLst/>
          </a:prstGeom>
          <a:solidFill>
            <a:srgbClr val="FFF2CC"/>
          </a:solidFill>
          <a:ln>
            <a:solidFill>
              <a:srgbClr val="6666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200" b="0" dirty="0">
                <a:solidFill>
                  <a:srgbClr val="66666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K-GEMM</a:t>
            </a:r>
            <a:endParaRPr kumimoji="1" lang="zh-CN" altLang="en-US" sz="2200" b="0" dirty="0">
              <a:solidFill>
                <a:srgbClr val="666666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3006C4C2-6C2E-9A59-E6DF-BF5F3B0976E5}"/>
              </a:ext>
            </a:extLst>
          </p:cNvPr>
          <p:cNvSpPr/>
          <p:nvPr/>
        </p:nvSpPr>
        <p:spPr>
          <a:xfrm>
            <a:off x="12595144" y="4819426"/>
            <a:ext cx="2299062" cy="661852"/>
          </a:xfrm>
          <a:prstGeom prst="roundRect">
            <a:avLst/>
          </a:prstGeom>
          <a:solidFill>
            <a:srgbClr val="FFF2CC"/>
          </a:solidFill>
          <a:ln>
            <a:solidFill>
              <a:srgbClr val="6666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200" b="0" dirty="0">
                <a:solidFill>
                  <a:srgbClr val="66666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V-GEMM</a:t>
            </a:r>
            <a:endParaRPr kumimoji="1" lang="zh-CN" altLang="en-US" sz="2200" b="0" dirty="0">
              <a:solidFill>
                <a:srgbClr val="666666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5" name="圆角矩形 34">
            <a:extLst>
              <a:ext uri="{FF2B5EF4-FFF2-40B4-BE49-F238E27FC236}">
                <a16:creationId xmlns:a16="http://schemas.microsoft.com/office/drawing/2014/main" id="{3B530869-85A5-C657-09AA-E4962345C3DA}"/>
              </a:ext>
            </a:extLst>
          </p:cNvPr>
          <p:cNvSpPr/>
          <p:nvPr/>
        </p:nvSpPr>
        <p:spPr>
          <a:xfrm>
            <a:off x="12616097" y="5745238"/>
            <a:ext cx="2043440" cy="661852"/>
          </a:xfrm>
          <a:prstGeom prst="roundRect">
            <a:avLst/>
          </a:prstGeom>
          <a:solidFill>
            <a:srgbClr val="FFE6CC"/>
          </a:solidFill>
          <a:ln>
            <a:solidFill>
              <a:srgbClr val="6666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200" b="0" dirty="0">
                <a:solidFill>
                  <a:srgbClr val="66666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K-A2A</a:t>
            </a:r>
            <a:endParaRPr kumimoji="1" lang="zh-CN" altLang="en-US" sz="2200" b="0" dirty="0">
              <a:solidFill>
                <a:srgbClr val="666666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C6215063-64E7-4101-A485-18D41911FECC}"/>
              </a:ext>
            </a:extLst>
          </p:cNvPr>
          <p:cNvSpPr/>
          <p:nvPr/>
        </p:nvSpPr>
        <p:spPr>
          <a:xfrm>
            <a:off x="16867237" y="5751758"/>
            <a:ext cx="2043440" cy="661852"/>
          </a:xfrm>
          <a:prstGeom prst="roundRect">
            <a:avLst/>
          </a:prstGeom>
          <a:solidFill>
            <a:srgbClr val="FFE6CC"/>
          </a:solidFill>
          <a:ln>
            <a:solidFill>
              <a:srgbClr val="6666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200" b="0" dirty="0">
                <a:solidFill>
                  <a:srgbClr val="66666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V-A2A</a:t>
            </a:r>
            <a:endParaRPr kumimoji="1" lang="zh-CN" altLang="en-US" sz="2200" b="0" dirty="0">
              <a:solidFill>
                <a:srgbClr val="666666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67E7666B-1805-8C1A-D437-309E0EBF66ED}"/>
              </a:ext>
            </a:extLst>
          </p:cNvPr>
          <p:cNvSpPr txBox="1"/>
          <p:nvPr/>
        </p:nvSpPr>
        <p:spPr>
          <a:xfrm>
            <a:off x="1373172" y="5828835"/>
            <a:ext cx="238879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600" b="0" dirty="0">
                <a:solidFill>
                  <a:srgbClr val="66666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Comm</a:t>
            </a:r>
            <a:r>
              <a:rPr kumimoji="1" lang="zh-CN" altLang="en-US" sz="2600" b="0" dirty="0">
                <a:solidFill>
                  <a:srgbClr val="666666"/>
                </a:solidFill>
                <a:latin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r>
              <a:rPr kumimoji="1" lang="en-US" altLang="zh-CN" sz="2600" b="0" dirty="0">
                <a:solidFill>
                  <a:srgbClr val="66666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Stream</a:t>
            </a:r>
            <a:endParaRPr kumimoji="1" lang="zh-CN" altLang="en-US" sz="2600" b="0" dirty="0">
              <a:solidFill>
                <a:srgbClr val="666666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cxnSp>
        <p:nvCxnSpPr>
          <p:cNvPr id="38" name="直线连接符 37">
            <a:extLst>
              <a:ext uri="{FF2B5EF4-FFF2-40B4-BE49-F238E27FC236}">
                <a16:creationId xmlns:a16="http://schemas.microsoft.com/office/drawing/2014/main" id="{7F4517E9-DE70-9F6F-D608-564F43469277}"/>
              </a:ext>
            </a:extLst>
          </p:cNvPr>
          <p:cNvCxnSpPr/>
          <p:nvPr/>
        </p:nvCxnSpPr>
        <p:spPr>
          <a:xfrm>
            <a:off x="3845481" y="4528970"/>
            <a:ext cx="0" cy="2079812"/>
          </a:xfrm>
          <a:prstGeom prst="line">
            <a:avLst/>
          </a:prstGeom>
          <a:ln w="12700">
            <a:solidFill>
              <a:srgbClr val="666666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8CF60C72-E694-8F88-7E7D-064B80EB09C7}"/>
              </a:ext>
            </a:extLst>
          </p:cNvPr>
          <p:cNvSpPr txBox="1"/>
          <p:nvPr/>
        </p:nvSpPr>
        <p:spPr>
          <a:xfrm>
            <a:off x="6891373" y="4343134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2000" b="0" dirty="0">
                <a:solidFill>
                  <a:srgbClr val="66666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175us</a:t>
            </a:r>
            <a:endParaRPr kumimoji="1" lang="zh-CN" altLang="en-US" sz="2000" b="0" dirty="0">
              <a:solidFill>
                <a:srgbClr val="666666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DEF732FD-6578-E417-7C0E-1A55D839357F}"/>
              </a:ext>
            </a:extLst>
          </p:cNvPr>
          <p:cNvSpPr txBox="1"/>
          <p:nvPr/>
        </p:nvSpPr>
        <p:spPr>
          <a:xfrm>
            <a:off x="8905877" y="6407090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2000" b="0" dirty="0">
                <a:solidFill>
                  <a:srgbClr val="66666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600us</a:t>
            </a:r>
            <a:endParaRPr kumimoji="1" lang="zh-CN" altLang="en-US" sz="2000" b="0" dirty="0">
              <a:solidFill>
                <a:srgbClr val="666666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2" name="圆角矩形 41">
            <a:extLst>
              <a:ext uri="{FF2B5EF4-FFF2-40B4-BE49-F238E27FC236}">
                <a16:creationId xmlns:a16="http://schemas.microsoft.com/office/drawing/2014/main" id="{46740104-ADF8-2617-1423-0A3CF56464C5}"/>
              </a:ext>
            </a:extLst>
          </p:cNvPr>
          <p:cNvSpPr/>
          <p:nvPr/>
        </p:nvSpPr>
        <p:spPr>
          <a:xfrm>
            <a:off x="10866219" y="4819426"/>
            <a:ext cx="1480724" cy="661852"/>
          </a:xfrm>
          <a:prstGeom prst="roundRect">
            <a:avLst/>
          </a:prstGeom>
          <a:solidFill>
            <a:srgbClr val="DAE8FC"/>
          </a:solidFill>
          <a:ln>
            <a:solidFill>
              <a:srgbClr val="6666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200" b="0" dirty="0" err="1">
                <a:solidFill>
                  <a:srgbClr val="66666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PermK</a:t>
            </a:r>
            <a:endParaRPr kumimoji="1" lang="zh-CN" altLang="en-US" sz="2200" b="0" dirty="0">
              <a:solidFill>
                <a:srgbClr val="666666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3" name="圆角矩形 42">
            <a:extLst>
              <a:ext uri="{FF2B5EF4-FFF2-40B4-BE49-F238E27FC236}">
                <a16:creationId xmlns:a16="http://schemas.microsoft.com/office/drawing/2014/main" id="{3F49E455-3F51-5781-AAF8-2686018F4654}"/>
              </a:ext>
            </a:extLst>
          </p:cNvPr>
          <p:cNvSpPr/>
          <p:nvPr/>
        </p:nvSpPr>
        <p:spPr>
          <a:xfrm>
            <a:off x="15147639" y="4819426"/>
            <a:ext cx="1480724" cy="661852"/>
          </a:xfrm>
          <a:prstGeom prst="roundRect">
            <a:avLst/>
          </a:prstGeom>
          <a:solidFill>
            <a:srgbClr val="DAE8FC"/>
          </a:solidFill>
          <a:ln>
            <a:solidFill>
              <a:srgbClr val="6666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200" b="0" dirty="0" err="1">
                <a:solidFill>
                  <a:srgbClr val="66666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PermV</a:t>
            </a:r>
            <a:endParaRPr kumimoji="1" lang="zh-CN" altLang="en-US" sz="2200" b="0" dirty="0">
              <a:solidFill>
                <a:srgbClr val="666666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4" name="圆角矩形 43">
            <a:extLst>
              <a:ext uri="{FF2B5EF4-FFF2-40B4-BE49-F238E27FC236}">
                <a16:creationId xmlns:a16="http://schemas.microsoft.com/office/drawing/2014/main" id="{67E5C63B-1F05-6A2D-54BD-66FE8CEE6614}"/>
              </a:ext>
            </a:extLst>
          </p:cNvPr>
          <p:cNvSpPr/>
          <p:nvPr/>
        </p:nvSpPr>
        <p:spPr>
          <a:xfrm>
            <a:off x="16891387" y="4819426"/>
            <a:ext cx="1480724" cy="661852"/>
          </a:xfrm>
          <a:prstGeom prst="roundRect">
            <a:avLst/>
          </a:prstGeom>
          <a:solidFill>
            <a:srgbClr val="DAE8FC"/>
          </a:solidFill>
          <a:ln>
            <a:solidFill>
              <a:srgbClr val="6666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200" b="0" dirty="0" err="1">
                <a:solidFill>
                  <a:srgbClr val="66666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PermQ</a:t>
            </a:r>
            <a:endParaRPr kumimoji="1" lang="zh-CN" altLang="en-US" sz="2200" b="0" dirty="0">
              <a:solidFill>
                <a:srgbClr val="666666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5" name="圆角矩形 44">
            <a:extLst>
              <a:ext uri="{FF2B5EF4-FFF2-40B4-BE49-F238E27FC236}">
                <a16:creationId xmlns:a16="http://schemas.microsoft.com/office/drawing/2014/main" id="{7CBEB312-1DE8-096F-1FF7-614A6EF34A99}"/>
              </a:ext>
            </a:extLst>
          </p:cNvPr>
          <p:cNvSpPr/>
          <p:nvPr/>
        </p:nvSpPr>
        <p:spPr>
          <a:xfrm>
            <a:off x="18635135" y="4819426"/>
            <a:ext cx="1480724" cy="661852"/>
          </a:xfrm>
          <a:prstGeom prst="roundRect">
            <a:avLst/>
          </a:prstGeom>
          <a:solidFill>
            <a:srgbClr val="DAE8FC"/>
          </a:solidFill>
          <a:ln>
            <a:solidFill>
              <a:srgbClr val="6666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200" b="0" dirty="0" err="1">
                <a:solidFill>
                  <a:srgbClr val="66666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PermK</a:t>
            </a:r>
            <a:endParaRPr kumimoji="1" lang="zh-CN" altLang="en-US" sz="2200" b="0" dirty="0">
              <a:solidFill>
                <a:srgbClr val="666666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6" name="圆角矩形 45">
            <a:extLst>
              <a:ext uri="{FF2B5EF4-FFF2-40B4-BE49-F238E27FC236}">
                <a16:creationId xmlns:a16="http://schemas.microsoft.com/office/drawing/2014/main" id="{4CEE9A9C-4604-FBC9-CDEA-763AAE8A9271}"/>
              </a:ext>
            </a:extLst>
          </p:cNvPr>
          <p:cNvSpPr/>
          <p:nvPr/>
        </p:nvSpPr>
        <p:spPr>
          <a:xfrm>
            <a:off x="20378883" y="4819426"/>
            <a:ext cx="1480724" cy="661852"/>
          </a:xfrm>
          <a:prstGeom prst="roundRect">
            <a:avLst/>
          </a:prstGeom>
          <a:solidFill>
            <a:srgbClr val="DAE8FC"/>
          </a:solidFill>
          <a:ln>
            <a:solidFill>
              <a:srgbClr val="6666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200" b="0" dirty="0" err="1">
                <a:solidFill>
                  <a:srgbClr val="66666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PermV</a:t>
            </a:r>
            <a:endParaRPr kumimoji="1" lang="zh-CN" altLang="en-US" sz="2200" b="0" dirty="0">
              <a:solidFill>
                <a:srgbClr val="666666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1E605AEC-1CFE-A0A8-C9E4-E15033F4B3F3}"/>
              </a:ext>
            </a:extLst>
          </p:cNvPr>
          <p:cNvSpPr txBox="1"/>
          <p:nvPr/>
        </p:nvSpPr>
        <p:spPr>
          <a:xfrm>
            <a:off x="1373171" y="3148802"/>
            <a:ext cx="7532701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zh-CN" sz="2600" b="0" dirty="0">
                <a:solidFill>
                  <a:srgbClr val="66666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BF16</a:t>
            </a:r>
            <a:r>
              <a:rPr kumimoji="1" lang="zh-CN" altLang="en-US" sz="2600" b="0" dirty="0">
                <a:solidFill>
                  <a:srgbClr val="66666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r>
              <a:rPr kumimoji="1" lang="en-US" altLang="zh-CN" sz="2600" b="0" dirty="0">
                <a:solidFill>
                  <a:srgbClr val="66666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/</a:t>
            </a:r>
            <a:r>
              <a:rPr kumimoji="1" lang="zh-CN" altLang="en-US" sz="2600" b="0" dirty="0">
                <a:solidFill>
                  <a:srgbClr val="66666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r>
              <a:rPr kumimoji="1" lang="en-US" altLang="zh-CN" sz="2600" b="0" dirty="0">
                <a:solidFill>
                  <a:srgbClr val="66666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(1, 32000, 4096)</a:t>
            </a:r>
            <a:r>
              <a:rPr kumimoji="1" lang="zh-CN" altLang="en-US" sz="2600" b="0" dirty="0">
                <a:solidFill>
                  <a:srgbClr val="66666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r>
              <a:rPr kumimoji="1" lang="en-US" altLang="zh-CN" sz="2600" b="0" dirty="0">
                <a:solidFill>
                  <a:srgbClr val="66666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/</a:t>
            </a:r>
            <a:r>
              <a:rPr kumimoji="1" lang="zh-CN" altLang="en-US" sz="2600" b="0" dirty="0">
                <a:solidFill>
                  <a:srgbClr val="66666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r>
              <a:rPr kumimoji="1" lang="en-US" altLang="zh-CN" sz="2600" b="0" dirty="0">
                <a:solidFill>
                  <a:srgbClr val="66666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UP-4</a:t>
            </a:r>
            <a:r>
              <a:rPr kumimoji="1" lang="zh-CN" altLang="en-US" sz="2600" b="0" dirty="0">
                <a:solidFill>
                  <a:srgbClr val="66666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r>
              <a:rPr kumimoji="1" lang="en-US" altLang="zh-CN" sz="2600" b="0" dirty="0">
                <a:solidFill>
                  <a:srgbClr val="66666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/</a:t>
            </a:r>
            <a:r>
              <a:rPr kumimoji="1" lang="zh-CN" altLang="en-US" sz="2600" b="0" dirty="0">
                <a:solidFill>
                  <a:srgbClr val="66666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r>
              <a:rPr kumimoji="1" lang="en-US" altLang="zh-CN" sz="2600" b="0" dirty="0">
                <a:solidFill>
                  <a:srgbClr val="66666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H20</a:t>
            </a:r>
            <a:r>
              <a:rPr kumimoji="1" lang="zh-CN" altLang="en-US" sz="2600" b="0" dirty="0">
                <a:solidFill>
                  <a:srgbClr val="66666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为例</a:t>
            </a:r>
            <a:endParaRPr kumimoji="1" lang="zh-CN" altLang="en-US" sz="2600" b="0" dirty="0">
              <a:solidFill>
                <a:srgbClr val="666666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8" name="空白页面，自由制作">
            <a:extLst>
              <a:ext uri="{FF2B5EF4-FFF2-40B4-BE49-F238E27FC236}">
                <a16:creationId xmlns:a16="http://schemas.microsoft.com/office/drawing/2014/main" id="{6C7EEF71-8878-5D73-AB3B-2A8F20556EA4}"/>
              </a:ext>
            </a:extLst>
          </p:cNvPr>
          <p:cNvSpPr txBox="1"/>
          <p:nvPr/>
        </p:nvSpPr>
        <p:spPr>
          <a:xfrm>
            <a:off x="1373170" y="7476502"/>
            <a:ext cx="10306991" cy="2452593"/>
          </a:xfrm>
          <a:prstGeom prst="rect">
            <a:avLst/>
          </a:prstGeom>
          <a:ln w="12700">
            <a:miter lim="400000"/>
          </a:ln>
        </p:spPr>
        <p:txBody>
          <a:bodyPr wrap="square" lIns="71437" tIns="71437" rIns="71437" bIns="71437" anchor="ctr">
            <a:spAutoFit/>
          </a:bodyPr>
          <a:lstStyle>
            <a:lvl1pPr>
              <a:defRPr sz="6000" b="0">
                <a:solidFill>
                  <a:srgbClr val="6C6C6C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pPr algn="l"/>
            <a:r>
              <a:rPr lang="en-US" sz="3000" dirty="0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痛点</a:t>
            </a:r>
            <a:r>
              <a:rPr lang="zh-CN" altLang="en-US" sz="3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30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sz="30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 algn="l">
              <a:buAutoNum type="arabicPeriod"/>
            </a:pPr>
            <a:r>
              <a:rPr lang="en-US" altLang="zh-CN" sz="3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NCCL</a:t>
            </a:r>
            <a:r>
              <a:rPr lang="zh-CN" altLang="en-US" sz="3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3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CE</a:t>
            </a:r>
            <a:r>
              <a:rPr lang="zh-CN" altLang="en-US" sz="3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均不支持非连续数据传输（</a:t>
            </a:r>
            <a:r>
              <a:rPr lang="en-US" altLang="zh-CN" sz="3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Permute</a:t>
            </a:r>
            <a:r>
              <a:rPr lang="zh-CN" altLang="en-US" sz="3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开销）</a:t>
            </a:r>
            <a:endParaRPr lang="en-US" altLang="zh-CN" sz="30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 algn="l">
              <a:buAutoNum type="arabicPeriod"/>
            </a:pPr>
            <a:endParaRPr lang="en-US" sz="30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 algn="l">
              <a:buAutoNum type="arabicPeriod"/>
            </a:pPr>
            <a:r>
              <a:rPr lang="zh-CN" altLang="en-US" sz="3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通信粒度粗糙（最后一个</a:t>
            </a:r>
            <a:r>
              <a:rPr lang="en-US" altLang="zh-CN" sz="3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A2A</a:t>
            </a:r>
            <a:r>
              <a:rPr lang="zh-CN" altLang="en-US" sz="3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难掩盖）</a:t>
            </a:r>
            <a:endParaRPr sz="30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07714386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9A8AB7-CEE3-9583-C096-ECC3A3892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空白页面，自由制作">
            <a:extLst>
              <a:ext uri="{FF2B5EF4-FFF2-40B4-BE49-F238E27FC236}">
                <a16:creationId xmlns:a16="http://schemas.microsoft.com/office/drawing/2014/main" id="{A04E6E7B-2907-1AFE-1A37-74DD60C89549}"/>
              </a:ext>
            </a:extLst>
          </p:cNvPr>
          <p:cNvSpPr txBox="1"/>
          <p:nvPr/>
        </p:nvSpPr>
        <p:spPr>
          <a:xfrm>
            <a:off x="882105" y="590745"/>
            <a:ext cx="7584562" cy="913711"/>
          </a:xfrm>
          <a:prstGeom prst="rect">
            <a:avLst/>
          </a:prstGeom>
          <a:ln w="12700">
            <a:miter lim="400000"/>
          </a:ln>
        </p:spPr>
        <p:txBody>
          <a:bodyPr wrap="square" lIns="71437" tIns="71437" rIns="71437" bIns="71437" anchor="ctr">
            <a:spAutoFit/>
          </a:bodyPr>
          <a:lstStyle>
            <a:lvl1pPr>
              <a:defRPr sz="6000" b="0">
                <a:solidFill>
                  <a:srgbClr val="6C6C6C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pPr algn="l"/>
            <a:r>
              <a:rPr lang="zh-CN" altLang="en-US" sz="5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为什么要</a:t>
            </a:r>
            <a:r>
              <a:rPr lang="en-US" altLang="zh-CN" sz="5000" dirty="0">
                <a:solidFill>
                  <a:srgbClr val="66666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Permute</a:t>
            </a:r>
            <a:r>
              <a:rPr lang="zh-CN" altLang="en-US" sz="5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sz="50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08509B2-6BB6-562D-D554-56A20987D8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1582" y="1504456"/>
            <a:ext cx="15900835" cy="12211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063690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FD5DBF-83E6-04FF-E44A-E480B2A98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空白页面，自由制作">
            <a:extLst>
              <a:ext uri="{FF2B5EF4-FFF2-40B4-BE49-F238E27FC236}">
                <a16:creationId xmlns:a16="http://schemas.microsoft.com/office/drawing/2014/main" id="{246FA2BC-B18D-572E-A1CD-5DB6065E8256}"/>
              </a:ext>
            </a:extLst>
          </p:cNvPr>
          <p:cNvSpPr txBox="1"/>
          <p:nvPr/>
        </p:nvSpPr>
        <p:spPr>
          <a:xfrm>
            <a:off x="882105" y="590745"/>
            <a:ext cx="7584562" cy="913711"/>
          </a:xfrm>
          <a:prstGeom prst="rect">
            <a:avLst/>
          </a:prstGeom>
          <a:ln w="12700">
            <a:miter lim="400000"/>
          </a:ln>
        </p:spPr>
        <p:txBody>
          <a:bodyPr wrap="square" lIns="71437" tIns="71437" rIns="71437" bIns="71437" anchor="ctr">
            <a:spAutoFit/>
          </a:bodyPr>
          <a:lstStyle>
            <a:lvl1pPr>
              <a:defRPr sz="6000" b="0">
                <a:solidFill>
                  <a:srgbClr val="6C6C6C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pPr algn="l"/>
            <a:r>
              <a:rPr lang="zh-CN" altLang="en-US" sz="5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实现思路与性能调优</a:t>
            </a:r>
            <a:endParaRPr sz="50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5" name="空白页面，自由制作">
            <a:extLst>
              <a:ext uri="{FF2B5EF4-FFF2-40B4-BE49-F238E27FC236}">
                <a16:creationId xmlns:a16="http://schemas.microsoft.com/office/drawing/2014/main" id="{9957697E-0DE2-C405-D42B-74B9A5830A03}"/>
              </a:ext>
            </a:extLst>
          </p:cNvPr>
          <p:cNvSpPr txBox="1"/>
          <p:nvPr/>
        </p:nvSpPr>
        <p:spPr>
          <a:xfrm>
            <a:off x="493914" y="2065094"/>
            <a:ext cx="10783685" cy="605934"/>
          </a:xfrm>
          <a:prstGeom prst="rect">
            <a:avLst/>
          </a:prstGeom>
          <a:ln w="12700">
            <a:miter lim="400000"/>
          </a:ln>
        </p:spPr>
        <p:txBody>
          <a:bodyPr wrap="square" lIns="71437" tIns="71437" rIns="71437" bIns="71437" anchor="ctr">
            <a:spAutoFit/>
          </a:bodyPr>
          <a:lstStyle>
            <a:lvl1pPr>
              <a:defRPr sz="6000" b="0">
                <a:solidFill>
                  <a:srgbClr val="6C6C6C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pPr algn="l"/>
            <a:r>
              <a:rPr lang="en-US" altLang="zh-CN" sz="3000" b="1" dirty="0">
                <a:solidFill>
                  <a:srgbClr val="66666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1.</a:t>
            </a:r>
            <a:r>
              <a:rPr lang="zh-CN" altLang="en-US" sz="3000" b="1" dirty="0">
                <a:solidFill>
                  <a:srgbClr val="666666"/>
                </a:solidFill>
                <a:latin typeface="JetBrains Mono NL" panose="02000009000000000000" pitchFamily="49" charset="0"/>
                <a:ea typeface="微软雅黑" panose="020B0503020204020204" pitchFamily="34" charset="-122"/>
                <a:cs typeface="JetBrains Mono NL" panose="02000009000000000000" pitchFamily="49" charset="0"/>
              </a:rPr>
              <a:t> </a:t>
            </a:r>
            <a:r>
              <a:rPr lang="en-US" altLang="zh-CN" sz="3000" b="1" dirty="0">
                <a:solidFill>
                  <a:srgbClr val="66666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TMA</a:t>
            </a:r>
            <a:r>
              <a:rPr lang="zh-CN" altLang="en-US" sz="3000" b="1" dirty="0">
                <a:solidFill>
                  <a:srgbClr val="66666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r>
              <a:rPr lang="en-US" altLang="zh-CN" sz="3000" b="1" dirty="0">
                <a:solidFill>
                  <a:srgbClr val="66666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Tile</a:t>
            </a:r>
            <a:r>
              <a:rPr lang="zh-CN" altLang="en-US" sz="3000" b="1" dirty="0">
                <a:solidFill>
                  <a:srgbClr val="66666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r>
              <a:rPr lang="en-US" altLang="zh-CN" sz="3000" b="1" dirty="0">
                <a:solidFill>
                  <a:srgbClr val="66666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Affinity &amp; Coordinate Calculation</a:t>
            </a:r>
            <a:endParaRPr sz="3000" b="1" dirty="0">
              <a:solidFill>
                <a:srgbClr val="666666"/>
              </a:solidFill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BDD8A8A2-5087-CA8A-0D46-1567D3A8375D}"/>
                  </a:ext>
                </a:extLst>
              </p:cNvPr>
              <p:cNvSpPr txBox="1"/>
              <p:nvPr/>
            </p:nvSpPr>
            <p:spPr>
              <a:xfrm>
                <a:off x="12432691" y="2121838"/>
                <a:ext cx="2066015" cy="49244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 marL="0" marR="0" indent="0" algn="ctr" defTabSz="821055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0" lang="en-US" altLang="zh-CN" sz="3200" b="1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666666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Helvetica Neue" panose="02000503000000020004"/>
                              <a:cs typeface="Helvetica Neue" panose="02000503000000020004"/>
                              <a:sym typeface="Helvetica Neue" panose="02000503000000020004"/>
                            </a:rPr>
                          </m:ctrlPr>
                        </m:dPr>
                        <m:e>
                          <m:r>
                            <a:rPr kumimoji="0" lang="en-US" altLang="zh-CN" sz="3200" b="1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666666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Helvetica Neue" panose="02000503000000020004"/>
                              <a:cs typeface="Helvetica Neue" panose="02000503000000020004"/>
                              <a:sym typeface="Helvetica Neue" panose="02000503000000020004"/>
                            </a:rPr>
                            <m:t>𝑺</m:t>
                          </m:r>
                          <m:r>
                            <a:rPr kumimoji="0" lang="en-US" altLang="zh-CN" sz="3200" b="1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666666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Helvetica Neue" panose="02000503000000020004"/>
                              <a:cs typeface="Helvetica Neue" panose="02000503000000020004"/>
                              <a:sym typeface="Helvetica Neue" panose="02000503000000020004"/>
                            </a:rPr>
                            <m:t>/</m:t>
                          </m:r>
                          <m:r>
                            <a:rPr kumimoji="0" lang="en-US" altLang="zh-CN" sz="3200" b="1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666666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Helvetica Neue" panose="02000503000000020004"/>
                              <a:cs typeface="Helvetica Neue" panose="02000503000000020004"/>
                              <a:sym typeface="Helvetica Neue" panose="02000503000000020004"/>
                            </a:rPr>
                            <m:t>𝑷</m:t>
                          </m:r>
                          <m:r>
                            <a:rPr kumimoji="0" lang="en-US" altLang="zh-CN" sz="3200" b="1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666666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Helvetica Neue" panose="02000503000000020004"/>
                              <a:cs typeface="Helvetica Neue" panose="02000503000000020004"/>
                              <a:sym typeface="Helvetica Neue" panose="02000503000000020004"/>
                            </a:rPr>
                            <m:t>, </m:t>
                          </m:r>
                          <m:r>
                            <a:rPr kumimoji="0" lang="en-US" altLang="zh-CN" sz="3200" b="1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666666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Helvetica Neue" panose="02000503000000020004"/>
                              <a:cs typeface="Helvetica Neue" panose="02000503000000020004"/>
                              <a:sym typeface="Helvetica Neue" panose="02000503000000020004"/>
                            </a:rPr>
                            <m:t>𝑯</m:t>
                          </m:r>
                          <m:r>
                            <a:rPr kumimoji="0" lang="en-US" altLang="zh-CN" sz="3200" b="1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666666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Helvetica Neue" panose="02000503000000020004"/>
                              <a:cs typeface="Helvetica Neue" panose="02000503000000020004"/>
                              <a:sym typeface="Helvetica Neue" panose="02000503000000020004"/>
                            </a:rPr>
                            <m:t>,</m:t>
                          </m:r>
                          <m:r>
                            <a:rPr kumimoji="0" lang="en-US" altLang="zh-CN" sz="3200" b="1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666666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Helvetica Neue" panose="02000503000000020004"/>
                              <a:cs typeface="Helvetica Neue" panose="02000503000000020004"/>
                              <a:sym typeface="Helvetica Neue" panose="02000503000000020004"/>
                            </a:rPr>
                            <m:t>𝒅</m:t>
                          </m:r>
                        </m:e>
                      </m:d>
                    </m:oMath>
                  </m:oMathPara>
                </a14:m>
                <a:endParaRPr kumimoji="0" lang="zh-CN" altLang="en-US" sz="3200" b="1" i="0" u="none" strike="noStrike" cap="none" spc="0" normalizeH="0" baseline="0" dirty="0">
                  <a:ln>
                    <a:noFill/>
                  </a:ln>
                  <a:solidFill>
                    <a:srgbClr val="666666"/>
                  </a:solidFill>
                  <a:effectLst/>
                  <a:uFillTx/>
                  <a:latin typeface="Helvetica Neue" panose="02000503000000020004"/>
                  <a:ea typeface="Helvetica Neue" panose="02000503000000020004"/>
                  <a:cs typeface="Helvetica Neue" panose="02000503000000020004"/>
                  <a:sym typeface="Helvetica Neue" panose="02000503000000020004"/>
                </a:endParaRPr>
              </a:p>
            </p:txBody>
          </p:sp>
        </mc:Choice>
        <mc:Fallback xmlns=""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BDD8A8A2-5087-CA8A-0D46-1567D3A837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32691" y="2121838"/>
                <a:ext cx="2066015" cy="492443"/>
              </a:xfrm>
              <a:prstGeom prst="rect">
                <a:avLst/>
              </a:prstGeom>
              <a:blipFill>
                <a:blip r:embed="rId2"/>
                <a:stretch>
                  <a:fillRect b="-35897"/>
                </a:stretch>
              </a:blipFill>
              <a:ln w="12700" cap="flat">
                <a:noFill/>
                <a:miter lim="4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9" name="组合 128">
            <a:extLst>
              <a:ext uri="{FF2B5EF4-FFF2-40B4-BE49-F238E27FC236}">
                <a16:creationId xmlns:a16="http://schemas.microsoft.com/office/drawing/2014/main" id="{7ECFE67A-231A-B24F-9BE6-F0732B4433C8}"/>
              </a:ext>
            </a:extLst>
          </p:cNvPr>
          <p:cNvGrpSpPr/>
          <p:nvPr/>
        </p:nvGrpSpPr>
        <p:grpSpPr>
          <a:xfrm>
            <a:off x="493914" y="2930896"/>
            <a:ext cx="18732612" cy="10408729"/>
            <a:chOff x="2825694" y="2930896"/>
            <a:chExt cx="18732612" cy="10408729"/>
          </a:xfrm>
        </p:grpSpPr>
        <p:pic>
          <p:nvPicPr>
            <p:cNvPr id="108" name="图片 107">
              <a:extLst>
                <a:ext uri="{FF2B5EF4-FFF2-40B4-BE49-F238E27FC236}">
                  <a16:creationId xmlns:a16="http://schemas.microsoft.com/office/drawing/2014/main" id="{BEDB0EF2-DC7F-2804-D80F-3F33685014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25694" y="2930896"/>
              <a:ext cx="18732612" cy="10150394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文本框 91">
                  <a:extLst>
                    <a:ext uri="{FF2B5EF4-FFF2-40B4-BE49-F238E27FC236}">
                      <a16:creationId xmlns:a16="http://schemas.microsoft.com/office/drawing/2014/main" id="{50E2469F-2175-CFF9-78AF-E9E391750869}"/>
                    </a:ext>
                  </a:extLst>
                </p:cNvPr>
                <p:cNvSpPr txBox="1"/>
                <p:nvPr/>
              </p:nvSpPr>
              <p:spPr>
                <a:xfrm>
                  <a:off x="14975648" y="12847182"/>
                  <a:ext cx="1186222" cy="49244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</p:spPr>
              <p:style>
                <a:lnRef idx="0">
                  <a:srgbClr val="FFFFFF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ctr">
                  <a:spAutoFit/>
                </a:bodyPr>
                <a:lstStyle/>
                <a:p>
                  <a:pPr marL="0" marR="0" indent="0" algn="ctr" defTabSz="821055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zh-CN" sz="3200" b="1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666666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Helvetica Neue" panose="02000503000000020004"/>
                            <a:cs typeface="Helvetica Neue" panose="02000503000000020004"/>
                            <a:sym typeface="Helvetica Neue" panose="02000503000000020004"/>
                          </a:rPr>
                          <m:t>𝑯𝒅</m:t>
                        </m:r>
                        <m:r>
                          <a:rPr kumimoji="0" lang="en-US" altLang="zh-CN" sz="3200" b="1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666666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Helvetica Neue" panose="02000503000000020004"/>
                            <a:cs typeface="Helvetica Neue" panose="02000503000000020004"/>
                            <a:sym typeface="Helvetica Neue" panose="02000503000000020004"/>
                          </a:rPr>
                          <m:t>/</m:t>
                        </m:r>
                        <m:r>
                          <a:rPr kumimoji="0" lang="en-US" altLang="zh-CN" sz="3200" b="1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666666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Helvetica Neue" panose="02000503000000020004"/>
                            <a:cs typeface="Helvetica Neue" panose="02000503000000020004"/>
                            <a:sym typeface="Helvetica Neue" panose="02000503000000020004"/>
                          </a:rPr>
                          <m:t>𝑷</m:t>
                        </m:r>
                      </m:oMath>
                    </m:oMathPara>
                  </a14:m>
                  <a:endParaRPr kumimoji="0" lang="zh-CN" altLang="en-US" sz="3200" b="1" i="0" u="none" strike="noStrike" cap="none" spc="0" normalizeH="0" baseline="0" dirty="0">
                    <a:ln>
                      <a:noFill/>
                    </a:ln>
                    <a:solidFill>
                      <a:srgbClr val="666666"/>
                    </a:solidFill>
                    <a:effectLst/>
                    <a:uFillTx/>
                    <a:latin typeface="Helvetica Neue" panose="02000503000000020004"/>
                    <a:ea typeface="Helvetica Neue" panose="02000503000000020004"/>
                    <a:cs typeface="Helvetica Neue" panose="02000503000000020004"/>
                    <a:sym typeface="Helvetica Neue" panose="02000503000000020004"/>
                  </a:endParaRPr>
                </a:p>
              </p:txBody>
            </p:sp>
          </mc:Choice>
          <mc:Fallback xmlns="">
            <p:sp>
              <p:nvSpPr>
                <p:cNvPr id="92" name="文本框 91">
                  <a:extLst>
                    <a:ext uri="{FF2B5EF4-FFF2-40B4-BE49-F238E27FC236}">
                      <a16:creationId xmlns:a16="http://schemas.microsoft.com/office/drawing/2014/main" id="{50E2469F-2175-CFF9-78AF-E9E3917508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975648" y="12847182"/>
                  <a:ext cx="1186222" cy="492443"/>
                </a:xfrm>
                <a:prstGeom prst="rect">
                  <a:avLst/>
                </a:prstGeom>
                <a:blipFill>
                  <a:blip r:embed="rId4"/>
                  <a:stretch>
                    <a:fillRect l="-11579" r="-1053" b="-35000"/>
                  </a:stretch>
                </a:blipFill>
                <a:ln w="12700" cap="flat">
                  <a:noFill/>
                  <a:miter lim="400000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文本框 102">
                  <a:extLst>
                    <a:ext uri="{FF2B5EF4-FFF2-40B4-BE49-F238E27FC236}">
                      <a16:creationId xmlns:a16="http://schemas.microsoft.com/office/drawing/2014/main" id="{F83BB160-83FE-CA4D-DA39-384247FBF8A8}"/>
                    </a:ext>
                  </a:extLst>
                </p:cNvPr>
                <p:cNvSpPr txBox="1"/>
                <p:nvPr/>
              </p:nvSpPr>
              <p:spPr>
                <a:xfrm>
                  <a:off x="5178224" y="4259946"/>
                  <a:ext cx="1089529" cy="49244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</p:spPr>
              <p:style>
                <a:lnRef idx="0">
                  <a:srgbClr val="FFFFFF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ctr">
                  <a:spAutoFit/>
                </a:bodyPr>
                <a:lstStyle/>
                <a:p>
                  <a:pPr marL="0" marR="0" indent="0" algn="ctr" defTabSz="821055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zh-CN" sz="3200" b="1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bg2">
                                <a:lumMod val="60000"/>
                                <a:lumOff val="4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Helvetica Neue" panose="02000503000000020004"/>
                            <a:cs typeface="Helvetica Neue" panose="02000503000000020004"/>
                            <a:sym typeface="Helvetica Neue" panose="02000503000000020004"/>
                          </a:rPr>
                          <m:t>(</m:t>
                        </m:r>
                        <m:r>
                          <a:rPr kumimoji="0" lang="en-US" altLang="zh-CN" sz="3200" b="1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bg2">
                                <a:lumMod val="60000"/>
                                <a:lumOff val="4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Helvetica Neue" panose="02000503000000020004"/>
                            <a:cs typeface="Helvetica Neue" panose="02000503000000020004"/>
                            <a:sym typeface="Helvetica Neue" panose="02000503000000020004"/>
                          </a:rPr>
                          <m:t>𝒙</m:t>
                        </m:r>
                        <m:r>
                          <a:rPr kumimoji="0" lang="en-US" altLang="zh-CN" sz="3200" b="1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bg2">
                                <a:lumMod val="60000"/>
                                <a:lumOff val="4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Helvetica Neue" panose="02000503000000020004"/>
                            <a:cs typeface="Helvetica Neue" panose="02000503000000020004"/>
                            <a:sym typeface="Helvetica Neue" panose="02000503000000020004"/>
                          </a:rPr>
                          <m:t>,</m:t>
                        </m:r>
                        <m:r>
                          <a:rPr kumimoji="0" lang="en-US" altLang="zh-CN" sz="3200" b="1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bg2">
                                <a:lumMod val="60000"/>
                                <a:lumOff val="4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Helvetica Neue" panose="02000503000000020004"/>
                            <a:cs typeface="Helvetica Neue" panose="02000503000000020004"/>
                            <a:sym typeface="Helvetica Neue" panose="02000503000000020004"/>
                          </a:rPr>
                          <m:t>𝒚</m:t>
                        </m:r>
                        <m:r>
                          <a:rPr kumimoji="0" lang="en-US" altLang="zh-CN" sz="3200" b="1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bg2">
                                <a:lumMod val="60000"/>
                                <a:lumOff val="4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Helvetica Neue" panose="02000503000000020004"/>
                            <a:cs typeface="Helvetica Neue" panose="02000503000000020004"/>
                            <a:sym typeface="Helvetica Neue" panose="02000503000000020004"/>
                          </a:rPr>
                          <m:t>)</m:t>
                        </m:r>
                      </m:oMath>
                    </m:oMathPara>
                  </a14:m>
                  <a:endParaRPr kumimoji="0" lang="zh-CN" altLang="en-US" sz="3200" b="1" i="0" u="none" strike="noStrike" cap="none" spc="0" normalizeH="0" baseline="0" dirty="0">
                    <a:ln>
                      <a:noFill/>
                    </a:ln>
                    <a:solidFill>
                      <a:schemeClr val="bg2">
                        <a:lumMod val="60000"/>
                        <a:lumOff val="40000"/>
                      </a:schemeClr>
                    </a:solidFill>
                    <a:effectLst/>
                    <a:uFillTx/>
                    <a:latin typeface="Helvetica Neue" panose="02000503000000020004"/>
                    <a:ea typeface="Helvetica Neue" panose="02000503000000020004"/>
                    <a:cs typeface="Helvetica Neue" panose="02000503000000020004"/>
                    <a:sym typeface="Helvetica Neue" panose="02000503000000020004"/>
                  </a:endParaRPr>
                </a:p>
              </p:txBody>
            </p:sp>
          </mc:Choice>
          <mc:Fallback xmlns="">
            <p:sp>
              <p:nvSpPr>
                <p:cNvPr id="103" name="文本框 102">
                  <a:extLst>
                    <a:ext uri="{FF2B5EF4-FFF2-40B4-BE49-F238E27FC236}">
                      <a16:creationId xmlns:a16="http://schemas.microsoft.com/office/drawing/2014/main" id="{F83BB160-83FE-CA4D-DA39-384247FBF8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8224" y="4259946"/>
                  <a:ext cx="1089529" cy="492443"/>
                </a:xfrm>
                <a:prstGeom prst="rect">
                  <a:avLst/>
                </a:prstGeom>
                <a:blipFill>
                  <a:blip r:embed="rId5"/>
                  <a:stretch>
                    <a:fillRect l="-17241" r="-5747" b="-35000"/>
                  </a:stretch>
                </a:blipFill>
                <a:ln w="12700" cap="flat">
                  <a:noFill/>
                  <a:miter lim="400000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文本框 114">
                  <a:extLst>
                    <a:ext uri="{FF2B5EF4-FFF2-40B4-BE49-F238E27FC236}">
                      <a16:creationId xmlns:a16="http://schemas.microsoft.com/office/drawing/2014/main" id="{BD463EE5-7EA1-0695-61B8-4C03F43F9DB4}"/>
                    </a:ext>
                  </a:extLst>
                </p:cNvPr>
                <p:cNvSpPr txBox="1"/>
                <p:nvPr/>
              </p:nvSpPr>
              <p:spPr>
                <a:xfrm>
                  <a:off x="11491733" y="6506280"/>
                  <a:ext cx="395942" cy="921984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</p:spPr>
              <p:style>
                <a:lnRef idx="0">
                  <a:srgbClr val="FFFFFF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ctr">
                  <a:spAutoFit/>
                </a:bodyPr>
                <a:lstStyle/>
                <a:p>
                  <a:pPr marL="0" marR="0" indent="0" algn="ctr" defTabSz="821055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kumimoji="0" lang="en-US" altLang="zh-CN" sz="3200" b="1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666666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Helvetica Neue" panose="02000503000000020004"/>
                                <a:cs typeface="Helvetica Neue" panose="02000503000000020004"/>
                                <a:sym typeface="Helvetica Neue" panose="02000503000000020004"/>
                              </a:rPr>
                            </m:ctrlPr>
                          </m:fPr>
                          <m:num>
                            <m:r>
                              <a:rPr kumimoji="0" lang="en-US" altLang="zh-CN" sz="3200" b="1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666666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Helvetica Neue" panose="02000503000000020004"/>
                                <a:cs typeface="Helvetica Neue" panose="02000503000000020004"/>
                                <a:sym typeface="Helvetica Neue" panose="02000503000000020004"/>
                              </a:rPr>
                              <m:t>𝑺</m:t>
                            </m:r>
                          </m:num>
                          <m:den>
                            <m:r>
                              <a:rPr kumimoji="0" lang="en-US" altLang="zh-CN" sz="3200" b="1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666666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Helvetica Neue" panose="02000503000000020004"/>
                                <a:cs typeface="Helvetica Neue" panose="02000503000000020004"/>
                                <a:sym typeface="Helvetica Neue" panose="02000503000000020004"/>
                              </a:rPr>
                              <m:t>𝑷</m:t>
                            </m:r>
                          </m:den>
                        </m:f>
                      </m:oMath>
                    </m:oMathPara>
                  </a14:m>
                  <a:endParaRPr kumimoji="0" lang="zh-CN" altLang="en-US" sz="3200" b="1" i="0" u="none" strike="noStrike" cap="none" spc="0" normalizeH="0" baseline="0" dirty="0">
                    <a:ln>
                      <a:noFill/>
                    </a:ln>
                    <a:solidFill>
                      <a:srgbClr val="666666"/>
                    </a:solidFill>
                    <a:effectLst/>
                    <a:uFillTx/>
                    <a:latin typeface="Helvetica Neue" panose="02000503000000020004"/>
                    <a:ea typeface="Helvetica Neue" panose="02000503000000020004"/>
                    <a:cs typeface="Helvetica Neue" panose="02000503000000020004"/>
                    <a:sym typeface="Helvetica Neue" panose="02000503000000020004"/>
                  </a:endParaRPr>
                </a:p>
              </p:txBody>
            </p:sp>
          </mc:Choice>
          <mc:Fallback xmlns="">
            <p:sp>
              <p:nvSpPr>
                <p:cNvPr id="115" name="文本框 114">
                  <a:extLst>
                    <a:ext uri="{FF2B5EF4-FFF2-40B4-BE49-F238E27FC236}">
                      <a16:creationId xmlns:a16="http://schemas.microsoft.com/office/drawing/2014/main" id="{BD463EE5-7EA1-0695-61B8-4C03F43F9D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91733" y="6506280"/>
                  <a:ext cx="395942" cy="921984"/>
                </a:xfrm>
                <a:prstGeom prst="rect">
                  <a:avLst/>
                </a:prstGeom>
                <a:blipFill>
                  <a:blip r:embed="rId6"/>
                  <a:stretch>
                    <a:fillRect l="-34375" r="-6250" b="-13514"/>
                  </a:stretch>
                </a:blipFill>
                <a:ln w="12700" cap="flat">
                  <a:noFill/>
                  <a:miter lim="400000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6" name="文本框 115">
                  <a:extLst>
                    <a:ext uri="{FF2B5EF4-FFF2-40B4-BE49-F238E27FC236}">
                      <a16:creationId xmlns:a16="http://schemas.microsoft.com/office/drawing/2014/main" id="{0857C10C-4DF5-7259-7EA5-DFF1B7C197BF}"/>
                    </a:ext>
                  </a:extLst>
                </p:cNvPr>
                <p:cNvSpPr txBox="1"/>
                <p:nvPr/>
              </p:nvSpPr>
              <p:spPr>
                <a:xfrm>
                  <a:off x="11491733" y="8809681"/>
                  <a:ext cx="395942" cy="921984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</p:spPr>
              <p:style>
                <a:lnRef idx="0">
                  <a:srgbClr val="FFFFFF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ctr">
                  <a:spAutoFit/>
                </a:bodyPr>
                <a:lstStyle/>
                <a:p>
                  <a:pPr marL="0" marR="0" indent="0" algn="ctr" defTabSz="821055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kumimoji="0" lang="en-US" altLang="zh-CN" sz="3200" b="1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666666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Helvetica Neue" panose="02000503000000020004"/>
                                <a:cs typeface="Helvetica Neue" panose="02000503000000020004"/>
                                <a:sym typeface="Helvetica Neue" panose="02000503000000020004"/>
                              </a:rPr>
                            </m:ctrlPr>
                          </m:fPr>
                          <m:num>
                            <m:r>
                              <a:rPr kumimoji="0" lang="en-US" altLang="zh-CN" sz="3200" b="1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666666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Helvetica Neue" panose="02000503000000020004"/>
                                <a:cs typeface="Helvetica Neue" panose="02000503000000020004"/>
                                <a:sym typeface="Helvetica Neue" panose="02000503000000020004"/>
                              </a:rPr>
                              <m:t>𝑺</m:t>
                            </m:r>
                          </m:num>
                          <m:den>
                            <m:r>
                              <a:rPr kumimoji="0" lang="en-US" altLang="zh-CN" sz="3200" b="1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666666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Helvetica Neue" panose="02000503000000020004"/>
                                <a:cs typeface="Helvetica Neue" panose="02000503000000020004"/>
                                <a:sym typeface="Helvetica Neue" panose="02000503000000020004"/>
                              </a:rPr>
                              <m:t>𝑷</m:t>
                            </m:r>
                          </m:den>
                        </m:f>
                      </m:oMath>
                    </m:oMathPara>
                  </a14:m>
                  <a:endParaRPr kumimoji="0" lang="zh-CN" altLang="en-US" sz="3200" b="1" i="0" u="none" strike="noStrike" cap="none" spc="0" normalizeH="0" baseline="0" dirty="0">
                    <a:ln>
                      <a:noFill/>
                    </a:ln>
                    <a:solidFill>
                      <a:srgbClr val="666666"/>
                    </a:solidFill>
                    <a:effectLst/>
                    <a:uFillTx/>
                    <a:latin typeface="Helvetica Neue" panose="02000503000000020004"/>
                    <a:ea typeface="Helvetica Neue" panose="02000503000000020004"/>
                    <a:cs typeface="Helvetica Neue" panose="02000503000000020004"/>
                    <a:sym typeface="Helvetica Neue" panose="02000503000000020004"/>
                  </a:endParaRPr>
                </a:p>
              </p:txBody>
            </p:sp>
          </mc:Choice>
          <mc:Fallback xmlns="">
            <p:sp>
              <p:nvSpPr>
                <p:cNvPr id="116" name="文本框 115">
                  <a:extLst>
                    <a:ext uri="{FF2B5EF4-FFF2-40B4-BE49-F238E27FC236}">
                      <a16:creationId xmlns:a16="http://schemas.microsoft.com/office/drawing/2014/main" id="{0857C10C-4DF5-7259-7EA5-DFF1B7C197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91733" y="8809681"/>
                  <a:ext cx="395942" cy="921984"/>
                </a:xfrm>
                <a:prstGeom prst="rect">
                  <a:avLst/>
                </a:prstGeom>
                <a:blipFill>
                  <a:blip r:embed="rId7"/>
                  <a:stretch>
                    <a:fillRect l="-34375" r="-6250" b="-13514"/>
                  </a:stretch>
                </a:blipFill>
                <a:ln w="12700" cap="flat">
                  <a:noFill/>
                  <a:miter lim="400000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" name="文本框 116">
                  <a:extLst>
                    <a:ext uri="{FF2B5EF4-FFF2-40B4-BE49-F238E27FC236}">
                      <a16:creationId xmlns:a16="http://schemas.microsoft.com/office/drawing/2014/main" id="{92D10A23-600A-0100-7E06-08012A7E71F2}"/>
                    </a:ext>
                  </a:extLst>
                </p:cNvPr>
                <p:cNvSpPr txBox="1"/>
                <p:nvPr/>
              </p:nvSpPr>
              <p:spPr>
                <a:xfrm>
                  <a:off x="11491733" y="11084856"/>
                  <a:ext cx="395942" cy="921984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</p:spPr>
              <p:style>
                <a:lnRef idx="0">
                  <a:srgbClr val="FFFFFF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ctr">
                  <a:spAutoFit/>
                </a:bodyPr>
                <a:lstStyle/>
                <a:p>
                  <a:pPr marL="0" marR="0" indent="0" algn="ctr" defTabSz="821055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kumimoji="0" lang="en-US" altLang="zh-CN" sz="3200" b="1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666666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Helvetica Neue" panose="02000503000000020004"/>
                                <a:cs typeface="Helvetica Neue" panose="02000503000000020004"/>
                                <a:sym typeface="Helvetica Neue" panose="02000503000000020004"/>
                              </a:rPr>
                            </m:ctrlPr>
                          </m:fPr>
                          <m:num>
                            <m:r>
                              <a:rPr kumimoji="0" lang="en-US" altLang="zh-CN" sz="3200" b="1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666666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Helvetica Neue" panose="02000503000000020004"/>
                                <a:cs typeface="Helvetica Neue" panose="02000503000000020004"/>
                                <a:sym typeface="Helvetica Neue" panose="02000503000000020004"/>
                              </a:rPr>
                              <m:t>𝑺</m:t>
                            </m:r>
                          </m:num>
                          <m:den>
                            <m:r>
                              <a:rPr kumimoji="0" lang="en-US" altLang="zh-CN" sz="3200" b="1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666666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Helvetica Neue" panose="02000503000000020004"/>
                                <a:cs typeface="Helvetica Neue" panose="02000503000000020004"/>
                                <a:sym typeface="Helvetica Neue" panose="02000503000000020004"/>
                              </a:rPr>
                              <m:t>𝑷</m:t>
                            </m:r>
                          </m:den>
                        </m:f>
                      </m:oMath>
                    </m:oMathPara>
                  </a14:m>
                  <a:endParaRPr kumimoji="0" lang="zh-CN" altLang="en-US" sz="3200" b="1" i="0" u="none" strike="noStrike" cap="none" spc="0" normalizeH="0" baseline="0" dirty="0">
                    <a:ln>
                      <a:noFill/>
                    </a:ln>
                    <a:solidFill>
                      <a:srgbClr val="666666"/>
                    </a:solidFill>
                    <a:effectLst/>
                    <a:uFillTx/>
                    <a:latin typeface="Helvetica Neue" panose="02000503000000020004"/>
                    <a:ea typeface="Helvetica Neue" panose="02000503000000020004"/>
                    <a:cs typeface="Helvetica Neue" panose="02000503000000020004"/>
                    <a:sym typeface="Helvetica Neue" panose="02000503000000020004"/>
                  </a:endParaRPr>
                </a:p>
              </p:txBody>
            </p:sp>
          </mc:Choice>
          <mc:Fallback xmlns="">
            <p:sp>
              <p:nvSpPr>
                <p:cNvPr id="117" name="文本框 116">
                  <a:extLst>
                    <a:ext uri="{FF2B5EF4-FFF2-40B4-BE49-F238E27FC236}">
                      <a16:creationId xmlns:a16="http://schemas.microsoft.com/office/drawing/2014/main" id="{92D10A23-600A-0100-7E06-08012A7E71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91733" y="11084856"/>
                  <a:ext cx="395942" cy="921984"/>
                </a:xfrm>
                <a:prstGeom prst="rect">
                  <a:avLst/>
                </a:prstGeom>
                <a:blipFill>
                  <a:blip r:embed="rId7"/>
                  <a:stretch>
                    <a:fillRect l="-34375" r="-6250" b="-13514"/>
                  </a:stretch>
                </a:blipFill>
                <a:ln w="12700" cap="flat">
                  <a:noFill/>
                  <a:miter lim="400000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8" name="文本框 117">
                  <a:extLst>
                    <a:ext uri="{FF2B5EF4-FFF2-40B4-BE49-F238E27FC236}">
                      <a16:creationId xmlns:a16="http://schemas.microsoft.com/office/drawing/2014/main" id="{53B1F9DF-4D24-E1A1-735E-B991DFC90F2C}"/>
                    </a:ext>
                  </a:extLst>
                </p:cNvPr>
                <p:cNvSpPr txBox="1"/>
                <p:nvPr/>
              </p:nvSpPr>
              <p:spPr>
                <a:xfrm>
                  <a:off x="16754981" y="12835068"/>
                  <a:ext cx="1186222" cy="49244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</p:spPr>
              <p:style>
                <a:lnRef idx="0">
                  <a:srgbClr val="FFFFFF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ctr">
                  <a:spAutoFit/>
                </a:bodyPr>
                <a:lstStyle/>
                <a:p>
                  <a:pPr marL="0" marR="0" indent="0" algn="ctr" defTabSz="821055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zh-CN" sz="3200" b="1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666666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Helvetica Neue" panose="02000503000000020004"/>
                            <a:cs typeface="Helvetica Neue" panose="02000503000000020004"/>
                            <a:sym typeface="Helvetica Neue" panose="02000503000000020004"/>
                          </a:rPr>
                          <m:t>𝑯𝒅</m:t>
                        </m:r>
                        <m:r>
                          <a:rPr kumimoji="0" lang="en-US" altLang="zh-CN" sz="3200" b="1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666666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Helvetica Neue" panose="02000503000000020004"/>
                            <a:cs typeface="Helvetica Neue" panose="02000503000000020004"/>
                            <a:sym typeface="Helvetica Neue" panose="02000503000000020004"/>
                          </a:rPr>
                          <m:t>/</m:t>
                        </m:r>
                        <m:r>
                          <a:rPr kumimoji="0" lang="en-US" altLang="zh-CN" sz="3200" b="1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666666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Helvetica Neue" panose="02000503000000020004"/>
                            <a:cs typeface="Helvetica Neue" panose="02000503000000020004"/>
                            <a:sym typeface="Helvetica Neue" panose="02000503000000020004"/>
                          </a:rPr>
                          <m:t>𝑷</m:t>
                        </m:r>
                      </m:oMath>
                    </m:oMathPara>
                  </a14:m>
                  <a:endParaRPr kumimoji="0" lang="zh-CN" altLang="en-US" sz="3200" b="1" i="0" u="none" strike="noStrike" cap="none" spc="0" normalizeH="0" baseline="0" dirty="0">
                    <a:ln>
                      <a:noFill/>
                    </a:ln>
                    <a:solidFill>
                      <a:srgbClr val="666666"/>
                    </a:solidFill>
                    <a:effectLst/>
                    <a:uFillTx/>
                    <a:latin typeface="Helvetica Neue" panose="02000503000000020004"/>
                    <a:ea typeface="Helvetica Neue" panose="02000503000000020004"/>
                    <a:cs typeface="Helvetica Neue" panose="02000503000000020004"/>
                    <a:sym typeface="Helvetica Neue" panose="02000503000000020004"/>
                  </a:endParaRPr>
                </a:p>
              </p:txBody>
            </p:sp>
          </mc:Choice>
          <mc:Fallback xmlns="">
            <p:sp>
              <p:nvSpPr>
                <p:cNvPr id="118" name="文本框 117">
                  <a:extLst>
                    <a:ext uri="{FF2B5EF4-FFF2-40B4-BE49-F238E27FC236}">
                      <a16:creationId xmlns:a16="http://schemas.microsoft.com/office/drawing/2014/main" id="{53B1F9DF-4D24-E1A1-735E-B991DFC90F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54981" y="12835068"/>
                  <a:ext cx="1186222" cy="492443"/>
                </a:xfrm>
                <a:prstGeom prst="rect">
                  <a:avLst/>
                </a:prstGeom>
                <a:blipFill>
                  <a:blip r:embed="rId8"/>
                  <a:stretch>
                    <a:fillRect l="-10526" r="-1053" b="-35000"/>
                  </a:stretch>
                </a:blipFill>
                <a:ln w="12700" cap="flat">
                  <a:noFill/>
                  <a:miter lim="400000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文本框 118">
                  <a:extLst>
                    <a:ext uri="{FF2B5EF4-FFF2-40B4-BE49-F238E27FC236}">
                      <a16:creationId xmlns:a16="http://schemas.microsoft.com/office/drawing/2014/main" id="{D0F98432-0C43-3E91-4C6D-E884AC916FBD}"/>
                    </a:ext>
                  </a:extLst>
                </p:cNvPr>
                <p:cNvSpPr txBox="1"/>
                <p:nvPr/>
              </p:nvSpPr>
              <p:spPr>
                <a:xfrm>
                  <a:off x="18496852" y="12835068"/>
                  <a:ext cx="1186222" cy="49244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</p:spPr>
              <p:style>
                <a:lnRef idx="0">
                  <a:srgbClr val="FFFFFF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ctr">
                  <a:spAutoFit/>
                </a:bodyPr>
                <a:lstStyle/>
                <a:p>
                  <a:pPr marL="0" marR="0" indent="0" algn="ctr" defTabSz="821055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zh-CN" sz="3200" b="1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666666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Helvetica Neue" panose="02000503000000020004"/>
                            <a:cs typeface="Helvetica Neue" panose="02000503000000020004"/>
                            <a:sym typeface="Helvetica Neue" panose="02000503000000020004"/>
                          </a:rPr>
                          <m:t>𝑯𝒅</m:t>
                        </m:r>
                        <m:r>
                          <a:rPr kumimoji="0" lang="en-US" altLang="zh-CN" sz="3200" b="1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666666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Helvetica Neue" panose="02000503000000020004"/>
                            <a:cs typeface="Helvetica Neue" panose="02000503000000020004"/>
                            <a:sym typeface="Helvetica Neue" panose="02000503000000020004"/>
                          </a:rPr>
                          <m:t>/</m:t>
                        </m:r>
                        <m:r>
                          <a:rPr kumimoji="0" lang="en-US" altLang="zh-CN" sz="3200" b="1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666666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Helvetica Neue" panose="02000503000000020004"/>
                            <a:cs typeface="Helvetica Neue" panose="02000503000000020004"/>
                            <a:sym typeface="Helvetica Neue" panose="02000503000000020004"/>
                          </a:rPr>
                          <m:t>𝑷</m:t>
                        </m:r>
                      </m:oMath>
                    </m:oMathPara>
                  </a14:m>
                  <a:endParaRPr kumimoji="0" lang="zh-CN" altLang="en-US" sz="3200" b="1" i="0" u="none" strike="noStrike" cap="none" spc="0" normalizeH="0" baseline="0" dirty="0">
                    <a:ln>
                      <a:noFill/>
                    </a:ln>
                    <a:solidFill>
                      <a:srgbClr val="666666"/>
                    </a:solidFill>
                    <a:effectLst/>
                    <a:uFillTx/>
                    <a:latin typeface="Helvetica Neue" panose="02000503000000020004"/>
                    <a:ea typeface="Helvetica Neue" panose="02000503000000020004"/>
                    <a:cs typeface="Helvetica Neue" panose="02000503000000020004"/>
                    <a:sym typeface="Helvetica Neue" panose="02000503000000020004"/>
                  </a:endParaRPr>
                </a:p>
              </p:txBody>
            </p:sp>
          </mc:Choice>
          <mc:Fallback xmlns="">
            <p:sp>
              <p:nvSpPr>
                <p:cNvPr id="119" name="文本框 118">
                  <a:extLst>
                    <a:ext uri="{FF2B5EF4-FFF2-40B4-BE49-F238E27FC236}">
                      <a16:creationId xmlns:a16="http://schemas.microsoft.com/office/drawing/2014/main" id="{D0F98432-0C43-3E91-4C6D-E884AC916F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496852" y="12835068"/>
                  <a:ext cx="1186222" cy="492443"/>
                </a:xfrm>
                <a:prstGeom prst="rect">
                  <a:avLst/>
                </a:prstGeom>
                <a:blipFill>
                  <a:blip r:embed="rId9"/>
                  <a:stretch>
                    <a:fillRect l="-11579" r="-1053" b="-35000"/>
                  </a:stretch>
                </a:blipFill>
                <a:ln w="12700" cap="flat">
                  <a:noFill/>
                  <a:miter lim="400000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文本框 119">
                  <a:extLst>
                    <a:ext uri="{FF2B5EF4-FFF2-40B4-BE49-F238E27FC236}">
                      <a16:creationId xmlns:a16="http://schemas.microsoft.com/office/drawing/2014/main" id="{581C864B-69FC-0779-E7FA-868EFD527525}"/>
                    </a:ext>
                  </a:extLst>
                </p:cNvPr>
                <p:cNvSpPr txBox="1"/>
                <p:nvPr/>
              </p:nvSpPr>
              <p:spPr>
                <a:xfrm>
                  <a:off x="20169642" y="12835068"/>
                  <a:ext cx="1186222" cy="49244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</p:spPr>
              <p:style>
                <a:lnRef idx="0">
                  <a:srgbClr val="FFFFFF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ctr">
                  <a:spAutoFit/>
                </a:bodyPr>
                <a:lstStyle/>
                <a:p>
                  <a:pPr marL="0" marR="0" indent="0" algn="ctr" defTabSz="821055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zh-CN" sz="3200" b="1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666666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Helvetica Neue" panose="02000503000000020004"/>
                            <a:cs typeface="Helvetica Neue" panose="02000503000000020004"/>
                            <a:sym typeface="Helvetica Neue" panose="02000503000000020004"/>
                          </a:rPr>
                          <m:t>𝑯𝒅</m:t>
                        </m:r>
                        <m:r>
                          <a:rPr kumimoji="0" lang="en-US" altLang="zh-CN" sz="3200" b="1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666666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Helvetica Neue" panose="02000503000000020004"/>
                            <a:cs typeface="Helvetica Neue" panose="02000503000000020004"/>
                            <a:sym typeface="Helvetica Neue" panose="02000503000000020004"/>
                          </a:rPr>
                          <m:t>/</m:t>
                        </m:r>
                        <m:r>
                          <a:rPr kumimoji="0" lang="en-US" altLang="zh-CN" sz="3200" b="1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666666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Helvetica Neue" panose="02000503000000020004"/>
                            <a:cs typeface="Helvetica Neue" panose="02000503000000020004"/>
                            <a:sym typeface="Helvetica Neue" panose="02000503000000020004"/>
                          </a:rPr>
                          <m:t>𝑷</m:t>
                        </m:r>
                      </m:oMath>
                    </m:oMathPara>
                  </a14:m>
                  <a:endParaRPr kumimoji="0" lang="zh-CN" altLang="en-US" sz="3200" b="1" i="0" u="none" strike="noStrike" cap="none" spc="0" normalizeH="0" baseline="0" dirty="0">
                    <a:ln>
                      <a:noFill/>
                    </a:ln>
                    <a:solidFill>
                      <a:srgbClr val="666666"/>
                    </a:solidFill>
                    <a:effectLst/>
                    <a:uFillTx/>
                    <a:latin typeface="Helvetica Neue" panose="02000503000000020004"/>
                    <a:ea typeface="Helvetica Neue" panose="02000503000000020004"/>
                    <a:cs typeface="Helvetica Neue" panose="02000503000000020004"/>
                    <a:sym typeface="Helvetica Neue" panose="02000503000000020004"/>
                  </a:endParaRPr>
                </a:p>
              </p:txBody>
            </p:sp>
          </mc:Choice>
          <mc:Fallback xmlns="">
            <p:sp>
              <p:nvSpPr>
                <p:cNvPr id="120" name="文本框 119">
                  <a:extLst>
                    <a:ext uri="{FF2B5EF4-FFF2-40B4-BE49-F238E27FC236}">
                      <a16:creationId xmlns:a16="http://schemas.microsoft.com/office/drawing/2014/main" id="{581C864B-69FC-0779-E7FA-868EFD5275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169642" y="12835068"/>
                  <a:ext cx="1186222" cy="492443"/>
                </a:xfrm>
                <a:prstGeom prst="rect">
                  <a:avLst/>
                </a:prstGeom>
                <a:blipFill>
                  <a:blip r:embed="rId4"/>
                  <a:stretch>
                    <a:fillRect l="-11579" r="-1053" b="-35000"/>
                  </a:stretch>
                </a:blipFill>
                <a:ln w="12700" cap="flat">
                  <a:noFill/>
                  <a:miter lim="400000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文本框 123">
                  <a:extLst>
                    <a:ext uri="{FF2B5EF4-FFF2-40B4-BE49-F238E27FC236}">
                      <a16:creationId xmlns:a16="http://schemas.microsoft.com/office/drawing/2014/main" id="{616383C1-1E87-45AE-0BD6-D17928B4A45C}"/>
                    </a:ext>
                  </a:extLst>
                </p:cNvPr>
                <p:cNvSpPr txBox="1"/>
                <p:nvPr/>
              </p:nvSpPr>
              <p:spPr>
                <a:xfrm>
                  <a:off x="11491733" y="4257596"/>
                  <a:ext cx="395942" cy="921984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</p:spPr>
              <p:style>
                <a:lnRef idx="0">
                  <a:srgbClr val="FFFFFF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ctr">
                  <a:spAutoFit/>
                </a:bodyPr>
                <a:lstStyle/>
                <a:p>
                  <a:pPr marL="0" marR="0" indent="0" algn="ctr" defTabSz="821055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kumimoji="0" lang="en-US" altLang="zh-CN" sz="3200" b="1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666666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Helvetica Neue" panose="02000503000000020004"/>
                                <a:cs typeface="Helvetica Neue" panose="02000503000000020004"/>
                                <a:sym typeface="Helvetica Neue" panose="02000503000000020004"/>
                              </a:rPr>
                            </m:ctrlPr>
                          </m:fPr>
                          <m:num>
                            <m:r>
                              <a:rPr kumimoji="0" lang="en-US" altLang="zh-CN" sz="3200" b="1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666666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Helvetica Neue" panose="02000503000000020004"/>
                                <a:cs typeface="Helvetica Neue" panose="02000503000000020004"/>
                                <a:sym typeface="Helvetica Neue" panose="02000503000000020004"/>
                              </a:rPr>
                              <m:t>𝑺</m:t>
                            </m:r>
                          </m:num>
                          <m:den>
                            <m:r>
                              <a:rPr kumimoji="0" lang="en-US" altLang="zh-CN" sz="3200" b="1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666666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Helvetica Neue" panose="02000503000000020004"/>
                                <a:cs typeface="Helvetica Neue" panose="02000503000000020004"/>
                                <a:sym typeface="Helvetica Neue" panose="02000503000000020004"/>
                              </a:rPr>
                              <m:t>𝑷</m:t>
                            </m:r>
                          </m:den>
                        </m:f>
                      </m:oMath>
                    </m:oMathPara>
                  </a14:m>
                  <a:endParaRPr kumimoji="0" lang="zh-CN" altLang="en-US" sz="3200" b="1" i="0" u="none" strike="noStrike" cap="none" spc="0" normalizeH="0" baseline="0" dirty="0">
                    <a:ln>
                      <a:noFill/>
                    </a:ln>
                    <a:solidFill>
                      <a:srgbClr val="666666"/>
                    </a:solidFill>
                    <a:effectLst/>
                    <a:uFillTx/>
                    <a:latin typeface="Helvetica Neue" panose="02000503000000020004"/>
                    <a:ea typeface="Helvetica Neue" panose="02000503000000020004"/>
                    <a:cs typeface="Helvetica Neue" panose="02000503000000020004"/>
                    <a:sym typeface="Helvetica Neue" panose="02000503000000020004"/>
                  </a:endParaRPr>
                </a:p>
              </p:txBody>
            </p:sp>
          </mc:Choice>
          <mc:Fallback xmlns="">
            <p:sp>
              <p:nvSpPr>
                <p:cNvPr id="124" name="文本框 123">
                  <a:extLst>
                    <a:ext uri="{FF2B5EF4-FFF2-40B4-BE49-F238E27FC236}">
                      <a16:creationId xmlns:a16="http://schemas.microsoft.com/office/drawing/2014/main" id="{616383C1-1E87-45AE-0BD6-D17928B4A4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91733" y="4257596"/>
                  <a:ext cx="395942" cy="921984"/>
                </a:xfrm>
                <a:prstGeom prst="rect">
                  <a:avLst/>
                </a:prstGeom>
                <a:blipFill>
                  <a:blip r:embed="rId6"/>
                  <a:stretch>
                    <a:fillRect l="-34375" r="-6250" b="-13514"/>
                  </a:stretch>
                </a:blipFill>
                <a:ln w="12700" cap="flat">
                  <a:noFill/>
                  <a:miter lim="400000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文本框 124">
                <a:extLst>
                  <a:ext uri="{FF2B5EF4-FFF2-40B4-BE49-F238E27FC236}">
                    <a16:creationId xmlns:a16="http://schemas.microsoft.com/office/drawing/2014/main" id="{4A6181C9-76B9-6BA4-35CE-FA4933C414AC}"/>
                  </a:ext>
                </a:extLst>
              </p:cNvPr>
              <p:cNvSpPr txBox="1"/>
              <p:nvPr/>
            </p:nvSpPr>
            <p:spPr>
              <a:xfrm>
                <a:off x="16986902" y="2121839"/>
                <a:ext cx="2066015" cy="49244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 marL="0" marR="0" indent="0" algn="ctr" defTabSz="821055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0" lang="en-US" altLang="zh-CN" sz="3200" b="1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666666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Helvetica Neue" panose="02000503000000020004"/>
                              <a:cs typeface="Helvetica Neue" panose="02000503000000020004"/>
                              <a:sym typeface="Helvetica Neue" panose="02000503000000020004"/>
                            </a:rPr>
                          </m:ctrlPr>
                        </m:dPr>
                        <m:e>
                          <m:r>
                            <a:rPr kumimoji="0" lang="en-US" altLang="zh-CN" sz="3200" b="1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666666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Helvetica Neue" panose="02000503000000020004"/>
                              <a:cs typeface="Helvetica Neue" panose="02000503000000020004"/>
                              <a:sym typeface="Helvetica Neue" panose="02000503000000020004"/>
                            </a:rPr>
                            <m:t>𝑺</m:t>
                          </m:r>
                          <m:r>
                            <a:rPr kumimoji="0" lang="en-US" altLang="zh-CN" sz="3200" b="1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666666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Helvetica Neue" panose="02000503000000020004"/>
                              <a:cs typeface="Helvetica Neue" panose="02000503000000020004"/>
                              <a:sym typeface="Helvetica Neue" panose="02000503000000020004"/>
                            </a:rPr>
                            <m:t>, </m:t>
                          </m:r>
                          <m:r>
                            <a:rPr kumimoji="0" lang="en-US" altLang="zh-CN" sz="3200" b="1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666666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Helvetica Neue" panose="02000503000000020004"/>
                              <a:cs typeface="Helvetica Neue" panose="02000503000000020004"/>
                              <a:sym typeface="Helvetica Neue" panose="02000503000000020004"/>
                            </a:rPr>
                            <m:t>𝑯</m:t>
                          </m:r>
                          <m:r>
                            <a:rPr kumimoji="0" lang="en-US" altLang="zh-CN" sz="3200" b="1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666666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Helvetica Neue" panose="02000503000000020004"/>
                              <a:cs typeface="Helvetica Neue" panose="02000503000000020004"/>
                              <a:sym typeface="Helvetica Neue" panose="02000503000000020004"/>
                            </a:rPr>
                            <m:t>/</m:t>
                          </m:r>
                          <m:r>
                            <a:rPr kumimoji="0" lang="en-US" altLang="zh-CN" sz="3200" b="1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666666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Helvetica Neue" panose="02000503000000020004"/>
                              <a:cs typeface="Helvetica Neue" panose="02000503000000020004"/>
                              <a:sym typeface="Helvetica Neue" panose="02000503000000020004"/>
                            </a:rPr>
                            <m:t>𝑷</m:t>
                          </m:r>
                          <m:r>
                            <a:rPr kumimoji="0" lang="en-US" altLang="zh-CN" sz="3200" b="1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666666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Helvetica Neue" panose="02000503000000020004"/>
                              <a:cs typeface="Helvetica Neue" panose="02000503000000020004"/>
                              <a:sym typeface="Helvetica Neue" panose="02000503000000020004"/>
                            </a:rPr>
                            <m:t>,</m:t>
                          </m:r>
                          <m:r>
                            <a:rPr kumimoji="0" lang="en-US" altLang="zh-CN" sz="3200" b="1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666666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Helvetica Neue" panose="02000503000000020004"/>
                              <a:cs typeface="Helvetica Neue" panose="02000503000000020004"/>
                              <a:sym typeface="Helvetica Neue" panose="02000503000000020004"/>
                            </a:rPr>
                            <m:t>𝒅</m:t>
                          </m:r>
                        </m:e>
                      </m:d>
                    </m:oMath>
                  </m:oMathPara>
                </a14:m>
                <a:endParaRPr kumimoji="0" lang="zh-CN" altLang="en-US" sz="3200" b="1" i="0" u="none" strike="noStrike" cap="none" spc="0" normalizeH="0" baseline="0" dirty="0">
                  <a:ln>
                    <a:noFill/>
                  </a:ln>
                  <a:solidFill>
                    <a:srgbClr val="666666"/>
                  </a:solidFill>
                  <a:effectLst/>
                  <a:uFillTx/>
                  <a:latin typeface="Helvetica Neue" panose="02000503000000020004"/>
                  <a:ea typeface="Helvetica Neue" panose="02000503000000020004"/>
                  <a:cs typeface="Helvetica Neue" panose="02000503000000020004"/>
                  <a:sym typeface="Helvetica Neue" panose="02000503000000020004"/>
                </a:endParaRPr>
              </a:p>
            </p:txBody>
          </p:sp>
        </mc:Choice>
        <mc:Fallback xmlns="">
          <p:sp>
            <p:nvSpPr>
              <p:cNvPr id="125" name="文本框 124">
                <a:extLst>
                  <a:ext uri="{FF2B5EF4-FFF2-40B4-BE49-F238E27FC236}">
                    <a16:creationId xmlns:a16="http://schemas.microsoft.com/office/drawing/2014/main" id="{4A6181C9-76B9-6BA4-35CE-FA4933C414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86902" y="2121839"/>
                <a:ext cx="2066015" cy="492443"/>
              </a:xfrm>
              <a:prstGeom prst="rect">
                <a:avLst/>
              </a:prstGeom>
              <a:blipFill>
                <a:blip r:embed="rId10"/>
                <a:stretch>
                  <a:fillRect b="-35897"/>
                </a:stretch>
              </a:blipFill>
              <a:ln w="12700" cap="flat">
                <a:noFill/>
                <a:miter lim="4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7" name="直线箭头连接符 126">
            <a:extLst>
              <a:ext uri="{FF2B5EF4-FFF2-40B4-BE49-F238E27FC236}">
                <a16:creationId xmlns:a16="http://schemas.microsoft.com/office/drawing/2014/main" id="{CC4E6EB1-5201-7C95-1983-88F2BA7A77A5}"/>
              </a:ext>
            </a:extLst>
          </p:cNvPr>
          <p:cNvCxnSpPr>
            <a:cxnSpLocks/>
          </p:cNvCxnSpPr>
          <p:nvPr/>
        </p:nvCxnSpPr>
        <p:spPr>
          <a:xfrm>
            <a:off x="14806601" y="2418856"/>
            <a:ext cx="1959428" cy="0"/>
          </a:xfrm>
          <a:prstGeom prst="straightConnector1">
            <a:avLst/>
          </a:prstGeom>
          <a:noFill/>
          <a:ln w="25400" cap="flat">
            <a:solidFill>
              <a:srgbClr val="666666"/>
            </a:solidFill>
            <a:prstDash val="solid"/>
            <a:miter lim="400000"/>
            <a:tailEnd type="stealth" w="lg" len="lg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文本框 129">
                <a:extLst>
                  <a:ext uri="{FF2B5EF4-FFF2-40B4-BE49-F238E27FC236}">
                    <a16:creationId xmlns:a16="http://schemas.microsoft.com/office/drawing/2014/main" id="{9EFA4B94-85AD-EB40-8CF2-420048BF2B69}"/>
                  </a:ext>
                </a:extLst>
              </p:cNvPr>
              <p:cNvSpPr txBox="1"/>
              <p:nvPr/>
            </p:nvSpPr>
            <p:spPr>
              <a:xfrm>
                <a:off x="19668038" y="4752389"/>
                <a:ext cx="3739037" cy="94615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 marL="0" marR="0" indent="0" algn="ctr" defTabSz="821055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3200" b="1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666666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Helvetica Neue" panose="02000503000000020004"/>
                          <a:cs typeface="Helvetica Neue" panose="02000503000000020004"/>
                          <a:sym typeface="Helvetica Neue" panose="02000503000000020004"/>
                        </a:rPr>
                        <m:t>𝑹𝒂𝒏</m:t>
                      </m:r>
                      <m:sSub>
                        <m:sSubPr>
                          <m:ctrlPr>
                            <a:rPr kumimoji="0" lang="en-US" altLang="zh-CN" sz="3200" b="1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666666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Helvetica Neue" panose="02000503000000020004"/>
                              <a:cs typeface="Helvetica Neue" panose="02000503000000020004"/>
                              <a:sym typeface="Helvetica Neue" panose="02000503000000020004"/>
                            </a:rPr>
                          </m:ctrlPr>
                        </m:sSubPr>
                        <m:e>
                          <m:r>
                            <a:rPr kumimoji="0" lang="en-US" altLang="zh-CN" sz="3200" b="1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666666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Helvetica Neue" panose="02000503000000020004"/>
                              <a:cs typeface="Helvetica Neue" panose="02000503000000020004"/>
                              <a:sym typeface="Helvetica Neue" panose="02000503000000020004"/>
                            </a:rPr>
                            <m:t>𝒌</m:t>
                          </m:r>
                        </m:e>
                        <m:sub>
                          <m:r>
                            <a:rPr kumimoji="0" lang="en-US" altLang="zh-CN" sz="3200" b="1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666666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Helvetica Neue" panose="02000503000000020004"/>
                              <a:cs typeface="Helvetica Neue" panose="02000503000000020004"/>
                              <a:sym typeface="Helvetica Neue" panose="02000503000000020004"/>
                            </a:rPr>
                            <m:t>𝒅𝒔𝒕</m:t>
                          </m:r>
                        </m:sub>
                      </m:sSub>
                      <m:r>
                        <a:rPr kumimoji="0" lang="en-US" altLang="zh-CN" sz="3200" b="1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666666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Helvetica Neue" panose="02000503000000020004"/>
                          <a:cs typeface="Helvetica Neue" panose="02000503000000020004"/>
                          <a:sym typeface="Helvetica Neue" panose="02000503000000020004"/>
                        </a:rPr>
                        <m:t>=</m:t>
                      </m:r>
                      <m:d>
                        <m:dPr>
                          <m:begChr m:val="⌊"/>
                          <m:endChr m:val="⌋"/>
                          <m:ctrlPr>
                            <a:rPr kumimoji="0" lang="en-US" altLang="zh-CN" sz="3200" b="1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666666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Helvetica Neue" panose="02000503000000020004"/>
                              <a:cs typeface="Helvetica Neue" panose="02000503000000020004"/>
                              <a:sym typeface="Helvetica Neue" panose="02000503000000020004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kumimoji="0" lang="en-US" altLang="zh-CN" sz="3200" b="1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666666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Helvetica Neue" panose="02000503000000020004"/>
                                  <a:cs typeface="Helvetica Neue" panose="02000503000000020004"/>
                                  <a:sym typeface="Helvetica Neue" panose="02000503000000020004"/>
                                </a:rPr>
                              </m:ctrlPr>
                            </m:fPr>
                            <m:num>
                              <m:r>
                                <a:rPr kumimoji="0" lang="en-US" altLang="zh-CN" sz="3200" b="1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666666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Helvetica Neue" panose="02000503000000020004"/>
                                  <a:cs typeface="Helvetica Neue" panose="02000503000000020004"/>
                                  <a:sym typeface="Helvetica Neue" panose="02000503000000020004"/>
                                </a:rPr>
                                <m:t>𝒙</m:t>
                              </m:r>
                            </m:num>
                            <m:den>
                              <m:r>
                                <a:rPr kumimoji="0" lang="en-US" altLang="zh-CN" sz="3200" b="1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666666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Helvetica Neue" panose="02000503000000020004"/>
                                  <a:cs typeface="Helvetica Neue" panose="02000503000000020004"/>
                                  <a:sym typeface="Helvetica Neue" panose="02000503000000020004"/>
                                </a:rPr>
                                <m:t>𝑯𝒅</m:t>
                              </m:r>
                              <m:r>
                                <a:rPr kumimoji="0" lang="en-US" altLang="zh-CN" sz="3200" b="1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666666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Helvetica Neue" panose="02000503000000020004"/>
                                  <a:cs typeface="Helvetica Neue" panose="02000503000000020004"/>
                                  <a:sym typeface="Helvetica Neue" panose="02000503000000020004"/>
                                </a:rPr>
                                <m:t>/</m:t>
                              </m:r>
                              <m:sSub>
                                <m:sSubPr>
                                  <m:ctrlPr>
                                    <a:rPr kumimoji="0" lang="en-US" altLang="zh-CN" sz="3200" b="1" i="1" u="none" strike="noStrike" cap="none" spc="0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rgbClr val="666666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Helvetica Neue" panose="02000503000000020004"/>
                                      <a:cs typeface="Helvetica Neue" panose="02000503000000020004"/>
                                      <a:sym typeface="Helvetica Neue" panose="02000503000000020004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zh-CN" sz="3200" b="1" i="1" u="none" strike="noStrike" cap="none" spc="0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rgbClr val="666666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Helvetica Neue" panose="02000503000000020004"/>
                                      <a:cs typeface="Helvetica Neue" panose="02000503000000020004"/>
                                      <a:sym typeface="Helvetica Neue" panose="02000503000000020004"/>
                                    </a:rPr>
                                    <m:t>𝑻</m:t>
                                  </m:r>
                                </m:e>
                                <m:sub>
                                  <m:r>
                                    <a:rPr kumimoji="0" lang="en-US" altLang="zh-CN" sz="3200" b="1" i="1" u="none" strike="noStrike" cap="none" spc="0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rgbClr val="666666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Helvetica Neue" panose="02000503000000020004"/>
                                      <a:cs typeface="Helvetica Neue" panose="02000503000000020004"/>
                                      <a:sym typeface="Helvetica Neue" panose="02000503000000020004"/>
                                    </a:rPr>
                                    <m:t>𝒙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kumimoji="0" lang="en-US" altLang="zh-CN" sz="3200" b="1" i="0" u="none" strike="noStrike" cap="none" spc="0" normalizeH="0" baseline="0" dirty="0">
                  <a:ln>
                    <a:noFill/>
                  </a:ln>
                  <a:solidFill>
                    <a:srgbClr val="666666"/>
                  </a:solidFill>
                  <a:effectLst/>
                  <a:uFillTx/>
                  <a:latin typeface="Helvetica Neue" panose="02000503000000020004"/>
                  <a:ea typeface="Helvetica Neue" panose="02000503000000020004"/>
                  <a:cs typeface="Helvetica Neue" panose="02000503000000020004"/>
                  <a:sym typeface="Helvetica Neue" panose="02000503000000020004"/>
                </a:endParaRPr>
              </a:p>
            </p:txBody>
          </p:sp>
        </mc:Choice>
        <mc:Fallback xmlns="">
          <p:sp>
            <p:nvSpPr>
              <p:cNvPr id="130" name="文本框 129">
                <a:extLst>
                  <a:ext uri="{FF2B5EF4-FFF2-40B4-BE49-F238E27FC236}">
                    <a16:creationId xmlns:a16="http://schemas.microsoft.com/office/drawing/2014/main" id="{9EFA4B94-85AD-EB40-8CF2-420048BF2B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68038" y="4752389"/>
                <a:ext cx="3739037" cy="946156"/>
              </a:xfrm>
              <a:prstGeom prst="rect">
                <a:avLst/>
              </a:prstGeom>
              <a:blipFill>
                <a:blip r:embed="rId11"/>
                <a:stretch>
                  <a:fillRect l="-3041" b="-18667"/>
                </a:stretch>
              </a:blipFill>
              <a:ln w="12700" cap="flat">
                <a:noFill/>
                <a:miter lim="4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文本框 130">
                <a:extLst>
                  <a:ext uri="{FF2B5EF4-FFF2-40B4-BE49-F238E27FC236}">
                    <a16:creationId xmlns:a16="http://schemas.microsoft.com/office/drawing/2014/main" id="{F2FD990C-64AE-5692-250D-BC37E82D6269}"/>
                  </a:ext>
                </a:extLst>
              </p:cNvPr>
              <p:cNvSpPr txBox="1"/>
              <p:nvPr/>
            </p:nvSpPr>
            <p:spPr>
              <a:xfrm>
                <a:off x="19668038" y="6302448"/>
                <a:ext cx="3395481" cy="101822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 marL="0" marR="0" indent="0" algn="ctr" defTabSz="821055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3200" b="1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666666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Helvetica Neue" panose="02000503000000020004"/>
                              <a:cs typeface="Helvetica Neue" panose="02000503000000020004"/>
                              <a:sym typeface="Helvetica Neue" panose="02000503000000020004"/>
                            </a:rPr>
                          </m:ctrlPr>
                        </m:sSubPr>
                        <m:e>
                          <m:r>
                            <a:rPr kumimoji="0" lang="en-US" altLang="zh-CN" sz="3200" b="1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666666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Helvetica Neue" panose="02000503000000020004"/>
                              <a:cs typeface="Helvetica Neue" panose="02000503000000020004"/>
                              <a:sym typeface="Helvetica Neue" panose="02000503000000020004"/>
                            </a:rPr>
                            <m:t>𝒙</m:t>
                          </m:r>
                        </m:e>
                        <m:sub>
                          <m:r>
                            <a:rPr kumimoji="0" lang="en-US" altLang="zh-CN" sz="3200" b="1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666666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Helvetica Neue" panose="02000503000000020004"/>
                              <a:cs typeface="Helvetica Neue" panose="02000503000000020004"/>
                              <a:sym typeface="Helvetica Neue" panose="02000503000000020004"/>
                            </a:rPr>
                            <m:t>𝒅𝒔𝒕</m:t>
                          </m:r>
                        </m:sub>
                      </m:sSub>
                      <m:r>
                        <a:rPr kumimoji="0" lang="en-US" altLang="zh-CN" sz="3200" b="1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666666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Helvetica Neue" panose="02000503000000020004"/>
                          <a:cs typeface="Helvetica Neue" panose="02000503000000020004"/>
                          <a:sym typeface="Helvetica Neue" panose="02000503000000020004"/>
                        </a:rPr>
                        <m:t>=</m:t>
                      </m:r>
                      <m:r>
                        <a:rPr kumimoji="0" lang="en-US" altLang="zh-CN" sz="3200" b="1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666666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Helvetica Neue" panose="02000503000000020004"/>
                          <a:cs typeface="Helvetica Neue" panose="02000503000000020004"/>
                          <a:sym typeface="Helvetica Neue" panose="02000503000000020004"/>
                        </a:rPr>
                        <m:t>𝒙</m:t>
                      </m:r>
                      <m:r>
                        <a:rPr kumimoji="0" lang="en-US" altLang="zh-CN" sz="3200" b="1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666666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Helvetica Neue" panose="02000503000000020004"/>
                          <a:cs typeface="Helvetica Neue" panose="02000503000000020004"/>
                          <a:sym typeface="Helvetica Neue" panose="02000503000000020004"/>
                        </a:rPr>
                        <m:t> </m:t>
                      </m:r>
                      <m:r>
                        <m:rPr>
                          <m:nor/>
                        </m:rPr>
                        <a:rPr kumimoji="0" lang="en-US" altLang="zh-CN" sz="3200" b="1" i="0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666666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Helvetica Neue" panose="02000503000000020004"/>
                          <a:cs typeface="Helvetica Neue" panose="02000503000000020004"/>
                          <a:sym typeface="Helvetica Neue" panose="02000503000000020004"/>
                        </a:rPr>
                        <m:t>mod</m:t>
                      </m:r>
                      <m:r>
                        <m:rPr>
                          <m:nor/>
                        </m:rPr>
                        <a:rPr kumimoji="0" lang="en-US" altLang="zh-CN" sz="3200" b="1" i="0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666666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Helvetica Neue" panose="02000503000000020004"/>
                          <a:cs typeface="Helvetica Neue" panose="02000503000000020004"/>
                          <a:sym typeface="Helvetica Neue" panose="02000503000000020004"/>
                        </a:rPr>
                        <m:t> </m:t>
                      </m:r>
                      <m:f>
                        <m:fPr>
                          <m:ctrlPr>
                            <a:rPr kumimoji="0" lang="en-US" altLang="zh-CN" sz="3200" b="1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666666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Helvetica Neue" panose="02000503000000020004"/>
                              <a:cs typeface="Helvetica Neue" panose="02000503000000020004"/>
                              <a:sym typeface="Helvetica Neue" panose="02000503000000020004"/>
                            </a:rPr>
                          </m:ctrlPr>
                        </m:fPr>
                        <m:num>
                          <m:r>
                            <a:rPr kumimoji="0" lang="en-US" altLang="zh-CN" sz="3200" b="1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666666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Helvetica Neue" panose="02000503000000020004"/>
                              <a:cs typeface="Helvetica Neue" panose="02000503000000020004"/>
                              <a:sym typeface="Helvetica Neue" panose="02000503000000020004"/>
                            </a:rPr>
                            <m:t>𝑯𝒅</m:t>
                          </m:r>
                        </m:num>
                        <m:den>
                          <m:r>
                            <a:rPr kumimoji="0" lang="en-US" altLang="zh-CN" sz="3200" b="1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666666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Helvetica Neue" panose="02000503000000020004"/>
                              <a:cs typeface="Helvetica Neue" panose="02000503000000020004"/>
                              <a:sym typeface="Helvetica Neue" panose="02000503000000020004"/>
                            </a:rPr>
                            <m:t>𝑷</m:t>
                          </m:r>
                          <m:sSub>
                            <m:sSubPr>
                              <m:ctrlPr>
                                <a:rPr kumimoji="0" lang="en-US" altLang="zh-CN" sz="3200" b="1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666666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Helvetica Neue" panose="02000503000000020004"/>
                                  <a:cs typeface="Helvetica Neue" panose="02000503000000020004"/>
                                  <a:sym typeface="Helvetica Neue" panose="02000503000000020004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3200" b="1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666666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Helvetica Neue" panose="02000503000000020004"/>
                                  <a:cs typeface="Helvetica Neue" panose="02000503000000020004"/>
                                  <a:sym typeface="Helvetica Neue" panose="02000503000000020004"/>
                                </a:rPr>
                                <m:t>𝑻</m:t>
                              </m:r>
                            </m:e>
                            <m:sub>
                              <m:r>
                                <a:rPr kumimoji="0" lang="en-US" altLang="zh-CN" sz="3200" b="1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666666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Helvetica Neue" panose="02000503000000020004"/>
                                  <a:cs typeface="Helvetica Neue" panose="02000503000000020004"/>
                                  <a:sym typeface="Helvetica Neue" panose="02000503000000020004"/>
                                </a:rPr>
                                <m:t>𝒙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kumimoji="0" lang="en-US" altLang="zh-CN" sz="3200" b="1" i="0" u="none" strike="noStrike" cap="none" spc="0" normalizeH="0" baseline="0" dirty="0">
                  <a:ln>
                    <a:noFill/>
                  </a:ln>
                  <a:solidFill>
                    <a:srgbClr val="666666"/>
                  </a:solidFill>
                  <a:effectLst/>
                  <a:uFillTx/>
                  <a:latin typeface="Helvetica Neue" panose="02000503000000020004"/>
                  <a:ea typeface="Helvetica Neue" panose="02000503000000020004"/>
                  <a:cs typeface="Helvetica Neue" panose="02000503000000020004"/>
                  <a:sym typeface="Helvetica Neue" panose="02000503000000020004"/>
                </a:endParaRPr>
              </a:p>
            </p:txBody>
          </p:sp>
        </mc:Choice>
        <mc:Fallback xmlns="">
          <p:sp>
            <p:nvSpPr>
              <p:cNvPr id="131" name="文本框 130">
                <a:extLst>
                  <a:ext uri="{FF2B5EF4-FFF2-40B4-BE49-F238E27FC236}">
                    <a16:creationId xmlns:a16="http://schemas.microsoft.com/office/drawing/2014/main" id="{F2FD990C-64AE-5692-250D-BC37E82D62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68038" y="6302448"/>
                <a:ext cx="3395481" cy="1018227"/>
              </a:xfrm>
              <a:prstGeom prst="rect">
                <a:avLst/>
              </a:prstGeom>
              <a:blipFill>
                <a:blip r:embed="rId12"/>
                <a:stretch>
                  <a:fillRect l="-2612" t="-1235" b="-6173"/>
                </a:stretch>
              </a:blipFill>
              <a:ln w="12700" cap="flat">
                <a:noFill/>
                <a:miter lim="4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C4D1B2AC-237F-D282-BDB9-533B53E835F3}"/>
                  </a:ext>
                </a:extLst>
              </p:cNvPr>
              <p:cNvSpPr txBox="1"/>
              <p:nvPr/>
            </p:nvSpPr>
            <p:spPr>
              <a:xfrm>
                <a:off x="19668038" y="7924578"/>
                <a:ext cx="4681859" cy="10695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 marL="0" marR="0" indent="0" algn="ctr" defTabSz="821055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3200" b="1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666666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Helvetica Neue" panose="02000503000000020004"/>
                              <a:cs typeface="Helvetica Neue" panose="02000503000000020004"/>
                              <a:sym typeface="Helvetica Neue" panose="02000503000000020004"/>
                            </a:rPr>
                          </m:ctrlPr>
                        </m:sSubPr>
                        <m:e>
                          <m:r>
                            <a:rPr kumimoji="0" lang="en-US" altLang="zh-CN" sz="3200" b="1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666666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Helvetica Neue" panose="02000503000000020004"/>
                              <a:cs typeface="Helvetica Neue" panose="02000503000000020004"/>
                              <a:sym typeface="Helvetica Neue" panose="02000503000000020004"/>
                            </a:rPr>
                            <m:t>𝒚</m:t>
                          </m:r>
                        </m:e>
                        <m:sub>
                          <m:r>
                            <a:rPr kumimoji="0" lang="en-US" altLang="zh-CN" sz="3200" b="1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666666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Helvetica Neue" panose="02000503000000020004"/>
                              <a:cs typeface="Helvetica Neue" panose="02000503000000020004"/>
                              <a:sym typeface="Helvetica Neue" panose="02000503000000020004"/>
                            </a:rPr>
                            <m:t>𝒅𝒔𝒕</m:t>
                          </m:r>
                        </m:sub>
                      </m:sSub>
                      <m:r>
                        <a:rPr kumimoji="0" lang="en-US" altLang="zh-CN" sz="3200" b="1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666666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Helvetica Neue" panose="02000503000000020004"/>
                          <a:cs typeface="Helvetica Neue" panose="02000503000000020004"/>
                          <a:sym typeface="Helvetica Neue" panose="02000503000000020004"/>
                        </a:rPr>
                        <m:t>=</m:t>
                      </m:r>
                      <m:r>
                        <a:rPr kumimoji="0" lang="en-US" altLang="zh-CN" sz="3200" b="1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666666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Helvetica Neue" panose="02000503000000020004"/>
                          <a:cs typeface="Helvetica Neue" panose="02000503000000020004"/>
                          <a:sym typeface="Helvetica Neue" panose="02000503000000020004"/>
                        </a:rPr>
                        <m:t>𝑹𝒂𝒏</m:t>
                      </m:r>
                      <m:sSub>
                        <m:sSubPr>
                          <m:ctrlPr>
                            <a:rPr kumimoji="0" lang="en-US" altLang="zh-CN" sz="3200" b="1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666666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Helvetica Neue" panose="02000503000000020004"/>
                              <a:cs typeface="Helvetica Neue" panose="02000503000000020004"/>
                              <a:sym typeface="Helvetica Neue" panose="02000503000000020004"/>
                            </a:rPr>
                          </m:ctrlPr>
                        </m:sSubPr>
                        <m:e>
                          <m:r>
                            <a:rPr kumimoji="0" lang="en-US" altLang="zh-CN" sz="3200" b="1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666666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Helvetica Neue" panose="02000503000000020004"/>
                              <a:cs typeface="Helvetica Neue" panose="02000503000000020004"/>
                              <a:sym typeface="Helvetica Neue" panose="02000503000000020004"/>
                            </a:rPr>
                            <m:t>𝒌</m:t>
                          </m:r>
                        </m:e>
                        <m:sub>
                          <m:r>
                            <a:rPr kumimoji="0" lang="en-US" altLang="zh-CN" sz="3200" b="1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666666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Helvetica Neue" panose="02000503000000020004"/>
                              <a:cs typeface="Helvetica Neue" panose="02000503000000020004"/>
                              <a:sym typeface="Helvetica Neue" panose="02000503000000020004"/>
                            </a:rPr>
                            <m:t>𝒔𝒓𝒄</m:t>
                          </m:r>
                        </m:sub>
                      </m:sSub>
                      <m:r>
                        <a:rPr kumimoji="0" lang="en-US" altLang="zh-CN" sz="3200" b="1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666666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Helvetica Neue" panose="02000503000000020004"/>
                        </a:rPr>
                        <m:t>∙</m:t>
                      </m:r>
                      <m:f>
                        <m:fPr>
                          <m:ctrlPr>
                            <a:rPr kumimoji="0" lang="en-US" altLang="zh-CN" sz="3200" b="1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666666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Helvetica Neue" panose="02000503000000020004"/>
                            </a:rPr>
                          </m:ctrlPr>
                        </m:fPr>
                        <m:num>
                          <m:r>
                            <a:rPr kumimoji="0" lang="en-US" altLang="zh-CN" sz="3200" b="1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666666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Helvetica Neue" panose="02000503000000020004"/>
                            </a:rPr>
                            <m:t>𝑺</m:t>
                          </m:r>
                        </m:num>
                        <m:den>
                          <m:r>
                            <a:rPr kumimoji="0" lang="en-US" altLang="zh-CN" sz="3200" b="1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666666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Helvetica Neue" panose="02000503000000020004"/>
                            </a:rPr>
                            <m:t>𝑷</m:t>
                          </m:r>
                          <m:sSub>
                            <m:sSubPr>
                              <m:ctrlPr>
                                <a:rPr kumimoji="0" lang="en-US" altLang="zh-CN" sz="3200" b="1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666666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Helvetica Neue" panose="02000503000000020004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3200" b="1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666666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Helvetica Neue" panose="02000503000000020004"/>
                                </a:rPr>
                                <m:t>𝑻</m:t>
                              </m:r>
                            </m:e>
                            <m:sub>
                              <m:r>
                                <a:rPr kumimoji="0" lang="en-US" altLang="zh-CN" sz="3200" b="1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666666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Helvetica Neue" panose="02000503000000020004"/>
                                </a:rPr>
                                <m:t>𝒚</m:t>
                              </m:r>
                            </m:sub>
                          </m:sSub>
                        </m:den>
                      </m:f>
                      <m:r>
                        <a:rPr kumimoji="0" lang="en-US" altLang="zh-CN" sz="3200" b="1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666666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Helvetica Neue" panose="02000503000000020004"/>
                        </a:rPr>
                        <m:t>+</m:t>
                      </m:r>
                      <m:r>
                        <a:rPr kumimoji="0" lang="en-US" altLang="zh-CN" sz="3200" b="1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666666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Helvetica Neue" panose="02000503000000020004"/>
                        </a:rPr>
                        <m:t>𝒚</m:t>
                      </m:r>
                    </m:oMath>
                  </m:oMathPara>
                </a14:m>
                <a:endParaRPr kumimoji="0" lang="en-US" altLang="zh-CN" sz="3200" b="1" i="0" u="none" strike="noStrike" cap="none" spc="0" normalizeH="0" baseline="0" dirty="0">
                  <a:ln>
                    <a:noFill/>
                  </a:ln>
                  <a:solidFill>
                    <a:srgbClr val="666666"/>
                  </a:solidFill>
                  <a:effectLst/>
                  <a:uFillTx/>
                  <a:latin typeface="Helvetica Neue" panose="02000503000000020004"/>
                  <a:ea typeface="Helvetica Neue" panose="02000503000000020004"/>
                  <a:cs typeface="Helvetica Neue" panose="02000503000000020004"/>
                  <a:sym typeface="Helvetica Neue" panose="02000503000000020004"/>
                </a:endParaRPr>
              </a:p>
            </p:txBody>
          </p:sp>
        </mc:Choice>
        <mc:Fallback xmlns=""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C4D1B2AC-237F-D282-BDB9-533B53E835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68038" y="7924578"/>
                <a:ext cx="4681859" cy="1069588"/>
              </a:xfrm>
              <a:prstGeom prst="rect">
                <a:avLst/>
              </a:prstGeom>
              <a:blipFill>
                <a:blip r:embed="rId13"/>
                <a:stretch>
                  <a:fillRect l="-2703" t="-1190" r="-270" b="-9524"/>
                </a:stretch>
              </a:blipFill>
              <a:ln w="12700" cap="flat">
                <a:noFill/>
                <a:miter lim="4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5197879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1847A0-0102-DC52-C153-AA729AF62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空白页面，自由制作">
            <a:extLst>
              <a:ext uri="{FF2B5EF4-FFF2-40B4-BE49-F238E27FC236}">
                <a16:creationId xmlns:a16="http://schemas.microsoft.com/office/drawing/2014/main" id="{72ABDEE8-7B3E-78EF-419F-95BB2013B49E}"/>
              </a:ext>
            </a:extLst>
          </p:cNvPr>
          <p:cNvSpPr txBox="1"/>
          <p:nvPr/>
        </p:nvSpPr>
        <p:spPr>
          <a:xfrm>
            <a:off x="882105" y="590745"/>
            <a:ext cx="7584562" cy="913711"/>
          </a:xfrm>
          <a:prstGeom prst="rect">
            <a:avLst/>
          </a:prstGeom>
          <a:ln w="12700">
            <a:miter lim="400000"/>
          </a:ln>
        </p:spPr>
        <p:txBody>
          <a:bodyPr wrap="square" lIns="71437" tIns="71437" rIns="71437" bIns="71437" anchor="ctr">
            <a:spAutoFit/>
          </a:bodyPr>
          <a:lstStyle>
            <a:lvl1pPr>
              <a:defRPr sz="6000" b="0">
                <a:solidFill>
                  <a:srgbClr val="6C6C6C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pPr algn="l"/>
            <a:r>
              <a:rPr lang="zh-CN" altLang="en-US" sz="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实现思路与性能调优</a:t>
            </a:r>
            <a:endParaRPr sz="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0BCE141A-7B07-0EB5-598D-A12C17684FFE}"/>
              </a:ext>
            </a:extLst>
          </p:cNvPr>
          <p:cNvGrpSpPr/>
          <p:nvPr/>
        </p:nvGrpSpPr>
        <p:grpSpPr>
          <a:xfrm>
            <a:off x="625825" y="2109172"/>
            <a:ext cx="23692862" cy="4063047"/>
            <a:chOff x="493913" y="7639115"/>
            <a:chExt cx="23692862" cy="4063047"/>
          </a:xfrm>
        </p:grpSpPr>
        <p:sp>
          <p:nvSpPr>
            <p:cNvPr id="4" name="圆角矩形 3">
              <a:extLst>
                <a:ext uri="{FF2B5EF4-FFF2-40B4-BE49-F238E27FC236}">
                  <a16:creationId xmlns:a16="http://schemas.microsoft.com/office/drawing/2014/main" id="{18B41FC6-8448-B62E-0A6C-77BD26C1B406}"/>
                </a:ext>
              </a:extLst>
            </p:cNvPr>
            <p:cNvSpPr/>
            <p:nvPr/>
          </p:nvSpPr>
          <p:spPr>
            <a:xfrm>
              <a:off x="3479181" y="8501764"/>
              <a:ext cx="1918010" cy="758282"/>
            </a:xfrm>
            <a:prstGeom prst="roundRect">
              <a:avLst/>
            </a:prstGeom>
            <a:solidFill>
              <a:srgbClr val="FFF2CC"/>
            </a:solidFill>
            <a:ln>
              <a:solidFill>
                <a:srgbClr val="55555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400" b="0" dirty="0">
                  <a:solidFill>
                    <a:srgbClr val="666666"/>
                  </a:solidFill>
                  <a:latin typeface="JetBrains Mono NL" panose="02000009000000000000" pitchFamily="49" charset="0"/>
                  <a:ea typeface="JetBrains Mono NL" panose="02000009000000000000" pitchFamily="49" charset="0"/>
                  <a:cs typeface="JetBrains Mono NL" panose="02000009000000000000" pitchFamily="49" charset="0"/>
                </a:rPr>
                <a:t>TMA</a:t>
              </a:r>
              <a:r>
                <a:rPr kumimoji="1" lang="zh-CN" altLang="en-US" sz="2400" b="0" dirty="0">
                  <a:solidFill>
                    <a:srgbClr val="666666"/>
                  </a:solidFill>
                  <a:latin typeface="JetBrains Mono NL" panose="02000009000000000000" pitchFamily="49" charset="0"/>
                  <a:cs typeface="JetBrains Mono NL" panose="02000009000000000000" pitchFamily="49" charset="0"/>
                </a:rPr>
                <a:t> </a:t>
              </a:r>
              <a:r>
                <a:rPr kumimoji="1" lang="en-US" altLang="zh-CN" sz="2400" b="0" dirty="0">
                  <a:solidFill>
                    <a:srgbClr val="666666"/>
                  </a:solidFill>
                  <a:latin typeface="JetBrains Mono NL" panose="02000009000000000000" pitchFamily="49" charset="0"/>
                  <a:ea typeface="JetBrains Mono NL" panose="02000009000000000000" pitchFamily="49" charset="0"/>
                  <a:cs typeface="JetBrains Mono NL" panose="02000009000000000000" pitchFamily="49" charset="0"/>
                </a:rPr>
                <a:t>Load</a:t>
              </a:r>
              <a:endParaRPr kumimoji="1" lang="zh-CN" altLang="en-US" sz="2400" b="0" dirty="0">
                <a:solidFill>
                  <a:srgbClr val="666666"/>
                </a:solidFill>
                <a:latin typeface="JetBrains Mono NL" panose="02000009000000000000" pitchFamily="49" charset="0"/>
                <a:cs typeface="JetBrains Mono NL" panose="02000009000000000000" pitchFamily="49" charset="0"/>
              </a:endParaRPr>
            </a:p>
          </p:txBody>
        </p:sp>
        <p:sp>
          <p:nvSpPr>
            <p:cNvPr id="5" name="圆角矩形 4">
              <a:extLst>
                <a:ext uri="{FF2B5EF4-FFF2-40B4-BE49-F238E27FC236}">
                  <a16:creationId xmlns:a16="http://schemas.microsoft.com/office/drawing/2014/main" id="{080CC453-0EFB-3CAC-1488-B9E1BCB547F1}"/>
                </a:ext>
              </a:extLst>
            </p:cNvPr>
            <p:cNvSpPr/>
            <p:nvPr/>
          </p:nvSpPr>
          <p:spPr>
            <a:xfrm>
              <a:off x="5590477" y="9720962"/>
              <a:ext cx="4401014" cy="758282"/>
            </a:xfrm>
            <a:prstGeom prst="roundRect">
              <a:avLst/>
            </a:prstGeom>
            <a:solidFill>
              <a:srgbClr val="DAE8FC"/>
            </a:solidFill>
            <a:ln>
              <a:solidFill>
                <a:srgbClr val="55555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400" b="0" dirty="0" err="1">
                  <a:solidFill>
                    <a:srgbClr val="666666"/>
                  </a:solidFill>
                  <a:latin typeface="JetBrains Mono NL" panose="02000009000000000000" pitchFamily="49" charset="0"/>
                  <a:ea typeface="JetBrains Mono NL" panose="02000009000000000000" pitchFamily="49" charset="0"/>
                  <a:cs typeface="JetBrains Mono NL" panose="02000009000000000000" pitchFamily="49" charset="0"/>
                </a:rPr>
                <a:t>Mainloop</a:t>
              </a:r>
              <a:endParaRPr kumimoji="1" lang="zh-CN" altLang="en-US" sz="2400" b="0" dirty="0">
                <a:solidFill>
                  <a:srgbClr val="666666"/>
                </a:solidFill>
                <a:latin typeface="JetBrains Mono NL" panose="02000009000000000000" pitchFamily="49" charset="0"/>
                <a:cs typeface="JetBrains Mono NL" panose="02000009000000000000" pitchFamily="49" charset="0"/>
              </a:endParaRPr>
            </a:p>
          </p:txBody>
        </p:sp>
        <p:sp>
          <p:nvSpPr>
            <p:cNvPr id="6" name="圆角矩形 5">
              <a:extLst>
                <a:ext uri="{FF2B5EF4-FFF2-40B4-BE49-F238E27FC236}">
                  <a16:creationId xmlns:a16="http://schemas.microsoft.com/office/drawing/2014/main" id="{BA67A8AE-F217-CD5E-B1DC-A3EF15843670}"/>
                </a:ext>
              </a:extLst>
            </p:cNvPr>
            <p:cNvSpPr/>
            <p:nvPr/>
          </p:nvSpPr>
          <p:spPr>
            <a:xfrm>
              <a:off x="5910147" y="8501764"/>
              <a:ext cx="1918010" cy="758282"/>
            </a:xfrm>
            <a:prstGeom prst="roundRect">
              <a:avLst/>
            </a:prstGeom>
            <a:solidFill>
              <a:srgbClr val="FFF2CC"/>
            </a:solidFill>
            <a:ln>
              <a:solidFill>
                <a:srgbClr val="55555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400" b="0" dirty="0">
                  <a:solidFill>
                    <a:srgbClr val="666666"/>
                  </a:solidFill>
                  <a:latin typeface="JetBrains Mono NL" panose="02000009000000000000" pitchFamily="49" charset="0"/>
                  <a:ea typeface="JetBrains Mono NL" panose="02000009000000000000" pitchFamily="49" charset="0"/>
                  <a:cs typeface="JetBrains Mono NL" panose="02000009000000000000" pitchFamily="49" charset="0"/>
                </a:rPr>
                <a:t>TMA</a:t>
              </a:r>
              <a:r>
                <a:rPr kumimoji="1" lang="zh-CN" altLang="en-US" sz="2400" b="0" dirty="0">
                  <a:solidFill>
                    <a:srgbClr val="666666"/>
                  </a:solidFill>
                  <a:latin typeface="JetBrains Mono NL" panose="02000009000000000000" pitchFamily="49" charset="0"/>
                  <a:cs typeface="JetBrains Mono NL" panose="02000009000000000000" pitchFamily="49" charset="0"/>
                </a:rPr>
                <a:t> </a:t>
              </a:r>
              <a:r>
                <a:rPr kumimoji="1" lang="en-US" altLang="zh-CN" sz="2400" b="0" dirty="0">
                  <a:solidFill>
                    <a:srgbClr val="666666"/>
                  </a:solidFill>
                  <a:latin typeface="JetBrains Mono NL" panose="02000009000000000000" pitchFamily="49" charset="0"/>
                  <a:ea typeface="JetBrains Mono NL" panose="02000009000000000000" pitchFamily="49" charset="0"/>
                  <a:cs typeface="JetBrains Mono NL" panose="02000009000000000000" pitchFamily="49" charset="0"/>
                </a:rPr>
                <a:t>Load</a:t>
              </a:r>
              <a:endParaRPr kumimoji="1" lang="zh-CN" altLang="en-US" sz="2400" b="0" dirty="0">
                <a:solidFill>
                  <a:srgbClr val="666666"/>
                </a:solidFill>
                <a:latin typeface="JetBrains Mono NL" panose="02000009000000000000" pitchFamily="49" charset="0"/>
                <a:cs typeface="JetBrains Mono NL" panose="02000009000000000000" pitchFamily="49" charset="0"/>
              </a:endParaRPr>
            </a:p>
          </p:txBody>
        </p:sp>
        <p:sp>
          <p:nvSpPr>
            <p:cNvPr id="7" name="圆角矩形 6">
              <a:extLst>
                <a:ext uri="{FF2B5EF4-FFF2-40B4-BE49-F238E27FC236}">
                  <a16:creationId xmlns:a16="http://schemas.microsoft.com/office/drawing/2014/main" id="{A651DDD2-C095-F239-70E0-3837964D8EA4}"/>
                </a:ext>
              </a:extLst>
            </p:cNvPr>
            <p:cNvSpPr/>
            <p:nvPr/>
          </p:nvSpPr>
          <p:spPr>
            <a:xfrm>
              <a:off x="8341113" y="8501764"/>
              <a:ext cx="1918010" cy="758282"/>
            </a:xfrm>
            <a:prstGeom prst="roundRect">
              <a:avLst/>
            </a:prstGeom>
            <a:solidFill>
              <a:srgbClr val="FFF2CC"/>
            </a:solidFill>
            <a:ln>
              <a:solidFill>
                <a:srgbClr val="55555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400" b="0" dirty="0">
                  <a:solidFill>
                    <a:srgbClr val="666666"/>
                  </a:solidFill>
                  <a:latin typeface="JetBrains Mono NL" panose="02000009000000000000" pitchFamily="49" charset="0"/>
                  <a:ea typeface="JetBrains Mono NL" panose="02000009000000000000" pitchFamily="49" charset="0"/>
                  <a:cs typeface="JetBrains Mono NL" panose="02000009000000000000" pitchFamily="49" charset="0"/>
                </a:rPr>
                <a:t>TMA</a:t>
              </a:r>
              <a:r>
                <a:rPr kumimoji="1" lang="zh-CN" altLang="en-US" sz="2400" b="0" dirty="0">
                  <a:solidFill>
                    <a:srgbClr val="666666"/>
                  </a:solidFill>
                  <a:latin typeface="JetBrains Mono NL" panose="02000009000000000000" pitchFamily="49" charset="0"/>
                  <a:cs typeface="JetBrains Mono NL" panose="02000009000000000000" pitchFamily="49" charset="0"/>
                </a:rPr>
                <a:t> </a:t>
              </a:r>
              <a:r>
                <a:rPr kumimoji="1" lang="en-US" altLang="zh-CN" sz="2400" b="0" dirty="0">
                  <a:solidFill>
                    <a:srgbClr val="666666"/>
                  </a:solidFill>
                  <a:latin typeface="JetBrains Mono NL" panose="02000009000000000000" pitchFamily="49" charset="0"/>
                  <a:ea typeface="JetBrains Mono NL" panose="02000009000000000000" pitchFamily="49" charset="0"/>
                  <a:cs typeface="JetBrains Mono NL" panose="02000009000000000000" pitchFamily="49" charset="0"/>
                </a:rPr>
                <a:t>Load</a:t>
              </a:r>
              <a:endParaRPr kumimoji="1" lang="zh-CN" altLang="en-US" sz="2400" b="0" dirty="0">
                <a:solidFill>
                  <a:srgbClr val="666666"/>
                </a:solidFill>
                <a:latin typeface="JetBrains Mono NL" panose="02000009000000000000" pitchFamily="49" charset="0"/>
                <a:cs typeface="JetBrains Mono NL" panose="02000009000000000000" pitchFamily="49" charset="0"/>
              </a:endParaRPr>
            </a:p>
          </p:txBody>
        </p:sp>
        <p:sp>
          <p:nvSpPr>
            <p:cNvPr id="8" name="圆角矩形 7">
              <a:extLst>
                <a:ext uri="{FF2B5EF4-FFF2-40B4-BE49-F238E27FC236}">
                  <a16:creationId xmlns:a16="http://schemas.microsoft.com/office/drawing/2014/main" id="{378CC46C-7695-DEFD-25F6-D66462B61A17}"/>
                </a:ext>
              </a:extLst>
            </p:cNvPr>
            <p:cNvSpPr/>
            <p:nvPr/>
          </p:nvSpPr>
          <p:spPr>
            <a:xfrm>
              <a:off x="10772079" y="8501764"/>
              <a:ext cx="1918010" cy="758282"/>
            </a:xfrm>
            <a:prstGeom prst="roundRect">
              <a:avLst/>
            </a:prstGeom>
            <a:solidFill>
              <a:srgbClr val="FFF2CC"/>
            </a:solidFill>
            <a:ln>
              <a:solidFill>
                <a:srgbClr val="55555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400" b="0" dirty="0">
                  <a:solidFill>
                    <a:srgbClr val="666666"/>
                  </a:solidFill>
                  <a:latin typeface="JetBrains Mono NL" panose="02000009000000000000" pitchFamily="49" charset="0"/>
                  <a:ea typeface="JetBrains Mono NL" panose="02000009000000000000" pitchFamily="49" charset="0"/>
                  <a:cs typeface="JetBrains Mono NL" panose="02000009000000000000" pitchFamily="49" charset="0"/>
                </a:rPr>
                <a:t>TMA</a:t>
              </a:r>
              <a:r>
                <a:rPr kumimoji="1" lang="zh-CN" altLang="en-US" sz="2400" b="0" dirty="0">
                  <a:solidFill>
                    <a:srgbClr val="666666"/>
                  </a:solidFill>
                  <a:latin typeface="JetBrains Mono NL" panose="02000009000000000000" pitchFamily="49" charset="0"/>
                  <a:cs typeface="JetBrains Mono NL" panose="02000009000000000000" pitchFamily="49" charset="0"/>
                </a:rPr>
                <a:t> </a:t>
              </a:r>
              <a:r>
                <a:rPr kumimoji="1" lang="en-US" altLang="zh-CN" sz="2400" b="0" dirty="0">
                  <a:solidFill>
                    <a:srgbClr val="666666"/>
                  </a:solidFill>
                  <a:latin typeface="JetBrains Mono NL" panose="02000009000000000000" pitchFamily="49" charset="0"/>
                  <a:ea typeface="JetBrains Mono NL" panose="02000009000000000000" pitchFamily="49" charset="0"/>
                  <a:cs typeface="JetBrains Mono NL" panose="02000009000000000000" pitchFamily="49" charset="0"/>
                </a:rPr>
                <a:t>Load</a:t>
              </a:r>
              <a:endParaRPr kumimoji="1" lang="zh-CN" altLang="en-US" sz="2400" b="0" dirty="0">
                <a:solidFill>
                  <a:srgbClr val="666666"/>
                </a:solidFill>
                <a:latin typeface="JetBrains Mono NL" panose="02000009000000000000" pitchFamily="49" charset="0"/>
                <a:cs typeface="JetBrains Mono NL" panose="02000009000000000000" pitchFamily="49" charset="0"/>
              </a:endParaRPr>
            </a:p>
          </p:txBody>
        </p:sp>
        <p:sp>
          <p:nvSpPr>
            <p:cNvPr id="9" name="圆角矩形 8">
              <a:extLst>
                <a:ext uri="{FF2B5EF4-FFF2-40B4-BE49-F238E27FC236}">
                  <a16:creationId xmlns:a16="http://schemas.microsoft.com/office/drawing/2014/main" id="{17B791D4-3A45-BB62-58A4-D0E282E5128C}"/>
                </a:ext>
              </a:extLst>
            </p:cNvPr>
            <p:cNvSpPr/>
            <p:nvPr/>
          </p:nvSpPr>
          <p:spPr>
            <a:xfrm>
              <a:off x="10177347" y="9720958"/>
              <a:ext cx="1033350" cy="758282"/>
            </a:xfrm>
            <a:prstGeom prst="roundRect">
              <a:avLst/>
            </a:prstGeom>
            <a:solidFill>
              <a:srgbClr val="FFE6CC"/>
            </a:solidFill>
            <a:ln>
              <a:solidFill>
                <a:srgbClr val="55555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400" b="0" dirty="0" err="1">
                  <a:solidFill>
                    <a:srgbClr val="666666"/>
                  </a:solidFill>
                  <a:latin typeface="JetBrains Mono NL" panose="02000009000000000000" pitchFamily="49" charset="0"/>
                  <a:ea typeface="JetBrains Mono NL" panose="02000009000000000000" pitchFamily="49" charset="0"/>
                  <a:cs typeface="JetBrains Mono NL" panose="02000009000000000000" pitchFamily="49" charset="0"/>
                </a:rPr>
                <a:t>Crd</a:t>
              </a:r>
              <a:endParaRPr kumimoji="1" lang="zh-CN" altLang="en-US" sz="2400" b="0" dirty="0">
                <a:solidFill>
                  <a:srgbClr val="666666"/>
                </a:solidFill>
                <a:latin typeface="JetBrains Mono NL" panose="02000009000000000000" pitchFamily="49" charset="0"/>
                <a:cs typeface="JetBrains Mono NL" panose="02000009000000000000" pitchFamily="49" charset="0"/>
              </a:endParaRPr>
            </a:p>
          </p:txBody>
        </p:sp>
        <p:sp>
          <p:nvSpPr>
            <p:cNvPr id="10" name="圆角矩形 9">
              <a:extLst>
                <a:ext uri="{FF2B5EF4-FFF2-40B4-BE49-F238E27FC236}">
                  <a16:creationId xmlns:a16="http://schemas.microsoft.com/office/drawing/2014/main" id="{830FF236-D344-6BA7-592A-81E858A35D33}"/>
                </a:ext>
              </a:extLst>
            </p:cNvPr>
            <p:cNvSpPr/>
            <p:nvPr/>
          </p:nvSpPr>
          <p:spPr>
            <a:xfrm>
              <a:off x="10177347" y="10932734"/>
              <a:ext cx="4401014" cy="758282"/>
            </a:xfrm>
            <a:prstGeom prst="roundRect">
              <a:avLst/>
            </a:prstGeom>
            <a:solidFill>
              <a:srgbClr val="DAE8FC"/>
            </a:solidFill>
            <a:ln>
              <a:solidFill>
                <a:srgbClr val="55555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400" b="0" dirty="0" err="1">
                  <a:solidFill>
                    <a:srgbClr val="666666"/>
                  </a:solidFill>
                  <a:latin typeface="JetBrains Mono NL" panose="02000009000000000000" pitchFamily="49" charset="0"/>
                  <a:ea typeface="JetBrains Mono NL" panose="02000009000000000000" pitchFamily="49" charset="0"/>
                  <a:cs typeface="JetBrains Mono NL" panose="02000009000000000000" pitchFamily="49" charset="0"/>
                </a:rPr>
                <a:t>Mainloop</a:t>
              </a:r>
              <a:endParaRPr kumimoji="1" lang="zh-CN" altLang="en-US" sz="2400" b="0" dirty="0">
                <a:solidFill>
                  <a:srgbClr val="666666"/>
                </a:solidFill>
                <a:latin typeface="JetBrains Mono NL" panose="02000009000000000000" pitchFamily="49" charset="0"/>
                <a:cs typeface="JetBrains Mono NL" panose="02000009000000000000" pitchFamily="49" charset="0"/>
              </a:endParaRPr>
            </a:p>
          </p:txBody>
        </p:sp>
        <p:sp>
          <p:nvSpPr>
            <p:cNvPr id="11" name="圆角矩形 10">
              <a:extLst>
                <a:ext uri="{FF2B5EF4-FFF2-40B4-BE49-F238E27FC236}">
                  <a16:creationId xmlns:a16="http://schemas.microsoft.com/office/drawing/2014/main" id="{C58CABF5-0C02-92F4-E9E7-1719CF6B5EBB}"/>
                </a:ext>
              </a:extLst>
            </p:cNvPr>
            <p:cNvSpPr/>
            <p:nvPr/>
          </p:nvSpPr>
          <p:spPr>
            <a:xfrm>
              <a:off x="14808817" y="9720958"/>
              <a:ext cx="4401014" cy="758282"/>
            </a:xfrm>
            <a:prstGeom prst="roundRect">
              <a:avLst/>
            </a:prstGeom>
            <a:solidFill>
              <a:srgbClr val="DAE8FC"/>
            </a:solidFill>
            <a:ln>
              <a:solidFill>
                <a:srgbClr val="55555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400" b="0" dirty="0" err="1">
                  <a:solidFill>
                    <a:srgbClr val="666666"/>
                  </a:solidFill>
                  <a:latin typeface="JetBrains Mono NL" panose="02000009000000000000" pitchFamily="49" charset="0"/>
                  <a:ea typeface="JetBrains Mono NL" panose="02000009000000000000" pitchFamily="49" charset="0"/>
                  <a:cs typeface="JetBrains Mono NL" panose="02000009000000000000" pitchFamily="49" charset="0"/>
                </a:rPr>
                <a:t>Mainloop</a:t>
              </a:r>
              <a:endParaRPr kumimoji="1" lang="zh-CN" altLang="en-US" sz="2400" b="0" dirty="0">
                <a:solidFill>
                  <a:srgbClr val="666666"/>
                </a:solidFill>
                <a:latin typeface="JetBrains Mono NL" panose="02000009000000000000" pitchFamily="49" charset="0"/>
                <a:cs typeface="JetBrains Mono NL" panose="02000009000000000000" pitchFamily="49" charset="0"/>
              </a:endParaRPr>
            </a:p>
          </p:txBody>
        </p:sp>
        <p:sp>
          <p:nvSpPr>
            <p:cNvPr id="12" name="圆角矩形 11">
              <a:extLst>
                <a:ext uri="{FF2B5EF4-FFF2-40B4-BE49-F238E27FC236}">
                  <a16:creationId xmlns:a16="http://schemas.microsoft.com/office/drawing/2014/main" id="{3C6A7FB4-DF26-7A1C-EEBA-D6DEBF991084}"/>
                </a:ext>
              </a:extLst>
            </p:cNvPr>
            <p:cNvSpPr/>
            <p:nvPr/>
          </p:nvSpPr>
          <p:spPr>
            <a:xfrm>
              <a:off x="19462597" y="10940152"/>
              <a:ext cx="4401014" cy="758282"/>
            </a:xfrm>
            <a:prstGeom prst="roundRect">
              <a:avLst/>
            </a:prstGeom>
            <a:solidFill>
              <a:srgbClr val="DAE8FC"/>
            </a:solidFill>
            <a:ln>
              <a:solidFill>
                <a:srgbClr val="55555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400" b="0" dirty="0" err="1">
                  <a:solidFill>
                    <a:srgbClr val="666666"/>
                  </a:solidFill>
                  <a:latin typeface="JetBrains Mono NL" panose="02000009000000000000" pitchFamily="49" charset="0"/>
                  <a:cs typeface="JetBrains Mono NL" panose="02000009000000000000" pitchFamily="49" charset="0"/>
                </a:rPr>
                <a:t>Mainloop</a:t>
              </a:r>
              <a:endParaRPr kumimoji="1" lang="zh-CN" altLang="en-US" sz="2400" b="0" dirty="0">
                <a:solidFill>
                  <a:srgbClr val="666666"/>
                </a:solidFill>
                <a:latin typeface="JetBrains Mono NL" panose="02000009000000000000" pitchFamily="49" charset="0"/>
                <a:cs typeface="JetBrains Mono NL" panose="02000009000000000000" pitchFamily="49" charset="0"/>
              </a:endParaRPr>
            </a:p>
          </p:txBody>
        </p:sp>
        <p:sp>
          <p:nvSpPr>
            <p:cNvPr id="13" name="圆角矩形 12">
              <a:extLst>
                <a:ext uri="{FF2B5EF4-FFF2-40B4-BE49-F238E27FC236}">
                  <a16:creationId xmlns:a16="http://schemas.microsoft.com/office/drawing/2014/main" id="{440FFB39-96E3-D7CA-30BF-0CD43F039917}"/>
                </a:ext>
              </a:extLst>
            </p:cNvPr>
            <p:cNvSpPr/>
            <p:nvPr/>
          </p:nvSpPr>
          <p:spPr>
            <a:xfrm>
              <a:off x="11418850" y="9720958"/>
              <a:ext cx="2787804" cy="758282"/>
            </a:xfrm>
            <a:prstGeom prst="roundRect">
              <a:avLst/>
            </a:prstGeom>
            <a:solidFill>
              <a:srgbClr val="F8CECC"/>
            </a:solidFill>
            <a:ln>
              <a:solidFill>
                <a:srgbClr val="55555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400" b="0" dirty="0">
                  <a:solidFill>
                    <a:srgbClr val="666666"/>
                  </a:solidFill>
                  <a:latin typeface="JetBrains Mono NL" panose="02000009000000000000" pitchFamily="49" charset="0"/>
                  <a:ea typeface="JetBrains Mono NL" panose="02000009000000000000" pitchFamily="49" charset="0"/>
                  <a:cs typeface="JetBrains Mono NL" panose="02000009000000000000" pitchFamily="49" charset="0"/>
                </a:rPr>
                <a:t>Store</a:t>
              </a:r>
              <a:endParaRPr kumimoji="1" lang="zh-CN" altLang="en-US" sz="2400" b="0" dirty="0">
                <a:solidFill>
                  <a:srgbClr val="666666"/>
                </a:solidFill>
                <a:latin typeface="JetBrains Mono NL" panose="02000009000000000000" pitchFamily="49" charset="0"/>
                <a:cs typeface="JetBrains Mono NL" panose="02000009000000000000" pitchFamily="49" charset="0"/>
              </a:endParaRPr>
            </a:p>
          </p:txBody>
        </p:sp>
        <p:sp>
          <p:nvSpPr>
            <p:cNvPr id="14" name="圆角矩形 13">
              <a:extLst>
                <a:ext uri="{FF2B5EF4-FFF2-40B4-BE49-F238E27FC236}">
                  <a16:creationId xmlns:a16="http://schemas.microsoft.com/office/drawing/2014/main" id="{54F6C5A8-4397-30C1-FF22-C205C7167ECD}"/>
                </a:ext>
              </a:extLst>
            </p:cNvPr>
            <p:cNvSpPr/>
            <p:nvPr/>
          </p:nvSpPr>
          <p:spPr>
            <a:xfrm>
              <a:off x="16072622" y="10932730"/>
              <a:ext cx="2787804" cy="758282"/>
            </a:xfrm>
            <a:prstGeom prst="roundRect">
              <a:avLst/>
            </a:prstGeom>
            <a:solidFill>
              <a:srgbClr val="F8CECC"/>
            </a:solidFill>
            <a:ln>
              <a:solidFill>
                <a:srgbClr val="55555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400" b="0" dirty="0">
                  <a:solidFill>
                    <a:srgbClr val="666666"/>
                  </a:solidFill>
                  <a:latin typeface="JetBrains Mono NL" panose="02000009000000000000" pitchFamily="49" charset="0"/>
                  <a:ea typeface="JetBrains Mono NL" panose="02000009000000000000" pitchFamily="49" charset="0"/>
                  <a:cs typeface="JetBrains Mono NL" panose="02000009000000000000" pitchFamily="49" charset="0"/>
                </a:rPr>
                <a:t>Store</a:t>
              </a:r>
              <a:endParaRPr kumimoji="1" lang="zh-CN" altLang="en-US" sz="2400" b="0" dirty="0">
                <a:solidFill>
                  <a:srgbClr val="666666"/>
                </a:solidFill>
                <a:latin typeface="JetBrains Mono NL" panose="02000009000000000000" pitchFamily="49" charset="0"/>
                <a:cs typeface="JetBrains Mono NL" panose="02000009000000000000" pitchFamily="49" charset="0"/>
              </a:endParaRPr>
            </a:p>
          </p:txBody>
        </p:sp>
        <p:sp>
          <p:nvSpPr>
            <p:cNvPr id="15" name="圆角矩形 14">
              <a:extLst>
                <a:ext uri="{FF2B5EF4-FFF2-40B4-BE49-F238E27FC236}">
                  <a16:creationId xmlns:a16="http://schemas.microsoft.com/office/drawing/2014/main" id="{BA216884-3D30-9A1E-A498-DB74234D8599}"/>
                </a:ext>
              </a:extLst>
            </p:cNvPr>
            <p:cNvSpPr/>
            <p:nvPr/>
          </p:nvSpPr>
          <p:spPr>
            <a:xfrm>
              <a:off x="14808817" y="10943880"/>
              <a:ext cx="1033350" cy="758282"/>
            </a:xfrm>
            <a:prstGeom prst="roundRect">
              <a:avLst/>
            </a:prstGeom>
            <a:solidFill>
              <a:srgbClr val="FFE6CC"/>
            </a:solidFill>
            <a:ln>
              <a:solidFill>
                <a:srgbClr val="55555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400" b="0" dirty="0" err="1">
                  <a:solidFill>
                    <a:srgbClr val="666666"/>
                  </a:solidFill>
                  <a:latin typeface="JetBrains Mono NL" panose="02000009000000000000" pitchFamily="49" charset="0"/>
                  <a:ea typeface="JetBrains Mono NL" panose="02000009000000000000" pitchFamily="49" charset="0"/>
                  <a:cs typeface="JetBrains Mono NL" panose="02000009000000000000" pitchFamily="49" charset="0"/>
                </a:rPr>
                <a:t>Crd</a:t>
              </a:r>
              <a:endParaRPr kumimoji="1" lang="zh-CN" altLang="en-US" sz="2400" b="0" dirty="0">
                <a:solidFill>
                  <a:srgbClr val="666666"/>
                </a:solidFill>
                <a:latin typeface="JetBrains Mono NL" panose="02000009000000000000" pitchFamily="49" charset="0"/>
                <a:cs typeface="JetBrains Mono NL" panose="02000009000000000000" pitchFamily="49" charset="0"/>
              </a:endParaRPr>
            </a:p>
          </p:txBody>
        </p:sp>
        <p:sp>
          <p:nvSpPr>
            <p:cNvPr id="16" name="圆角矩形 15">
              <a:extLst>
                <a:ext uri="{FF2B5EF4-FFF2-40B4-BE49-F238E27FC236}">
                  <a16:creationId xmlns:a16="http://schemas.microsoft.com/office/drawing/2014/main" id="{EC02BA01-59B4-5D65-826D-1085115FC2A1}"/>
                </a:ext>
              </a:extLst>
            </p:cNvPr>
            <p:cNvSpPr/>
            <p:nvPr/>
          </p:nvSpPr>
          <p:spPr>
            <a:xfrm>
              <a:off x="20726402" y="9720958"/>
              <a:ext cx="2787804" cy="758282"/>
            </a:xfrm>
            <a:prstGeom prst="roundRect">
              <a:avLst/>
            </a:prstGeom>
            <a:solidFill>
              <a:srgbClr val="F8CECC"/>
            </a:solidFill>
            <a:ln>
              <a:solidFill>
                <a:srgbClr val="55555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400" b="0" dirty="0">
                  <a:solidFill>
                    <a:srgbClr val="666666"/>
                  </a:solidFill>
                  <a:latin typeface="JetBrains Mono NL" panose="02000009000000000000" pitchFamily="49" charset="0"/>
                  <a:ea typeface="JetBrains Mono NL" panose="02000009000000000000" pitchFamily="49" charset="0"/>
                  <a:cs typeface="JetBrains Mono NL" panose="02000009000000000000" pitchFamily="49" charset="0"/>
                </a:rPr>
                <a:t>Store</a:t>
              </a:r>
              <a:endParaRPr kumimoji="1" lang="zh-CN" altLang="en-US" sz="2400" b="0" dirty="0">
                <a:solidFill>
                  <a:srgbClr val="666666"/>
                </a:solidFill>
                <a:latin typeface="JetBrains Mono NL" panose="02000009000000000000" pitchFamily="49" charset="0"/>
                <a:cs typeface="JetBrains Mono NL" panose="02000009000000000000" pitchFamily="49" charset="0"/>
              </a:endParaRPr>
            </a:p>
          </p:txBody>
        </p:sp>
        <p:sp>
          <p:nvSpPr>
            <p:cNvPr id="17" name="圆角矩形 16">
              <a:extLst>
                <a:ext uri="{FF2B5EF4-FFF2-40B4-BE49-F238E27FC236}">
                  <a16:creationId xmlns:a16="http://schemas.microsoft.com/office/drawing/2014/main" id="{C011E8A4-E441-897C-740F-B3C73AC9EA2D}"/>
                </a:ext>
              </a:extLst>
            </p:cNvPr>
            <p:cNvSpPr/>
            <p:nvPr/>
          </p:nvSpPr>
          <p:spPr>
            <a:xfrm>
              <a:off x="19462597" y="9732108"/>
              <a:ext cx="1033350" cy="758282"/>
            </a:xfrm>
            <a:prstGeom prst="roundRect">
              <a:avLst/>
            </a:prstGeom>
            <a:solidFill>
              <a:srgbClr val="FFE6CC"/>
            </a:solidFill>
            <a:ln>
              <a:solidFill>
                <a:srgbClr val="55555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400" b="0" dirty="0" err="1">
                  <a:solidFill>
                    <a:srgbClr val="666666"/>
                  </a:solidFill>
                  <a:latin typeface="JetBrains Mono NL" panose="02000009000000000000" pitchFamily="49" charset="0"/>
                  <a:ea typeface="JetBrains Mono NL" panose="02000009000000000000" pitchFamily="49" charset="0"/>
                  <a:cs typeface="JetBrains Mono NL" panose="02000009000000000000" pitchFamily="49" charset="0"/>
                </a:rPr>
                <a:t>Crd</a:t>
              </a:r>
              <a:endParaRPr kumimoji="1" lang="zh-CN" altLang="en-US" sz="2400" b="0" dirty="0">
                <a:solidFill>
                  <a:srgbClr val="666666"/>
                </a:solidFill>
                <a:latin typeface="JetBrains Mono NL" panose="02000009000000000000" pitchFamily="49" charset="0"/>
                <a:cs typeface="JetBrains Mono NL" panose="02000009000000000000" pitchFamily="49" charset="0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26DBDE3B-1F14-304E-2DA7-641254F2C23B}"/>
                </a:ext>
              </a:extLst>
            </p:cNvPr>
            <p:cNvSpPr txBox="1"/>
            <p:nvPr/>
          </p:nvSpPr>
          <p:spPr>
            <a:xfrm>
              <a:off x="493915" y="8588516"/>
              <a:ext cx="2388794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2600" b="0" dirty="0">
                  <a:solidFill>
                    <a:srgbClr val="444444"/>
                  </a:solidFill>
                  <a:latin typeface="JetBrains Mono NL" panose="02000009000000000000" pitchFamily="49" charset="0"/>
                  <a:ea typeface="JetBrains Mono NL" panose="02000009000000000000" pitchFamily="49" charset="0"/>
                  <a:cs typeface="JetBrains Mono NL" panose="02000009000000000000" pitchFamily="49" charset="0"/>
                </a:rPr>
                <a:t>Producer</a:t>
              </a:r>
              <a:r>
                <a:rPr kumimoji="1" lang="zh-CN" altLang="en-US" sz="2600" b="0" dirty="0">
                  <a:solidFill>
                    <a:srgbClr val="444444"/>
                  </a:solidFill>
                  <a:latin typeface="JetBrains Mono NL" panose="02000009000000000000" pitchFamily="49" charset="0"/>
                  <a:cs typeface="JetBrains Mono NL" panose="02000009000000000000" pitchFamily="49" charset="0"/>
                </a:rPr>
                <a:t> </a:t>
              </a:r>
              <a:r>
                <a:rPr kumimoji="1" lang="en-US" altLang="zh-CN" sz="2600" b="0" dirty="0">
                  <a:solidFill>
                    <a:srgbClr val="444444"/>
                  </a:solidFill>
                  <a:latin typeface="JetBrains Mono NL" panose="02000009000000000000" pitchFamily="49" charset="0"/>
                  <a:ea typeface="JetBrains Mono NL" panose="02000009000000000000" pitchFamily="49" charset="0"/>
                  <a:cs typeface="JetBrains Mono NL" panose="02000009000000000000" pitchFamily="49" charset="0"/>
                </a:rPr>
                <a:t>WG</a:t>
              </a:r>
              <a:endParaRPr kumimoji="1" lang="zh-CN" altLang="en-US" sz="2600" b="0" dirty="0">
                <a:solidFill>
                  <a:srgbClr val="444444"/>
                </a:solidFill>
                <a:latin typeface="JetBrains Mono NL" panose="02000009000000000000" pitchFamily="49" charset="0"/>
                <a:cs typeface="JetBrains Mono NL" panose="02000009000000000000" pitchFamily="49" charset="0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A17F386F-F5BB-00A6-69E1-237432793766}"/>
                </a:ext>
              </a:extLst>
            </p:cNvPr>
            <p:cNvSpPr txBox="1"/>
            <p:nvPr/>
          </p:nvSpPr>
          <p:spPr>
            <a:xfrm>
              <a:off x="493915" y="9807710"/>
              <a:ext cx="2388794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2600" b="0" dirty="0">
                  <a:solidFill>
                    <a:srgbClr val="444444"/>
                  </a:solidFill>
                  <a:latin typeface="JetBrains Mono NL" panose="02000009000000000000" pitchFamily="49" charset="0"/>
                  <a:ea typeface="JetBrains Mono NL" panose="02000009000000000000" pitchFamily="49" charset="0"/>
                  <a:cs typeface="JetBrains Mono NL" panose="02000009000000000000" pitchFamily="49" charset="0"/>
                </a:rPr>
                <a:t>Consumer</a:t>
              </a:r>
              <a:r>
                <a:rPr kumimoji="1" lang="zh-CN" altLang="en-US" sz="2600" b="0" dirty="0">
                  <a:solidFill>
                    <a:srgbClr val="444444"/>
                  </a:solidFill>
                  <a:latin typeface="JetBrains Mono NL" panose="02000009000000000000" pitchFamily="49" charset="0"/>
                  <a:cs typeface="JetBrains Mono NL" panose="02000009000000000000" pitchFamily="49" charset="0"/>
                </a:rPr>
                <a:t> </a:t>
              </a:r>
              <a:r>
                <a:rPr kumimoji="1" lang="en-US" altLang="zh-CN" sz="2600" b="0" dirty="0">
                  <a:solidFill>
                    <a:srgbClr val="444444"/>
                  </a:solidFill>
                  <a:latin typeface="JetBrains Mono NL" panose="02000009000000000000" pitchFamily="49" charset="0"/>
                  <a:ea typeface="JetBrains Mono NL" panose="02000009000000000000" pitchFamily="49" charset="0"/>
                  <a:cs typeface="JetBrains Mono NL" panose="02000009000000000000" pitchFamily="49" charset="0"/>
                </a:rPr>
                <a:t>WG</a:t>
              </a:r>
              <a:endParaRPr kumimoji="1" lang="zh-CN" altLang="en-US" sz="2600" b="0" dirty="0">
                <a:solidFill>
                  <a:srgbClr val="444444"/>
                </a:solidFill>
                <a:latin typeface="JetBrains Mono NL" panose="02000009000000000000" pitchFamily="49" charset="0"/>
                <a:cs typeface="JetBrains Mono NL" panose="02000009000000000000" pitchFamily="49" charset="0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3EA8731E-A146-9B5A-F520-DD1C2BCDFC3C}"/>
                </a:ext>
              </a:extLst>
            </p:cNvPr>
            <p:cNvSpPr txBox="1"/>
            <p:nvPr/>
          </p:nvSpPr>
          <p:spPr>
            <a:xfrm>
              <a:off x="493915" y="11026904"/>
              <a:ext cx="2388794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2600" b="0" dirty="0">
                  <a:solidFill>
                    <a:srgbClr val="444444"/>
                  </a:solidFill>
                  <a:latin typeface="JetBrains Mono NL" panose="02000009000000000000" pitchFamily="49" charset="0"/>
                  <a:ea typeface="JetBrains Mono NL" panose="02000009000000000000" pitchFamily="49" charset="0"/>
                  <a:cs typeface="JetBrains Mono NL" panose="02000009000000000000" pitchFamily="49" charset="0"/>
                </a:rPr>
                <a:t>Consumer</a:t>
              </a:r>
              <a:r>
                <a:rPr kumimoji="1" lang="zh-CN" altLang="en-US" sz="2600" b="0" dirty="0">
                  <a:solidFill>
                    <a:srgbClr val="444444"/>
                  </a:solidFill>
                  <a:latin typeface="JetBrains Mono NL" panose="02000009000000000000" pitchFamily="49" charset="0"/>
                  <a:cs typeface="JetBrains Mono NL" panose="02000009000000000000" pitchFamily="49" charset="0"/>
                </a:rPr>
                <a:t> </a:t>
              </a:r>
              <a:r>
                <a:rPr kumimoji="1" lang="en-US" altLang="zh-CN" sz="2600" b="0" dirty="0">
                  <a:solidFill>
                    <a:srgbClr val="444444"/>
                  </a:solidFill>
                  <a:latin typeface="JetBrains Mono NL" panose="02000009000000000000" pitchFamily="49" charset="0"/>
                  <a:ea typeface="JetBrains Mono NL" panose="02000009000000000000" pitchFamily="49" charset="0"/>
                  <a:cs typeface="JetBrains Mono NL" panose="02000009000000000000" pitchFamily="49" charset="0"/>
                </a:rPr>
                <a:t>WG</a:t>
              </a:r>
              <a:endParaRPr kumimoji="1" lang="zh-CN" altLang="en-US" sz="2600" b="0" dirty="0">
                <a:solidFill>
                  <a:srgbClr val="444444"/>
                </a:solidFill>
                <a:latin typeface="JetBrains Mono NL" panose="02000009000000000000" pitchFamily="49" charset="0"/>
                <a:cs typeface="JetBrains Mono NL" panose="02000009000000000000" pitchFamily="49" charset="0"/>
              </a:endParaRPr>
            </a:p>
          </p:txBody>
        </p:sp>
        <p:cxnSp>
          <p:nvCxnSpPr>
            <p:cNvPr id="21" name="直线连接符 20">
              <a:extLst>
                <a:ext uri="{FF2B5EF4-FFF2-40B4-BE49-F238E27FC236}">
                  <a16:creationId xmlns:a16="http://schemas.microsoft.com/office/drawing/2014/main" id="{729E853E-FE88-56AF-F84C-4E329632AA30}"/>
                </a:ext>
              </a:extLst>
            </p:cNvPr>
            <p:cNvCxnSpPr>
              <a:cxnSpLocks/>
            </p:cNvCxnSpPr>
            <p:nvPr/>
          </p:nvCxnSpPr>
          <p:spPr>
            <a:xfrm>
              <a:off x="3124018" y="8501763"/>
              <a:ext cx="0" cy="3189248"/>
            </a:xfrm>
            <a:prstGeom prst="line">
              <a:avLst/>
            </a:prstGeom>
            <a:ln w="12700">
              <a:solidFill>
                <a:srgbClr val="666666"/>
              </a:solidFill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曲线连接符 21">
              <a:extLst>
                <a:ext uri="{FF2B5EF4-FFF2-40B4-BE49-F238E27FC236}">
                  <a16:creationId xmlns:a16="http://schemas.microsoft.com/office/drawing/2014/main" id="{634ED28B-B688-0FB7-9126-596E75B0D959}"/>
                </a:ext>
              </a:extLst>
            </p:cNvPr>
            <p:cNvCxnSpPr>
              <a:cxnSpLocks/>
              <a:stCxn id="5" idx="3"/>
              <a:endCxn id="10" idx="1"/>
            </p:cNvCxnSpPr>
            <p:nvPr/>
          </p:nvCxnSpPr>
          <p:spPr>
            <a:xfrm>
              <a:off x="9991490" y="10100103"/>
              <a:ext cx="185856" cy="1211772"/>
            </a:xfrm>
            <a:prstGeom prst="curved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曲线连接符 22">
              <a:extLst>
                <a:ext uri="{FF2B5EF4-FFF2-40B4-BE49-F238E27FC236}">
                  <a16:creationId xmlns:a16="http://schemas.microsoft.com/office/drawing/2014/main" id="{2335195E-50E9-23C0-80DB-2EBEFD9022E8}"/>
                </a:ext>
              </a:extLst>
            </p:cNvPr>
            <p:cNvCxnSpPr>
              <a:stCxn id="10" idx="3"/>
              <a:endCxn id="11" idx="1"/>
            </p:cNvCxnSpPr>
            <p:nvPr/>
          </p:nvCxnSpPr>
          <p:spPr>
            <a:xfrm flipV="1">
              <a:off x="14578360" y="10100099"/>
              <a:ext cx="230456" cy="1211776"/>
            </a:xfrm>
            <a:prstGeom prst="curved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A25886E9-BC19-BD1E-3555-3D306326F465}"/>
                </a:ext>
              </a:extLst>
            </p:cNvPr>
            <p:cNvSpPr txBox="1"/>
            <p:nvPr/>
          </p:nvSpPr>
          <p:spPr>
            <a:xfrm>
              <a:off x="9175066" y="10485779"/>
              <a:ext cx="80021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2000" b="0" dirty="0">
                  <a:solidFill>
                    <a:srgbClr val="444444"/>
                  </a:solidFill>
                  <a:latin typeface="JetBrains Mono NL" panose="02000009000000000000" pitchFamily="49" charset="0"/>
                  <a:ea typeface="JetBrains Mono NL" panose="02000009000000000000" pitchFamily="49" charset="0"/>
                  <a:cs typeface="JetBrains Mono NL" panose="02000009000000000000" pitchFamily="49" charset="0"/>
                </a:rPr>
                <a:t>Ping</a:t>
              </a:r>
              <a:endParaRPr kumimoji="1" lang="zh-CN" altLang="en-US" sz="2000" b="0" dirty="0">
                <a:solidFill>
                  <a:srgbClr val="444444"/>
                </a:solidFill>
                <a:latin typeface="JetBrains Mono NL" panose="02000009000000000000" pitchFamily="49" charset="0"/>
                <a:cs typeface="JetBrains Mono NL" panose="02000009000000000000" pitchFamily="49" charset="0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85A00064-1331-7880-0AFC-34AFC95FFD1D}"/>
                </a:ext>
              </a:extLst>
            </p:cNvPr>
            <p:cNvSpPr txBox="1"/>
            <p:nvPr/>
          </p:nvSpPr>
          <p:spPr>
            <a:xfrm>
              <a:off x="14802722" y="10462581"/>
              <a:ext cx="80021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2000" b="0" dirty="0">
                  <a:solidFill>
                    <a:srgbClr val="444444"/>
                  </a:solidFill>
                  <a:latin typeface="JetBrains Mono NL" panose="02000009000000000000" pitchFamily="49" charset="0"/>
                  <a:ea typeface="JetBrains Mono NL" panose="02000009000000000000" pitchFamily="49" charset="0"/>
                  <a:cs typeface="JetBrains Mono NL" panose="02000009000000000000" pitchFamily="49" charset="0"/>
                </a:rPr>
                <a:t>Pong</a:t>
              </a:r>
              <a:endParaRPr kumimoji="1" lang="zh-CN" altLang="en-US" sz="2000" b="0" dirty="0">
                <a:solidFill>
                  <a:srgbClr val="444444"/>
                </a:solidFill>
                <a:latin typeface="JetBrains Mono NL" panose="02000009000000000000" pitchFamily="49" charset="0"/>
                <a:cs typeface="JetBrains Mono NL" panose="02000009000000000000" pitchFamily="49" charset="0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0AA9BACF-0402-2593-CBB0-7FBF3D5BF68A}"/>
                </a:ext>
              </a:extLst>
            </p:cNvPr>
            <p:cNvSpPr txBox="1"/>
            <p:nvPr/>
          </p:nvSpPr>
          <p:spPr>
            <a:xfrm>
              <a:off x="23540444" y="10370175"/>
              <a:ext cx="64633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2000" b="0" dirty="0">
                  <a:solidFill>
                    <a:srgbClr val="444444"/>
                  </a:solidFill>
                  <a:latin typeface="JetBrains Mono NL" panose="02000009000000000000" pitchFamily="49" charset="0"/>
                  <a:ea typeface="JetBrains Mono NL" panose="02000009000000000000" pitchFamily="49" charset="0"/>
                  <a:cs typeface="JetBrains Mono NL" panose="02000009000000000000" pitchFamily="49" charset="0"/>
                </a:rPr>
                <a:t>...</a:t>
              </a:r>
              <a:endParaRPr kumimoji="1" lang="zh-CN" altLang="en-US" sz="2000" b="0" dirty="0">
                <a:solidFill>
                  <a:srgbClr val="444444"/>
                </a:solidFill>
                <a:latin typeface="JetBrains Mono NL" panose="02000009000000000000" pitchFamily="49" charset="0"/>
                <a:cs typeface="JetBrains Mono NL" panose="02000009000000000000" pitchFamily="49" charset="0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4D369BD0-658E-C3AB-8C4C-1DDAE4F07E65}"/>
                </a:ext>
              </a:extLst>
            </p:cNvPr>
            <p:cNvSpPr txBox="1"/>
            <p:nvPr/>
          </p:nvSpPr>
          <p:spPr>
            <a:xfrm>
              <a:off x="18150687" y="8588516"/>
              <a:ext cx="64633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2000" b="0" dirty="0">
                  <a:solidFill>
                    <a:srgbClr val="444444"/>
                  </a:solidFill>
                  <a:latin typeface="JetBrains Mono NL" panose="02000009000000000000" pitchFamily="49" charset="0"/>
                  <a:ea typeface="JetBrains Mono NL" panose="02000009000000000000" pitchFamily="49" charset="0"/>
                  <a:cs typeface="JetBrains Mono NL" panose="02000009000000000000" pitchFamily="49" charset="0"/>
                </a:rPr>
                <a:t>...</a:t>
              </a:r>
              <a:endParaRPr kumimoji="1" lang="zh-CN" altLang="en-US" sz="2000" b="0" dirty="0">
                <a:solidFill>
                  <a:srgbClr val="444444"/>
                </a:solidFill>
                <a:latin typeface="JetBrains Mono NL" panose="02000009000000000000" pitchFamily="49" charset="0"/>
                <a:cs typeface="JetBrains Mono NL" panose="02000009000000000000" pitchFamily="49" charset="0"/>
              </a:endParaRPr>
            </a:p>
          </p:txBody>
        </p:sp>
        <p:cxnSp>
          <p:nvCxnSpPr>
            <p:cNvPr id="28" name="曲线连接符 27">
              <a:extLst>
                <a:ext uri="{FF2B5EF4-FFF2-40B4-BE49-F238E27FC236}">
                  <a16:creationId xmlns:a16="http://schemas.microsoft.com/office/drawing/2014/main" id="{FDE25404-3432-5ED1-67AA-D3F6127A0535}"/>
                </a:ext>
              </a:extLst>
            </p:cNvPr>
            <p:cNvCxnSpPr>
              <a:stCxn id="11" idx="3"/>
              <a:endCxn id="12" idx="1"/>
            </p:cNvCxnSpPr>
            <p:nvPr/>
          </p:nvCxnSpPr>
          <p:spPr>
            <a:xfrm>
              <a:off x="19209831" y="10100100"/>
              <a:ext cx="252766" cy="1219194"/>
            </a:xfrm>
            <a:prstGeom prst="curved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F72B475E-CFB1-43C3-20F0-D3F70EAA334A}"/>
                </a:ext>
              </a:extLst>
            </p:cNvPr>
            <p:cNvSpPr txBox="1"/>
            <p:nvPr/>
          </p:nvSpPr>
          <p:spPr>
            <a:xfrm>
              <a:off x="18537262" y="10456189"/>
              <a:ext cx="80021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2000" b="0" dirty="0">
                  <a:solidFill>
                    <a:srgbClr val="444444"/>
                  </a:solidFill>
                  <a:latin typeface="JetBrains Mono NL" panose="02000009000000000000" pitchFamily="49" charset="0"/>
                  <a:ea typeface="JetBrains Mono NL" panose="02000009000000000000" pitchFamily="49" charset="0"/>
                  <a:cs typeface="JetBrains Mono NL" panose="02000009000000000000" pitchFamily="49" charset="0"/>
                </a:rPr>
                <a:t>Ping</a:t>
              </a:r>
              <a:endParaRPr kumimoji="1" lang="zh-CN" altLang="en-US" sz="2000" b="0" dirty="0">
                <a:solidFill>
                  <a:srgbClr val="444444"/>
                </a:solidFill>
                <a:latin typeface="JetBrains Mono NL" panose="02000009000000000000" pitchFamily="49" charset="0"/>
                <a:cs typeface="JetBrains Mono NL" panose="02000009000000000000" pitchFamily="49" charset="0"/>
              </a:endParaRPr>
            </a:p>
          </p:txBody>
        </p:sp>
        <p:sp>
          <p:nvSpPr>
            <p:cNvPr id="30" name="圆角矩形 29">
              <a:extLst>
                <a:ext uri="{FF2B5EF4-FFF2-40B4-BE49-F238E27FC236}">
                  <a16:creationId xmlns:a16="http://schemas.microsoft.com/office/drawing/2014/main" id="{F771F8C3-A327-8799-F281-B9AF83C5162E}"/>
                </a:ext>
              </a:extLst>
            </p:cNvPr>
            <p:cNvSpPr/>
            <p:nvPr/>
          </p:nvSpPr>
          <p:spPr>
            <a:xfrm>
              <a:off x="13203045" y="8506962"/>
              <a:ext cx="1918010" cy="758282"/>
            </a:xfrm>
            <a:prstGeom prst="roundRect">
              <a:avLst/>
            </a:prstGeom>
            <a:solidFill>
              <a:srgbClr val="FFF2CC"/>
            </a:solidFill>
            <a:ln>
              <a:solidFill>
                <a:srgbClr val="55555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400" b="0" dirty="0">
                  <a:solidFill>
                    <a:srgbClr val="666666"/>
                  </a:solidFill>
                  <a:latin typeface="JetBrains Mono NL" panose="02000009000000000000" pitchFamily="49" charset="0"/>
                  <a:ea typeface="JetBrains Mono NL" panose="02000009000000000000" pitchFamily="49" charset="0"/>
                  <a:cs typeface="JetBrains Mono NL" panose="02000009000000000000" pitchFamily="49" charset="0"/>
                </a:rPr>
                <a:t>TMA</a:t>
              </a:r>
              <a:r>
                <a:rPr kumimoji="1" lang="zh-CN" altLang="en-US" sz="2400" b="0" dirty="0">
                  <a:solidFill>
                    <a:srgbClr val="666666"/>
                  </a:solidFill>
                  <a:latin typeface="JetBrains Mono NL" panose="02000009000000000000" pitchFamily="49" charset="0"/>
                  <a:cs typeface="JetBrains Mono NL" panose="02000009000000000000" pitchFamily="49" charset="0"/>
                </a:rPr>
                <a:t> </a:t>
              </a:r>
              <a:r>
                <a:rPr kumimoji="1" lang="en-US" altLang="zh-CN" sz="2400" b="0" dirty="0">
                  <a:solidFill>
                    <a:srgbClr val="666666"/>
                  </a:solidFill>
                  <a:latin typeface="JetBrains Mono NL" panose="02000009000000000000" pitchFamily="49" charset="0"/>
                  <a:ea typeface="JetBrains Mono NL" panose="02000009000000000000" pitchFamily="49" charset="0"/>
                  <a:cs typeface="JetBrains Mono NL" panose="02000009000000000000" pitchFamily="49" charset="0"/>
                </a:rPr>
                <a:t>Load</a:t>
              </a:r>
              <a:endParaRPr kumimoji="1" lang="zh-CN" altLang="en-US" sz="2400" b="0" dirty="0">
                <a:solidFill>
                  <a:srgbClr val="666666"/>
                </a:solidFill>
                <a:latin typeface="JetBrains Mono NL" panose="02000009000000000000" pitchFamily="49" charset="0"/>
                <a:cs typeface="JetBrains Mono NL" panose="02000009000000000000" pitchFamily="49" charset="0"/>
              </a:endParaRPr>
            </a:p>
          </p:txBody>
        </p:sp>
        <p:sp>
          <p:nvSpPr>
            <p:cNvPr id="31" name="圆角矩形 30">
              <a:extLst>
                <a:ext uri="{FF2B5EF4-FFF2-40B4-BE49-F238E27FC236}">
                  <a16:creationId xmlns:a16="http://schemas.microsoft.com/office/drawing/2014/main" id="{18C9CD96-52F5-05CA-315C-FBCC717C97D7}"/>
                </a:ext>
              </a:extLst>
            </p:cNvPr>
            <p:cNvSpPr/>
            <p:nvPr/>
          </p:nvSpPr>
          <p:spPr>
            <a:xfrm>
              <a:off x="15634011" y="8493284"/>
              <a:ext cx="1918010" cy="758282"/>
            </a:xfrm>
            <a:prstGeom prst="roundRect">
              <a:avLst/>
            </a:prstGeom>
            <a:solidFill>
              <a:srgbClr val="FFF2CC"/>
            </a:solidFill>
            <a:ln>
              <a:solidFill>
                <a:srgbClr val="55555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400" b="0" dirty="0">
                  <a:solidFill>
                    <a:srgbClr val="666666"/>
                  </a:solidFill>
                  <a:latin typeface="JetBrains Mono NL" panose="02000009000000000000" pitchFamily="49" charset="0"/>
                  <a:ea typeface="JetBrains Mono NL" panose="02000009000000000000" pitchFamily="49" charset="0"/>
                  <a:cs typeface="JetBrains Mono NL" panose="02000009000000000000" pitchFamily="49" charset="0"/>
                </a:rPr>
                <a:t>TMA</a:t>
              </a:r>
              <a:r>
                <a:rPr kumimoji="1" lang="zh-CN" altLang="en-US" sz="2400" b="0" dirty="0">
                  <a:solidFill>
                    <a:srgbClr val="666666"/>
                  </a:solidFill>
                  <a:latin typeface="JetBrains Mono NL" panose="02000009000000000000" pitchFamily="49" charset="0"/>
                  <a:cs typeface="JetBrains Mono NL" panose="02000009000000000000" pitchFamily="49" charset="0"/>
                </a:rPr>
                <a:t> </a:t>
              </a:r>
              <a:r>
                <a:rPr kumimoji="1" lang="en-US" altLang="zh-CN" sz="2400" b="0" dirty="0">
                  <a:solidFill>
                    <a:srgbClr val="666666"/>
                  </a:solidFill>
                  <a:latin typeface="JetBrains Mono NL" panose="02000009000000000000" pitchFamily="49" charset="0"/>
                  <a:ea typeface="JetBrains Mono NL" panose="02000009000000000000" pitchFamily="49" charset="0"/>
                  <a:cs typeface="JetBrains Mono NL" panose="02000009000000000000" pitchFamily="49" charset="0"/>
                </a:rPr>
                <a:t>Load</a:t>
              </a:r>
              <a:endParaRPr kumimoji="1" lang="zh-CN" altLang="en-US" sz="2400" b="0" dirty="0">
                <a:solidFill>
                  <a:srgbClr val="666666"/>
                </a:solidFill>
                <a:latin typeface="JetBrains Mono NL" panose="02000009000000000000" pitchFamily="49" charset="0"/>
                <a:cs typeface="JetBrains Mono NL" panose="02000009000000000000" pitchFamily="49" charset="0"/>
              </a:endParaRPr>
            </a:p>
          </p:txBody>
        </p:sp>
        <p:sp>
          <p:nvSpPr>
            <p:cNvPr id="32" name="空白页面，自由制作">
              <a:extLst>
                <a:ext uri="{FF2B5EF4-FFF2-40B4-BE49-F238E27FC236}">
                  <a16:creationId xmlns:a16="http://schemas.microsoft.com/office/drawing/2014/main" id="{3D31F2CB-7578-16CA-6494-CF8EB2989143}"/>
                </a:ext>
              </a:extLst>
            </p:cNvPr>
            <p:cNvSpPr txBox="1"/>
            <p:nvPr/>
          </p:nvSpPr>
          <p:spPr>
            <a:xfrm>
              <a:off x="493913" y="7639115"/>
              <a:ext cx="8362897" cy="605934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71437" tIns="71437" rIns="71437" bIns="71437" anchor="ctr">
              <a:spAutoFit/>
            </a:bodyPr>
            <a:lstStyle>
              <a:lvl1pPr>
                <a:defRPr sz="6000" b="0">
                  <a:solidFill>
                    <a:srgbClr val="6C6C6C"/>
                  </a:solidFill>
                  <a:latin typeface="PingFang SC Semibold" panose="020B0400000000000000" charset="-122"/>
                  <a:ea typeface="PingFang SC Semibold" panose="020B0400000000000000" charset="-122"/>
                  <a:cs typeface="PingFang SC Semibold" panose="020B0400000000000000" charset="-122"/>
                  <a:sym typeface="PingFang SC Semibold" panose="020B0400000000000000" charset="-122"/>
                </a:defRPr>
              </a:lvl1pPr>
            </a:lstStyle>
            <a:p>
              <a:pPr algn="l"/>
              <a:r>
                <a:rPr lang="en-US" altLang="zh-CN" sz="3000" b="1" dirty="0">
                  <a:latin typeface="JetBrains Mono NL" panose="02000009000000000000" pitchFamily="49" charset="0"/>
                  <a:ea typeface="JetBrains Mono NL" panose="02000009000000000000" pitchFamily="49" charset="0"/>
                  <a:cs typeface="JetBrains Mono NL" panose="02000009000000000000" pitchFamily="49" charset="0"/>
                </a:rPr>
                <a:t>2.</a:t>
              </a:r>
              <a:r>
                <a:rPr lang="zh-CN" altLang="en-US" sz="3000" b="1" dirty="0">
                  <a:latin typeface="JetBrains Mono NL" panose="02000009000000000000" pitchFamily="49" charset="0"/>
                  <a:ea typeface="微软雅黑" panose="020B0503020204020204" pitchFamily="34" charset="-122"/>
                  <a:cs typeface="JetBrains Mono NL" panose="02000009000000000000" pitchFamily="49" charset="0"/>
                </a:rPr>
                <a:t> </a:t>
              </a:r>
              <a:r>
                <a:rPr lang="en-US" altLang="zh-CN" sz="3000" b="1" dirty="0">
                  <a:latin typeface="JetBrains Mono NL" panose="02000009000000000000" pitchFamily="49" charset="0"/>
                  <a:ea typeface="JetBrains Mono NL" panose="02000009000000000000" pitchFamily="49" charset="0"/>
                  <a:cs typeface="JetBrains Mono NL" panose="02000009000000000000" pitchFamily="49" charset="0"/>
                </a:rPr>
                <a:t>Scheduling Strategy(</a:t>
              </a:r>
              <a:r>
                <a:rPr lang="en-US" altLang="zh-CN" sz="3000" b="1" dirty="0" err="1">
                  <a:latin typeface="JetBrains Mono NL" panose="02000009000000000000" pitchFamily="49" charset="0"/>
                  <a:ea typeface="JetBrains Mono NL" panose="02000009000000000000" pitchFamily="49" charset="0"/>
                  <a:cs typeface="JetBrains Mono NL" panose="02000009000000000000" pitchFamily="49" charset="0"/>
                </a:rPr>
                <a:t>PingPong</a:t>
              </a:r>
              <a:r>
                <a:rPr lang="en-US" altLang="zh-CN" sz="3000" b="1" dirty="0">
                  <a:latin typeface="JetBrains Mono NL" panose="02000009000000000000" pitchFamily="49" charset="0"/>
                  <a:ea typeface="JetBrains Mono NL" panose="02000009000000000000" pitchFamily="49" charset="0"/>
                  <a:cs typeface="JetBrains Mono NL" panose="02000009000000000000" pitchFamily="49" charset="0"/>
                </a:rPr>
                <a:t>)</a:t>
              </a:r>
              <a:endParaRPr sz="3000" b="1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9A09AB48-3953-0201-ED2E-BACEA1C15D6A}"/>
              </a:ext>
            </a:extLst>
          </p:cNvPr>
          <p:cNvGrpSpPr/>
          <p:nvPr/>
        </p:nvGrpSpPr>
        <p:grpSpPr>
          <a:xfrm>
            <a:off x="625827" y="8057855"/>
            <a:ext cx="23692860" cy="3197727"/>
            <a:chOff x="493915" y="8493284"/>
            <a:chExt cx="23692860" cy="3197727"/>
          </a:xfrm>
        </p:grpSpPr>
        <p:sp>
          <p:nvSpPr>
            <p:cNvPr id="40" name="圆角矩形 39">
              <a:extLst>
                <a:ext uri="{FF2B5EF4-FFF2-40B4-BE49-F238E27FC236}">
                  <a16:creationId xmlns:a16="http://schemas.microsoft.com/office/drawing/2014/main" id="{77B4C838-21EE-8947-DED9-46655CBE3AB0}"/>
                </a:ext>
              </a:extLst>
            </p:cNvPr>
            <p:cNvSpPr/>
            <p:nvPr/>
          </p:nvSpPr>
          <p:spPr>
            <a:xfrm>
              <a:off x="3479181" y="8501764"/>
              <a:ext cx="1918010" cy="758282"/>
            </a:xfrm>
            <a:prstGeom prst="roundRect">
              <a:avLst/>
            </a:prstGeom>
            <a:solidFill>
              <a:srgbClr val="FFF2CC"/>
            </a:solidFill>
            <a:ln>
              <a:solidFill>
                <a:srgbClr val="55555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400" b="0" dirty="0">
                  <a:solidFill>
                    <a:srgbClr val="666666"/>
                  </a:solidFill>
                  <a:latin typeface="JetBrains Mono NL" panose="02000009000000000000" pitchFamily="49" charset="0"/>
                  <a:ea typeface="JetBrains Mono NL" panose="02000009000000000000" pitchFamily="49" charset="0"/>
                  <a:cs typeface="JetBrains Mono NL" panose="02000009000000000000" pitchFamily="49" charset="0"/>
                </a:rPr>
                <a:t>TMA</a:t>
              </a:r>
              <a:r>
                <a:rPr kumimoji="1" lang="zh-CN" altLang="en-US" sz="2400" b="0" dirty="0">
                  <a:solidFill>
                    <a:srgbClr val="666666"/>
                  </a:solidFill>
                  <a:latin typeface="JetBrains Mono NL" panose="02000009000000000000" pitchFamily="49" charset="0"/>
                  <a:cs typeface="JetBrains Mono NL" panose="02000009000000000000" pitchFamily="49" charset="0"/>
                </a:rPr>
                <a:t> </a:t>
              </a:r>
              <a:r>
                <a:rPr kumimoji="1" lang="en-US" altLang="zh-CN" sz="2400" b="0" dirty="0">
                  <a:solidFill>
                    <a:srgbClr val="666666"/>
                  </a:solidFill>
                  <a:latin typeface="JetBrains Mono NL" panose="02000009000000000000" pitchFamily="49" charset="0"/>
                  <a:ea typeface="JetBrains Mono NL" panose="02000009000000000000" pitchFamily="49" charset="0"/>
                  <a:cs typeface="JetBrains Mono NL" panose="02000009000000000000" pitchFamily="49" charset="0"/>
                </a:rPr>
                <a:t>Load</a:t>
              </a:r>
              <a:endParaRPr kumimoji="1" lang="zh-CN" altLang="en-US" sz="2400" b="0" dirty="0">
                <a:solidFill>
                  <a:srgbClr val="666666"/>
                </a:solidFill>
                <a:latin typeface="JetBrains Mono NL" panose="02000009000000000000" pitchFamily="49" charset="0"/>
                <a:cs typeface="JetBrains Mono NL" panose="02000009000000000000" pitchFamily="49" charset="0"/>
              </a:endParaRPr>
            </a:p>
          </p:txBody>
        </p:sp>
        <p:sp>
          <p:nvSpPr>
            <p:cNvPr id="41" name="圆角矩形 40">
              <a:extLst>
                <a:ext uri="{FF2B5EF4-FFF2-40B4-BE49-F238E27FC236}">
                  <a16:creationId xmlns:a16="http://schemas.microsoft.com/office/drawing/2014/main" id="{4CB7DD80-612D-5C03-8C0E-EC55FCB9CAB0}"/>
                </a:ext>
              </a:extLst>
            </p:cNvPr>
            <p:cNvSpPr/>
            <p:nvPr/>
          </p:nvSpPr>
          <p:spPr>
            <a:xfrm>
              <a:off x="5590477" y="9720962"/>
              <a:ext cx="4401014" cy="758282"/>
            </a:xfrm>
            <a:prstGeom prst="roundRect">
              <a:avLst/>
            </a:prstGeom>
            <a:solidFill>
              <a:srgbClr val="DAE8FC"/>
            </a:solidFill>
            <a:ln>
              <a:solidFill>
                <a:srgbClr val="55555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400" b="0" dirty="0" err="1">
                  <a:solidFill>
                    <a:srgbClr val="666666"/>
                  </a:solidFill>
                  <a:latin typeface="JetBrains Mono NL" panose="02000009000000000000" pitchFamily="49" charset="0"/>
                  <a:ea typeface="JetBrains Mono NL" panose="02000009000000000000" pitchFamily="49" charset="0"/>
                  <a:cs typeface="JetBrains Mono NL" panose="02000009000000000000" pitchFamily="49" charset="0"/>
                </a:rPr>
                <a:t>Mainloop</a:t>
              </a:r>
              <a:endParaRPr kumimoji="1" lang="zh-CN" altLang="en-US" sz="2400" b="0" dirty="0">
                <a:solidFill>
                  <a:srgbClr val="666666"/>
                </a:solidFill>
                <a:latin typeface="JetBrains Mono NL" panose="02000009000000000000" pitchFamily="49" charset="0"/>
                <a:cs typeface="JetBrains Mono NL" panose="02000009000000000000" pitchFamily="49" charset="0"/>
              </a:endParaRPr>
            </a:p>
          </p:txBody>
        </p:sp>
        <p:sp>
          <p:nvSpPr>
            <p:cNvPr id="42" name="圆角矩形 41">
              <a:extLst>
                <a:ext uri="{FF2B5EF4-FFF2-40B4-BE49-F238E27FC236}">
                  <a16:creationId xmlns:a16="http://schemas.microsoft.com/office/drawing/2014/main" id="{A7D8EACC-4D2E-941B-810F-A32D85696B73}"/>
                </a:ext>
              </a:extLst>
            </p:cNvPr>
            <p:cNvSpPr/>
            <p:nvPr/>
          </p:nvSpPr>
          <p:spPr>
            <a:xfrm>
              <a:off x="5910147" y="8501764"/>
              <a:ext cx="1918010" cy="758282"/>
            </a:xfrm>
            <a:prstGeom prst="roundRect">
              <a:avLst/>
            </a:prstGeom>
            <a:solidFill>
              <a:srgbClr val="FFF2CC"/>
            </a:solidFill>
            <a:ln>
              <a:solidFill>
                <a:srgbClr val="55555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400" b="0" dirty="0">
                  <a:solidFill>
                    <a:srgbClr val="666666"/>
                  </a:solidFill>
                  <a:latin typeface="JetBrains Mono NL" panose="02000009000000000000" pitchFamily="49" charset="0"/>
                  <a:ea typeface="JetBrains Mono NL" panose="02000009000000000000" pitchFamily="49" charset="0"/>
                  <a:cs typeface="JetBrains Mono NL" panose="02000009000000000000" pitchFamily="49" charset="0"/>
                </a:rPr>
                <a:t>TMA</a:t>
              </a:r>
              <a:r>
                <a:rPr kumimoji="1" lang="zh-CN" altLang="en-US" sz="2400" b="0" dirty="0">
                  <a:solidFill>
                    <a:srgbClr val="666666"/>
                  </a:solidFill>
                  <a:latin typeface="JetBrains Mono NL" panose="02000009000000000000" pitchFamily="49" charset="0"/>
                  <a:cs typeface="JetBrains Mono NL" panose="02000009000000000000" pitchFamily="49" charset="0"/>
                </a:rPr>
                <a:t> </a:t>
              </a:r>
              <a:r>
                <a:rPr kumimoji="1" lang="en-US" altLang="zh-CN" sz="2400" b="0" dirty="0">
                  <a:solidFill>
                    <a:srgbClr val="666666"/>
                  </a:solidFill>
                  <a:latin typeface="JetBrains Mono NL" panose="02000009000000000000" pitchFamily="49" charset="0"/>
                  <a:ea typeface="JetBrains Mono NL" panose="02000009000000000000" pitchFamily="49" charset="0"/>
                  <a:cs typeface="JetBrains Mono NL" panose="02000009000000000000" pitchFamily="49" charset="0"/>
                </a:rPr>
                <a:t>Load</a:t>
              </a:r>
              <a:endParaRPr kumimoji="1" lang="zh-CN" altLang="en-US" sz="2400" b="0" dirty="0">
                <a:solidFill>
                  <a:srgbClr val="666666"/>
                </a:solidFill>
                <a:latin typeface="JetBrains Mono NL" panose="02000009000000000000" pitchFamily="49" charset="0"/>
                <a:cs typeface="JetBrains Mono NL" panose="02000009000000000000" pitchFamily="49" charset="0"/>
              </a:endParaRPr>
            </a:p>
          </p:txBody>
        </p:sp>
        <p:sp>
          <p:nvSpPr>
            <p:cNvPr id="43" name="圆角矩形 42">
              <a:extLst>
                <a:ext uri="{FF2B5EF4-FFF2-40B4-BE49-F238E27FC236}">
                  <a16:creationId xmlns:a16="http://schemas.microsoft.com/office/drawing/2014/main" id="{ED20AB59-FD8F-56EB-E785-0299E5E050A0}"/>
                </a:ext>
              </a:extLst>
            </p:cNvPr>
            <p:cNvSpPr/>
            <p:nvPr/>
          </p:nvSpPr>
          <p:spPr>
            <a:xfrm>
              <a:off x="8341113" y="8501764"/>
              <a:ext cx="1918010" cy="758282"/>
            </a:xfrm>
            <a:prstGeom prst="roundRect">
              <a:avLst/>
            </a:prstGeom>
            <a:solidFill>
              <a:srgbClr val="FFF2CC"/>
            </a:solidFill>
            <a:ln>
              <a:solidFill>
                <a:srgbClr val="55555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400" b="0" dirty="0">
                  <a:solidFill>
                    <a:srgbClr val="666666"/>
                  </a:solidFill>
                  <a:latin typeface="JetBrains Mono NL" panose="02000009000000000000" pitchFamily="49" charset="0"/>
                  <a:ea typeface="JetBrains Mono NL" panose="02000009000000000000" pitchFamily="49" charset="0"/>
                  <a:cs typeface="JetBrains Mono NL" panose="02000009000000000000" pitchFamily="49" charset="0"/>
                </a:rPr>
                <a:t>TMA</a:t>
              </a:r>
              <a:r>
                <a:rPr kumimoji="1" lang="zh-CN" altLang="en-US" sz="2400" b="0" dirty="0">
                  <a:solidFill>
                    <a:srgbClr val="666666"/>
                  </a:solidFill>
                  <a:latin typeface="JetBrains Mono NL" panose="02000009000000000000" pitchFamily="49" charset="0"/>
                  <a:cs typeface="JetBrains Mono NL" panose="02000009000000000000" pitchFamily="49" charset="0"/>
                </a:rPr>
                <a:t> </a:t>
              </a:r>
              <a:r>
                <a:rPr kumimoji="1" lang="en-US" altLang="zh-CN" sz="2400" b="0" dirty="0">
                  <a:solidFill>
                    <a:srgbClr val="666666"/>
                  </a:solidFill>
                  <a:latin typeface="JetBrains Mono NL" panose="02000009000000000000" pitchFamily="49" charset="0"/>
                  <a:ea typeface="JetBrains Mono NL" panose="02000009000000000000" pitchFamily="49" charset="0"/>
                  <a:cs typeface="JetBrains Mono NL" panose="02000009000000000000" pitchFamily="49" charset="0"/>
                </a:rPr>
                <a:t>Load</a:t>
              </a:r>
              <a:endParaRPr kumimoji="1" lang="zh-CN" altLang="en-US" sz="2400" b="0" dirty="0">
                <a:solidFill>
                  <a:srgbClr val="666666"/>
                </a:solidFill>
                <a:latin typeface="JetBrains Mono NL" panose="02000009000000000000" pitchFamily="49" charset="0"/>
                <a:cs typeface="JetBrains Mono NL" panose="02000009000000000000" pitchFamily="49" charset="0"/>
              </a:endParaRPr>
            </a:p>
          </p:txBody>
        </p:sp>
        <p:sp>
          <p:nvSpPr>
            <p:cNvPr id="44" name="圆角矩形 43">
              <a:extLst>
                <a:ext uri="{FF2B5EF4-FFF2-40B4-BE49-F238E27FC236}">
                  <a16:creationId xmlns:a16="http://schemas.microsoft.com/office/drawing/2014/main" id="{C7C16746-4C6C-7C6D-EA94-1284C7D5C56D}"/>
                </a:ext>
              </a:extLst>
            </p:cNvPr>
            <p:cNvSpPr/>
            <p:nvPr/>
          </p:nvSpPr>
          <p:spPr>
            <a:xfrm>
              <a:off x="10772079" y="8501764"/>
              <a:ext cx="1918010" cy="758282"/>
            </a:xfrm>
            <a:prstGeom prst="roundRect">
              <a:avLst/>
            </a:prstGeom>
            <a:solidFill>
              <a:srgbClr val="FFF2CC"/>
            </a:solidFill>
            <a:ln>
              <a:solidFill>
                <a:srgbClr val="55555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400" b="0" dirty="0">
                  <a:solidFill>
                    <a:srgbClr val="666666"/>
                  </a:solidFill>
                  <a:latin typeface="JetBrains Mono NL" panose="02000009000000000000" pitchFamily="49" charset="0"/>
                  <a:ea typeface="JetBrains Mono NL" panose="02000009000000000000" pitchFamily="49" charset="0"/>
                  <a:cs typeface="JetBrains Mono NL" panose="02000009000000000000" pitchFamily="49" charset="0"/>
                </a:rPr>
                <a:t>TMA</a:t>
              </a:r>
              <a:r>
                <a:rPr kumimoji="1" lang="zh-CN" altLang="en-US" sz="2400" b="0" dirty="0">
                  <a:solidFill>
                    <a:srgbClr val="666666"/>
                  </a:solidFill>
                  <a:latin typeface="JetBrains Mono NL" panose="02000009000000000000" pitchFamily="49" charset="0"/>
                  <a:cs typeface="JetBrains Mono NL" panose="02000009000000000000" pitchFamily="49" charset="0"/>
                </a:rPr>
                <a:t> </a:t>
              </a:r>
              <a:r>
                <a:rPr kumimoji="1" lang="en-US" altLang="zh-CN" sz="2400" b="0" dirty="0">
                  <a:solidFill>
                    <a:srgbClr val="666666"/>
                  </a:solidFill>
                  <a:latin typeface="JetBrains Mono NL" panose="02000009000000000000" pitchFamily="49" charset="0"/>
                  <a:ea typeface="JetBrains Mono NL" panose="02000009000000000000" pitchFamily="49" charset="0"/>
                  <a:cs typeface="JetBrains Mono NL" panose="02000009000000000000" pitchFamily="49" charset="0"/>
                </a:rPr>
                <a:t>Load</a:t>
              </a:r>
              <a:endParaRPr kumimoji="1" lang="zh-CN" altLang="en-US" sz="2400" b="0" dirty="0">
                <a:solidFill>
                  <a:srgbClr val="666666"/>
                </a:solidFill>
                <a:latin typeface="JetBrains Mono NL" panose="02000009000000000000" pitchFamily="49" charset="0"/>
                <a:cs typeface="JetBrains Mono NL" panose="02000009000000000000" pitchFamily="49" charset="0"/>
              </a:endParaRPr>
            </a:p>
          </p:txBody>
        </p:sp>
        <p:sp>
          <p:nvSpPr>
            <p:cNvPr id="45" name="圆角矩形 44">
              <a:extLst>
                <a:ext uri="{FF2B5EF4-FFF2-40B4-BE49-F238E27FC236}">
                  <a16:creationId xmlns:a16="http://schemas.microsoft.com/office/drawing/2014/main" id="{102AADC5-034C-EE04-5667-BD4E22611B62}"/>
                </a:ext>
              </a:extLst>
            </p:cNvPr>
            <p:cNvSpPr/>
            <p:nvPr/>
          </p:nvSpPr>
          <p:spPr>
            <a:xfrm>
              <a:off x="10177347" y="9720958"/>
              <a:ext cx="1033350" cy="758282"/>
            </a:xfrm>
            <a:prstGeom prst="roundRect">
              <a:avLst/>
            </a:prstGeom>
            <a:solidFill>
              <a:srgbClr val="FFE6CC"/>
            </a:solidFill>
            <a:ln>
              <a:solidFill>
                <a:srgbClr val="55555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400" b="0" dirty="0" err="1">
                  <a:solidFill>
                    <a:srgbClr val="666666"/>
                  </a:solidFill>
                  <a:latin typeface="JetBrains Mono NL" panose="02000009000000000000" pitchFamily="49" charset="0"/>
                  <a:ea typeface="JetBrains Mono NL" panose="02000009000000000000" pitchFamily="49" charset="0"/>
                  <a:cs typeface="JetBrains Mono NL" panose="02000009000000000000" pitchFamily="49" charset="0"/>
                </a:rPr>
                <a:t>Crd</a:t>
              </a:r>
              <a:endParaRPr kumimoji="1" lang="zh-CN" altLang="en-US" sz="2400" b="0" dirty="0">
                <a:solidFill>
                  <a:srgbClr val="666666"/>
                </a:solidFill>
                <a:latin typeface="JetBrains Mono NL" panose="02000009000000000000" pitchFamily="49" charset="0"/>
                <a:cs typeface="JetBrains Mono NL" panose="02000009000000000000" pitchFamily="49" charset="0"/>
              </a:endParaRPr>
            </a:p>
          </p:txBody>
        </p:sp>
        <p:sp>
          <p:nvSpPr>
            <p:cNvPr id="46" name="圆角矩形 45">
              <a:extLst>
                <a:ext uri="{FF2B5EF4-FFF2-40B4-BE49-F238E27FC236}">
                  <a16:creationId xmlns:a16="http://schemas.microsoft.com/office/drawing/2014/main" id="{1F371AA1-F253-0312-610F-954B8B7B7F7C}"/>
                </a:ext>
              </a:extLst>
            </p:cNvPr>
            <p:cNvSpPr/>
            <p:nvPr/>
          </p:nvSpPr>
          <p:spPr>
            <a:xfrm>
              <a:off x="5596013" y="10800467"/>
              <a:ext cx="4401014" cy="758282"/>
            </a:xfrm>
            <a:prstGeom prst="roundRect">
              <a:avLst/>
            </a:prstGeom>
            <a:solidFill>
              <a:srgbClr val="DAE8FC"/>
            </a:solidFill>
            <a:ln>
              <a:solidFill>
                <a:srgbClr val="55555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400" b="0" dirty="0" err="1">
                  <a:solidFill>
                    <a:srgbClr val="666666"/>
                  </a:solidFill>
                  <a:latin typeface="JetBrains Mono NL" panose="02000009000000000000" pitchFamily="49" charset="0"/>
                  <a:ea typeface="JetBrains Mono NL" panose="02000009000000000000" pitchFamily="49" charset="0"/>
                  <a:cs typeface="JetBrains Mono NL" panose="02000009000000000000" pitchFamily="49" charset="0"/>
                </a:rPr>
                <a:t>Mainloop</a:t>
              </a:r>
              <a:endParaRPr kumimoji="1" lang="zh-CN" altLang="en-US" sz="2400" b="0" dirty="0">
                <a:solidFill>
                  <a:srgbClr val="666666"/>
                </a:solidFill>
                <a:latin typeface="JetBrains Mono NL" panose="02000009000000000000" pitchFamily="49" charset="0"/>
                <a:cs typeface="JetBrains Mono NL" panose="02000009000000000000" pitchFamily="49" charset="0"/>
              </a:endParaRPr>
            </a:p>
          </p:txBody>
        </p:sp>
        <p:sp>
          <p:nvSpPr>
            <p:cNvPr id="47" name="圆角矩形 46">
              <a:extLst>
                <a:ext uri="{FF2B5EF4-FFF2-40B4-BE49-F238E27FC236}">
                  <a16:creationId xmlns:a16="http://schemas.microsoft.com/office/drawing/2014/main" id="{E3FC3965-7F42-11C4-672C-F7A553A37841}"/>
                </a:ext>
              </a:extLst>
            </p:cNvPr>
            <p:cNvSpPr/>
            <p:nvPr/>
          </p:nvSpPr>
          <p:spPr>
            <a:xfrm>
              <a:off x="14578360" y="9732108"/>
              <a:ext cx="4401014" cy="758282"/>
            </a:xfrm>
            <a:prstGeom prst="roundRect">
              <a:avLst/>
            </a:prstGeom>
            <a:solidFill>
              <a:srgbClr val="DAE8FC"/>
            </a:solidFill>
            <a:ln>
              <a:solidFill>
                <a:srgbClr val="55555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400" b="0" dirty="0" err="1">
                  <a:solidFill>
                    <a:srgbClr val="666666"/>
                  </a:solidFill>
                  <a:latin typeface="JetBrains Mono NL" panose="02000009000000000000" pitchFamily="49" charset="0"/>
                  <a:ea typeface="JetBrains Mono NL" panose="02000009000000000000" pitchFamily="49" charset="0"/>
                  <a:cs typeface="JetBrains Mono NL" panose="02000009000000000000" pitchFamily="49" charset="0"/>
                </a:rPr>
                <a:t>Mainloop</a:t>
              </a:r>
              <a:endParaRPr kumimoji="1" lang="zh-CN" altLang="en-US" sz="2400" b="0" dirty="0">
                <a:solidFill>
                  <a:srgbClr val="666666"/>
                </a:solidFill>
                <a:latin typeface="JetBrains Mono NL" panose="02000009000000000000" pitchFamily="49" charset="0"/>
                <a:cs typeface="JetBrains Mono NL" panose="02000009000000000000" pitchFamily="49" charset="0"/>
              </a:endParaRPr>
            </a:p>
          </p:txBody>
        </p:sp>
        <p:sp>
          <p:nvSpPr>
            <p:cNvPr id="48" name="圆角矩形 47">
              <a:extLst>
                <a:ext uri="{FF2B5EF4-FFF2-40B4-BE49-F238E27FC236}">
                  <a16:creationId xmlns:a16="http://schemas.microsoft.com/office/drawing/2014/main" id="{4BB6AC07-4315-1EF8-4727-96719B3B0D90}"/>
                </a:ext>
              </a:extLst>
            </p:cNvPr>
            <p:cNvSpPr/>
            <p:nvPr/>
          </p:nvSpPr>
          <p:spPr>
            <a:xfrm>
              <a:off x="14578360" y="10806058"/>
              <a:ext cx="4401014" cy="758282"/>
            </a:xfrm>
            <a:prstGeom prst="roundRect">
              <a:avLst/>
            </a:prstGeom>
            <a:solidFill>
              <a:srgbClr val="DAE8FC"/>
            </a:solidFill>
            <a:ln>
              <a:solidFill>
                <a:srgbClr val="55555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400" b="0" dirty="0" err="1">
                  <a:solidFill>
                    <a:srgbClr val="666666"/>
                  </a:solidFill>
                  <a:latin typeface="JetBrains Mono NL" panose="02000009000000000000" pitchFamily="49" charset="0"/>
                  <a:cs typeface="JetBrains Mono NL" panose="02000009000000000000" pitchFamily="49" charset="0"/>
                </a:rPr>
                <a:t>Mainloop</a:t>
              </a:r>
              <a:endParaRPr kumimoji="1" lang="zh-CN" altLang="en-US" sz="2400" b="0" dirty="0">
                <a:solidFill>
                  <a:srgbClr val="666666"/>
                </a:solidFill>
                <a:latin typeface="JetBrains Mono NL" panose="02000009000000000000" pitchFamily="49" charset="0"/>
                <a:cs typeface="JetBrains Mono NL" panose="02000009000000000000" pitchFamily="49" charset="0"/>
              </a:endParaRPr>
            </a:p>
          </p:txBody>
        </p:sp>
        <p:sp>
          <p:nvSpPr>
            <p:cNvPr id="49" name="圆角矩形 48">
              <a:extLst>
                <a:ext uri="{FF2B5EF4-FFF2-40B4-BE49-F238E27FC236}">
                  <a16:creationId xmlns:a16="http://schemas.microsoft.com/office/drawing/2014/main" id="{B6E6E355-9760-2450-90E5-66F994BB3FD2}"/>
                </a:ext>
              </a:extLst>
            </p:cNvPr>
            <p:cNvSpPr/>
            <p:nvPr/>
          </p:nvSpPr>
          <p:spPr>
            <a:xfrm>
              <a:off x="11418850" y="9720958"/>
              <a:ext cx="2787804" cy="758282"/>
            </a:xfrm>
            <a:prstGeom prst="roundRect">
              <a:avLst/>
            </a:prstGeom>
            <a:solidFill>
              <a:srgbClr val="F8CECC"/>
            </a:solidFill>
            <a:ln>
              <a:solidFill>
                <a:srgbClr val="55555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400" b="0" dirty="0">
                  <a:solidFill>
                    <a:srgbClr val="666666"/>
                  </a:solidFill>
                  <a:latin typeface="JetBrains Mono NL" panose="02000009000000000000" pitchFamily="49" charset="0"/>
                  <a:ea typeface="JetBrains Mono NL" panose="02000009000000000000" pitchFamily="49" charset="0"/>
                  <a:cs typeface="JetBrains Mono NL" panose="02000009000000000000" pitchFamily="49" charset="0"/>
                </a:rPr>
                <a:t>Store</a:t>
              </a:r>
              <a:endParaRPr kumimoji="1" lang="zh-CN" altLang="en-US" sz="2400" b="0" dirty="0">
                <a:solidFill>
                  <a:srgbClr val="666666"/>
                </a:solidFill>
                <a:latin typeface="JetBrains Mono NL" panose="02000009000000000000" pitchFamily="49" charset="0"/>
                <a:cs typeface="JetBrains Mono NL" panose="02000009000000000000" pitchFamily="49" charset="0"/>
              </a:endParaRPr>
            </a:p>
          </p:txBody>
        </p:sp>
        <p:sp>
          <p:nvSpPr>
            <p:cNvPr id="50" name="圆角矩形 49">
              <a:extLst>
                <a:ext uri="{FF2B5EF4-FFF2-40B4-BE49-F238E27FC236}">
                  <a16:creationId xmlns:a16="http://schemas.microsoft.com/office/drawing/2014/main" id="{AD475FA6-A313-ABDB-7FF4-FC63AEF65DD7}"/>
                </a:ext>
              </a:extLst>
            </p:cNvPr>
            <p:cNvSpPr/>
            <p:nvPr/>
          </p:nvSpPr>
          <p:spPr>
            <a:xfrm>
              <a:off x="11418850" y="10800467"/>
              <a:ext cx="2787804" cy="758282"/>
            </a:xfrm>
            <a:prstGeom prst="roundRect">
              <a:avLst/>
            </a:prstGeom>
            <a:solidFill>
              <a:srgbClr val="F8CECC"/>
            </a:solidFill>
            <a:ln>
              <a:solidFill>
                <a:srgbClr val="55555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400" b="0" dirty="0">
                  <a:solidFill>
                    <a:srgbClr val="666666"/>
                  </a:solidFill>
                  <a:latin typeface="JetBrains Mono NL" panose="02000009000000000000" pitchFamily="49" charset="0"/>
                  <a:ea typeface="JetBrains Mono NL" panose="02000009000000000000" pitchFamily="49" charset="0"/>
                  <a:cs typeface="JetBrains Mono NL" panose="02000009000000000000" pitchFamily="49" charset="0"/>
                </a:rPr>
                <a:t>Store</a:t>
              </a:r>
              <a:endParaRPr kumimoji="1" lang="zh-CN" altLang="en-US" sz="2400" b="0" dirty="0">
                <a:solidFill>
                  <a:srgbClr val="666666"/>
                </a:solidFill>
                <a:latin typeface="JetBrains Mono NL" panose="02000009000000000000" pitchFamily="49" charset="0"/>
                <a:cs typeface="JetBrains Mono NL" panose="02000009000000000000" pitchFamily="49" charset="0"/>
              </a:endParaRPr>
            </a:p>
          </p:txBody>
        </p:sp>
        <p:sp>
          <p:nvSpPr>
            <p:cNvPr id="51" name="圆角矩形 50">
              <a:extLst>
                <a:ext uri="{FF2B5EF4-FFF2-40B4-BE49-F238E27FC236}">
                  <a16:creationId xmlns:a16="http://schemas.microsoft.com/office/drawing/2014/main" id="{3F51446C-F2F1-1176-58A8-8F105F181FD4}"/>
                </a:ext>
              </a:extLst>
            </p:cNvPr>
            <p:cNvSpPr/>
            <p:nvPr/>
          </p:nvSpPr>
          <p:spPr>
            <a:xfrm>
              <a:off x="10177346" y="10806058"/>
              <a:ext cx="1033350" cy="758282"/>
            </a:xfrm>
            <a:prstGeom prst="roundRect">
              <a:avLst/>
            </a:prstGeom>
            <a:solidFill>
              <a:srgbClr val="FFE6CC"/>
            </a:solidFill>
            <a:ln>
              <a:solidFill>
                <a:srgbClr val="55555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400" b="0" dirty="0" err="1">
                  <a:solidFill>
                    <a:srgbClr val="666666"/>
                  </a:solidFill>
                  <a:latin typeface="JetBrains Mono NL" panose="02000009000000000000" pitchFamily="49" charset="0"/>
                  <a:ea typeface="JetBrains Mono NL" panose="02000009000000000000" pitchFamily="49" charset="0"/>
                  <a:cs typeface="JetBrains Mono NL" panose="02000009000000000000" pitchFamily="49" charset="0"/>
                </a:rPr>
                <a:t>Crd</a:t>
              </a:r>
              <a:endParaRPr kumimoji="1" lang="zh-CN" altLang="en-US" sz="2400" b="0" dirty="0">
                <a:solidFill>
                  <a:srgbClr val="666666"/>
                </a:solidFill>
                <a:latin typeface="JetBrains Mono NL" panose="02000009000000000000" pitchFamily="49" charset="0"/>
                <a:cs typeface="JetBrains Mono NL" panose="02000009000000000000" pitchFamily="49" charset="0"/>
              </a:endParaRPr>
            </a:p>
          </p:txBody>
        </p:sp>
        <p:sp>
          <p:nvSpPr>
            <p:cNvPr id="52" name="圆角矩形 51">
              <a:extLst>
                <a:ext uri="{FF2B5EF4-FFF2-40B4-BE49-F238E27FC236}">
                  <a16:creationId xmlns:a16="http://schemas.microsoft.com/office/drawing/2014/main" id="{AD071DFA-1DFA-7556-4481-9F5005ADAA99}"/>
                </a:ext>
              </a:extLst>
            </p:cNvPr>
            <p:cNvSpPr/>
            <p:nvPr/>
          </p:nvSpPr>
          <p:spPr>
            <a:xfrm>
              <a:off x="20495947" y="9732108"/>
              <a:ext cx="2787804" cy="758282"/>
            </a:xfrm>
            <a:prstGeom prst="roundRect">
              <a:avLst/>
            </a:prstGeom>
            <a:solidFill>
              <a:srgbClr val="F8CECC"/>
            </a:solidFill>
            <a:ln>
              <a:solidFill>
                <a:srgbClr val="55555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400" b="0" dirty="0">
                  <a:solidFill>
                    <a:srgbClr val="666666"/>
                  </a:solidFill>
                  <a:latin typeface="JetBrains Mono NL" panose="02000009000000000000" pitchFamily="49" charset="0"/>
                  <a:ea typeface="JetBrains Mono NL" panose="02000009000000000000" pitchFamily="49" charset="0"/>
                  <a:cs typeface="JetBrains Mono NL" panose="02000009000000000000" pitchFamily="49" charset="0"/>
                </a:rPr>
                <a:t>Store</a:t>
              </a:r>
              <a:endParaRPr kumimoji="1" lang="zh-CN" altLang="en-US" sz="2400" b="0" dirty="0">
                <a:solidFill>
                  <a:srgbClr val="666666"/>
                </a:solidFill>
                <a:latin typeface="JetBrains Mono NL" panose="02000009000000000000" pitchFamily="49" charset="0"/>
                <a:cs typeface="JetBrains Mono NL" panose="02000009000000000000" pitchFamily="49" charset="0"/>
              </a:endParaRPr>
            </a:p>
          </p:txBody>
        </p:sp>
        <p:sp>
          <p:nvSpPr>
            <p:cNvPr id="53" name="圆角矩形 52">
              <a:extLst>
                <a:ext uri="{FF2B5EF4-FFF2-40B4-BE49-F238E27FC236}">
                  <a16:creationId xmlns:a16="http://schemas.microsoft.com/office/drawing/2014/main" id="{792E719F-9090-FA49-B56D-22906D8DF6DC}"/>
                </a:ext>
              </a:extLst>
            </p:cNvPr>
            <p:cNvSpPr/>
            <p:nvPr/>
          </p:nvSpPr>
          <p:spPr>
            <a:xfrm>
              <a:off x="19209831" y="9720958"/>
              <a:ext cx="1033350" cy="758282"/>
            </a:xfrm>
            <a:prstGeom prst="roundRect">
              <a:avLst/>
            </a:prstGeom>
            <a:solidFill>
              <a:srgbClr val="FFE6CC"/>
            </a:solidFill>
            <a:ln>
              <a:solidFill>
                <a:srgbClr val="55555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400" b="0" dirty="0" err="1">
                  <a:solidFill>
                    <a:srgbClr val="666666"/>
                  </a:solidFill>
                  <a:latin typeface="JetBrains Mono NL" panose="02000009000000000000" pitchFamily="49" charset="0"/>
                  <a:ea typeface="JetBrains Mono NL" panose="02000009000000000000" pitchFamily="49" charset="0"/>
                  <a:cs typeface="JetBrains Mono NL" panose="02000009000000000000" pitchFamily="49" charset="0"/>
                </a:rPr>
                <a:t>Crd</a:t>
              </a:r>
              <a:endParaRPr kumimoji="1" lang="zh-CN" altLang="en-US" sz="2400" b="0" dirty="0">
                <a:solidFill>
                  <a:srgbClr val="666666"/>
                </a:solidFill>
                <a:latin typeface="JetBrains Mono NL" panose="02000009000000000000" pitchFamily="49" charset="0"/>
                <a:cs typeface="JetBrains Mono NL" panose="02000009000000000000" pitchFamily="49" charset="0"/>
              </a:endParaRPr>
            </a:p>
          </p:txBody>
        </p: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14925167-8338-7E66-EFBB-06936330DA7A}"/>
                </a:ext>
              </a:extLst>
            </p:cNvPr>
            <p:cNvSpPr txBox="1"/>
            <p:nvPr/>
          </p:nvSpPr>
          <p:spPr>
            <a:xfrm>
              <a:off x="493915" y="8588516"/>
              <a:ext cx="2388794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2600" b="0" dirty="0">
                  <a:solidFill>
                    <a:srgbClr val="444444"/>
                  </a:solidFill>
                  <a:latin typeface="JetBrains Mono NL" panose="02000009000000000000" pitchFamily="49" charset="0"/>
                  <a:ea typeface="JetBrains Mono NL" panose="02000009000000000000" pitchFamily="49" charset="0"/>
                  <a:cs typeface="JetBrains Mono NL" panose="02000009000000000000" pitchFamily="49" charset="0"/>
                </a:rPr>
                <a:t>Producer</a:t>
              </a:r>
              <a:r>
                <a:rPr kumimoji="1" lang="zh-CN" altLang="en-US" sz="2600" b="0" dirty="0">
                  <a:solidFill>
                    <a:srgbClr val="444444"/>
                  </a:solidFill>
                  <a:latin typeface="JetBrains Mono NL" panose="02000009000000000000" pitchFamily="49" charset="0"/>
                  <a:cs typeface="JetBrains Mono NL" panose="02000009000000000000" pitchFamily="49" charset="0"/>
                </a:rPr>
                <a:t> </a:t>
              </a:r>
              <a:r>
                <a:rPr kumimoji="1" lang="en-US" altLang="zh-CN" sz="2600" b="0" dirty="0">
                  <a:solidFill>
                    <a:srgbClr val="444444"/>
                  </a:solidFill>
                  <a:latin typeface="JetBrains Mono NL" panose="02000009000000000000" pitchFamily="49" charset="0"/>
                  <a:ea typeface="JetBrains Mono NL" panose="02000009000000000000" pitchFamily="49" charset="0"/>
                  <a:cs typeface="JetBrains Mono NL" panose="02000009000000000000" pitchFamily="49" charset="0"/>
                </a:rPr>
                <a:t>WG</a:t>
              </a:r>
              <a:endParaRPr kumimoji="1" lang="zh-CN" altLang="en-US" sz="2600" b="0" dirty="0">
                <a:solidFill>
                  <a:srgbClr val="444444"/>
                </a:solidFill>
                <a:latin typeface="JetBrains Mono NL" panose="02000009000000000000" pitchFamily="49" charset="0"/>
                <a:cs typeface="JetBrains Mono NL" panose="02000009000000000000" pitchFamily="49" charset="0"/>
              </a:endParaRPr>
            </a:p>
          </p:txBody>
        </p: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F67E0ACF-43AC-8C22-F582-7B1FE811A400}"/>
                </a:ext>
              </a:extLst>
            </p:cNvPr>
            <p:cNvSpPr txBox="1"/>
            <p:nvPr/>
          </p:nvSpPr>
          <p:spPr>
            <a:xfrm>
              <a:off x="493915" y="9807710"/>
              <a:ext cx="2388794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2600" b="0" dirty="0">
                  <a:solidFill>
                    <a:srgbClr val="444444"/>
                  </a:solidFill>
                  <a:latin typeface="JetBrains Mono NL" panose="02000009000000000000" pitchFamily="49" charset="0"/>
                  <a:ea typeface="JetBrains Mono NL" panose="02000009000000000000" pitchFamily="49" charset="0"/>
                  <a:cs typeface="JetBrains Mono NL" panose="02000009000000000000" pitchFamily="49" charset="0"/>
                </a:rPr>
                <a:t>Consumer</a:t>
              </a:r>
              <a:r>
                <a:rPr kumimoji="1" lang="zh-CN" altLang="en-US" sz="2600" b="0" dirty="0">
                  <a:solidFill>
                    <a:srgbClr val="444444"/>
                  </a:solidFill>
                  <a:latin typeface="JetBrains Mono NL" panose="02000009000000000000" pitchFamily="49" charset="0"/>
                  <a:cs typeface="JetBrains Mono NL" panose="02000009000000000000" pitchFamily="49" charset="0"/>
                </a:rPr>
                <a:t> </a:t>
              </a:r>
              <a:r>
                <a:rPr kumimoji="1" lang="en-US" altLang="zh-CN" sz="2600" b="0" dirty="0">
                  <a:solidFill>
                    <a:srgbClr val="444444"/>
                  </a:solidFill>
                  <a:latin typeface="JetBrains Mono NL" panose="02000009000000000000" pitchFamily="49" charset="0"/>
                  <a:ea typeface="JetBrains Mono NL" panose="02000009000000000000" pitchFamily="49" charset="0"/>
                  <a:cs typeface="JetBrains Mono NL" panose="02000009000000000000" pitchFamily="49" charset="0"/>
                </a:rPr>
                <a:t>WG</a:t>
              </a:r>
              <a:endParaRPr kumimoji="1" lang="zh-CN" altLang="en-US" sz="2600" b="0" dirty="0">
                <a:solidFill>
                  <a:srgbClr val="444444"/>
                </a:solidFill>
                <a:latin typeface="JetBrains Mono NL" panose="02000009000000000000" pitchFamily="49" charset="0"/>
                <a:cs typeface="JetBrains Mono NL" panose="02000009000000000000" pitchFamily="49" charset="0"/>
              </a:endParaRP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D1E581B6-8357-F191-8D45-BF830F4A08E6}"/>
                </a:ext>
              </a:extLst>
            </p:cNvPr>
            <p:cNvSpPr txBox="1"/>
            <p:nvPr/>
          </p:nvSpPr>
          <p:spPr>
            <a:xfrm>
              <a:off x="493915" y="11026904"/>
              <a:ext cx="2388794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2600" b="0" dirty="0">
                  <a:solidFill>
                    <a:srgbClr val="444444"/>
                  </a:solidFill>
                  <a:latin typeface="JetBrains Mono NL" panose="02000009000000000000" pitchFamily="49" charset="0"/>
                  <a:ea typeface="JetBrains Mono NL" panose="02000009000000000000" pitchFamily="49" charset="0"/>
                  <a:cs typeface="JetBrains Mono NL" panose="02000009000000000000" pitchFamily="49" charset="0"/>
                </a:rPr>
                <a:t>Consumer</a:t>
              </a:r>
              <a:r>
                <a:rPr kumimoji="1" lang="zh-CN" altLang="en-US" sz="2600" b="0" dirty="0">
                  <a:solidFill>
                    <a:srgbClr val="444444"/>
                  </a:solidFill>
                  <a:latin typeface="JetBrains Mono NL" panose="02000009000000000000" pitchFamily="49" charset="0"/>
                  <a:cs typeface="JetBrains Mono NL" panose="02000009000000000000" pitchFamily="49" charset="0"/>
                </a:rPr>
                <a:t> </a:t>
              </a:r>
              <a:r>
                <a:rPr kumimoji="1" lang="en-US" altLang="zh-CN" sz="2600" b="0" dirty="0">
                  <a:solidFill>
                    <a:srgbClr val="444444"/>
                  </a:solidFill>
                  <a:latin typeface="JetBrains Mono NL" panose="02000009000000000000" pitchFamily="49" charset="0"/>
                  <a:ea typeface="JetBrains Mono NL" panose="02000009000000000000" pitchFamily="49" charset="0"/>
                  <a:cs typeface="JetBrains Mono NL" panose="02000009000000000000" pitchFamily="49" charset="0"/>
                </a:rPr>
                <a:t>WG</a:t>
              </a:r>
              <a:endParaRPr kumimoji="1" lang="zh-CN" altLang="en-US" sz="2600" b="0" dirty="0">
                <a:solidFill>
                  <a:srgbClr val="444444"/>
                </a:solidFill>
                <a:latin typeface="JetBrains Mono NL" panose="02000009000000000000" pitchFamily="49" charset="0"/>
                <a:cs typeface="JetBrains Mono NL" panose="02000009000000000000" pitchFamily="49" charset="0"/>
              </a:endParaRPr>
            </a:p>
          </p:txBody>
        </p:sp>
        <p:cxnSp>
          <p:nvCxnSpPr>
            <p:cNvPr id="57" name="直线连接符 56">
              <a:extLst>
                <a:ext uri="{FF2B5EF4-FFF2-40B4-BE49-F238E27FC236}">
                  <a16:creationId xmlns:a16="http://schemas.microsoft.com/office/drawing/2014/main" id="{E72331C5-3A66-46EE-9A88-C0C63AB8F0D9}"/>
                </a:ext>
              </a:extLst>
            </p:cNvPr>
            <p:cNvCxnSpPr>
              <a:cxnSpLocks/>
            </p:cNvCxnSpPr>
            <p:nvPr/>
          </p:nvCxnSpPr>
          <p:spPr>
            <a:xfrm>
              <a:off x="3124018" y="8501763"/>
              <a:ext cx="0" cy="3189248"/>
            </a:xfrm>
            <a:prstGeom prst="line">
              <a:avLst/>
            </a:prstGeom>
            <a:ln w="12700">
              <a:solidFill>
                <a:srgbClr val="666666"/>
              </a:solidFill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D520E1EA-0C7C-4960-8B9A-4F5DF75886A3}"/>
                </a:ext>
              </a:extLst>
            </p:cNvPr>
            <p:cNvSpPr txBox="1"/>
            <p:nvPr/>
          </p:nvSpPr>
          <p:spPr>
            <a:xfrm>
              <a:off x="23540444" y="10370175"/>
              <a:ext cx="64633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2000" b="0" dirty="0">
                  <a:solidFill>
                    <a:srgbClr val="444444"/>
                  </a:solidFill>
                  <a:latin typeface="JetBrains Mono NL" panose="02000009000000000000" pitchFamily="49" charset="0"/>
                  <a:ea typeface="JetBrains Mono NL" panose="02000009000000000000" pitchFamily="49" charset="0"/>
                  <a:cs typeface="JetBrains Mono NL" panose="02000009000000000000" pitchFamily="49" charset="0"/>
                </a:rPr>
                <a:t>...</a:t>
              </a:r>
              <a:endParaRPr kumimoji="1" lang="zh-CN" altLang="en-US" sz="2000" b="0" dirty="0">
                <a:solidFill>
                  <a:srgbClr val="444444"/>
                </a:solidFill>
                <a:latin typeface="JetBrains Mono NL" panose="02000009000000000000" pitchFamily="49" charset="0"/>
                <a:cs typeface="JetBrains Mono NL" panose="02000009000000000000" pitchFamily="49" charset="0"/>
              </a:endParaRPr>
            </a:p>
          </p:txBody>
        </p: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C5E1AEBA-E863-8918-3048-582B0523675C}"/>
                </a:ext>
              </a:extLst>
            </p:cNvPr>
            <p:cNvSpPr txBox="1"/>
            <p:nvPr/>
          </p:nvSpPr>
          <p:spPr>
            <a:xfrm>
              <a:off x="18150687" y="8588516"/>
              <a:ext cx="64633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2000" b="0" dirty="0">
                  <a:solidFill>
                    <a:srgbClr val="444444"/>
                  </a:solidFill>
                  <a:latin typeface="JetBrains Mono NL" panose="02000009000000000000" pitchFamily="49" charset="0"/>
                  <a:ea typeface="JetBrains Mono NL" panose="02000009000000000000" pitchFamily="49" charset="0"/>
                  <a:cs typeface="JetBrains Mono NL" panose="02000009000000000000" pitchFamily="49" charset="0"/>
                </a:rPr>
                <a:t>...</a:t>
              </a:r>
              <a:endParaRPr kumimoji="1" lang="zh-CN" altLang="en-US" sz="2000" b="0" dirty="0">
                <a:solidFill>
                  <a:srgbClr val="444444"/>
                </a:solidFill>
                <a:latin typeface="JetBrains Mono NL" panose="02000009000000000000" pitchFamily="49" charset="0"/>
                <a:cs typeface="JetBrains Mono NL" panose="02000009000000000000" pitchFamily="49" charset="0"/>
              </a:endParaRPr>
            </a:p>
          </p:txBody>
        </p:sp>
        <p:sp>
          <p:nvSpPr>
            <p:cNvPr id="66" name="圆角矩形 65">
              <a:extLst>
                <a:ext uri="{FF2B5EF4-FFF2-40B4-BE49-F238E27FC236}">
                  <a16:creationId xmlns:a16="http://schemas.microsoft.com/office/drawing/2014/main" id="{EA6BF0E7-3325-B609-071F-09454EF79FF6}"/>
                </a:ext>
              </a:extLst>
            </p:cNvPr>
            <p:cNvSpPr/>
            <p:nvPr/>
          </p:nvSpPr>
          <p:spPr>
            <a:xfrm>
              <a:off x="13203045" y="8506962"/>
              <a:ext cx="1918010" cy="758282"/>
            </a:xfrm>
            <a:prstGeom prst="roundRect">
              <a:avLst/>
            </a:prstGeom>
            <a:solidFill>
              <a:srgbClr val="FFF2CC"/>
            </a:solidFill>
            <a:ln>
              <a:solidFill>
                <a:srgbClr val="55555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400" b="0" dirty="0">
                  <a:solidFill>
                    <a:srgbClr val="666666"/>
                  </a:solidFill>
                  <a:latin typeface="JetBrains Mono NL" panose="02000009000000000000" pitchFamily="49" charset="0"/>
                  <a:ea typeface="JetBrains Mono NL" panose="02000009000000000000" pitchFamily="49" charset="0"/>
                  <a:cs typeface="JetBrains Mono NL" panose="02000009000000000000" pitchFamily="49" charset="0"/>
                </a:rPr>
                <a:t>TMA</a:t>
              </a:r>
              <a:r>
                <a:rPr kumimoji="1" lang="zh-CN" altLang="en-US" sz="2400" b="0" dirty="0">
                  <a:solidFill>
                    <a:srgbClr val="666666"/>
                  </a:solidFill>
                  <a:latin typeface="JetBrains Mono NL" panose="02000009000000000000" pitchFamily="49" charset="0"/>
                  <a:cs typeface="JetBrains Mono NL" panose="02000009000000000000" pitchFamily="49" charset="0"/>
                </a:rPr>
                <a:t> </a:t>
              </a:r>
              <a:r>
                <a:rPr kumimoji="1" lang="en-US" altLang="zh-CN" sz="2400" b="0" dirty="0">
                  <a:solidFill>
                    <a:srgbClr val="666666"/>
                  </a:solidFill>
                  <a:latin typeface="JetBrains Mono NL" panose="02000009000000000000" pitchFamily="49" charset="0"/>
                  <a:ea typeface="JetBrains Mono NL" panose="02000009000000000000" pitchFamily="49" charset="0"/>
                  <a:cs typeface="JetBrains Mono NL" panose="02000009000000000000" pitchFamily="49" charset="0"/>
                </a:rPr>
                <a:t>Load</a:t>
              </a:r>
              <a:endParaRPr kumimoji="1" lang="zh-CN" altLang="en-US" sz="2400" b="0" dirty="0">
                <a:solidFill>
                  <a:srgbClr val="666666"/>
                </a:solidFill>
                <a:latin typeface="JetBrains Mono NL" panose="02000009000000000000" pitchFamily="49" charset="0"/>
                <a:cs typeface="JetBrains Mono NL" panose="02000009000000000000" pitchFamily="49" charset="0"/>
              </a:endParaRPr>
            </a:p>
          </p:txBody>
        </p:sp>
        <p:sp>
          <p:nvSpPr>
            <p:cNvPr id="67" name="圆角矩形 66">
              <a:extLst>
                <a:ext uri="{FF2B5EF4-FFF2-40B4-BE49-F238E27FC236}">
                  <a16:creationId xmlns:a16="http://schemas.microsoft.com/office/drawing/2014/main" id="{26AE2B41-DB21-8634-7BF1-30D6A3E4EA6C}"/>
                </a:ext>
              </a:extLst>
            </p:cNvPr>
            <p:cNvSpPr/>
            <p:nvPr/>
          </p:nvSpPr>
          <p:spPr>
            <a:xfrm>
              <a:off x="15634011" y="8493284"/>
              <a:ext cx="1918010" cy="758282"/>
            </a:xfrm>
            <a:prstGeom prst="roundRect">
              <a:avLst/>
            </a:prstGeom>
            <a:solidFill>
              <a:srgbClr val="FFF2CC"/>
            </a:solidFill>
            <a:ln>
              <a:solidFill>
                <a:srgbClr val="55555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400" b="0" dirty="0">
                  <a:solidFill>
                    <a:srgbClr val="666666"/>
                  </a:solidFill>
                  <a:latin typeface="JetBrains Mono NL" panose="02000009000000000000" pitchFamily="49" charset="0"/>
                  <a:ea typeface="JetBrains Mono NL" panose="02000009000000000000" pitchFamily="49" charset="0"/>
                  <a:cs typeface="JetBrains Mono NL" panose="02000009000000000000" pitchFamily="49" charset="0"/>
                </a:rPr>
                <a:t>TMA</a:t>
              </a:r>
              <a:r>
                <a:rPr kumimoji="1" lang="zh-CN" altLang="en-US" sz="2400" b="0" dirty="0">
                  <a:solidFill>
                    <a:srgbClr val="666666"/>
                  </a:solidFill>
                  <a:latin typeface="JetBrains Mono NL" panose="02000009000000000000" pitchFamily="49" charset="0"/>
                  <a:cs typeface="JetBrains Mono NL" panose="02000009000000000000" pitchFamily="49" charset="0"/>
                </a:rPr>
                <a:t> </a:t>
              </a:r>
              <a:r>
                <a:rPr kumimoji="1" lang="en-US" altLang="zh-CN" sz="2400" b="0" dirty="0">
                  <a:solidFill>
                    <a:srgbClr val="666666"/>
                  </a:solidFill>
                  <a:latin typeface="JetBrains Mono NL" panose="02000009000000000000" pitchFamily="49" charset="0"/>
                  <a:ea typeface="JetBrains Mono NL" panose="02000009000000000000" pitchFamily="49" charset="0"/>
                  <a:cs typeface="JetBrains Mono NL" panose="02000009000000000000" pitchFamily="49" charset="0"/>
                </a:rPr>
                <a:t>Load</a:t>
              </a:r>
              <a:endParaRPr kumimoji="1" lang="zh-CN" altLang="en-US" sz="2400" b="0" dirty="0">
                <a:solidFill>
                  <a:srgbClr val="666666"/>
                </a:solidFill>
                <a:latin typeface="JetBrains Mono NL" panose="02000009000000000000" pitchFamily="49" charset="0"/>
                <a:cs typeface="JetBrains Mono NL" panose="02000009000000000000" pitchFamily="49" charset="0"/>
              </a:endParaRPr>
            </a:p>
          </p:txBody>
        </p:sp>
      </p:grpSp>
      <p:sp>
        <p:nvSpPr>
          <p:cNvPr id="71" name="圆角矩形 70">
            <a:extLst>
              <a:ext uri="{FF2B5EF4-FFF2-40B4-BE49-F238E27FC236}">
                <a16:creationId xmlns:a16="http://schemas.microsoft.com/office/drawing/2014/main" id="{74D573F6-0C3A-727B-0BCE-70A9744B5200}"/>
              </a:ext>
            </a:extLst>
          </p:cNvPr>
          <p:cNvSpPr/>
          <p:nvPr/>
        </p:nvSpPr>
        <p:spPr>
          <a:xfrm>
            <a:off x="20605550" y="10363411"/>
            <a:ext cx="2787804" cy="758282"/>
          </a:xfrm>
          <a:prstGeom prst="roundRect">
            <a:avLst/>
          </a:prstGeom>
          <a:solidFill>
            <a:srgbClr val="F8CECC"/>
          </a:solidFill>
          <a:ln>
            <a:solidFill>
              <a:srgbClr val="5555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b="0" dirty="0">
                <a:solidFill>
                  <a:srgbClr val="66666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Store</a:t>
            </a:r>
            <a:endParaRPr kumimoji="1" lang="zh-CN" altLang="en-US" sz="2400" b="0" dirty="0">
              <a:solidFill>
                <a:srgbClr val="666666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72" name="圆角矩形 71">
            <a:extLst>
              <a:ext uri="{FF2B5EF4-FFF2-40B4-BE49-F238E27FC236}">
                <a16:creationId xmlns:a16="http://schemas.microsoft.com/office/drawing/2014/main" id="{4E2E009B-EFB7-3303-2E05-2465F1E9A672}"/>
              </a:ext>
            </a:extLst>
          </p:cNvPr>
          <p:cNvSpPr/>
          <p:nvPr/>
        </p:nvSpPr>
        <p:spPr>
          <a:xfrm>
            <a:off x="19341743" y="10372631"/>
            <a:ext cx="1033350" cy="758282"/>
          </a:xfrm>
          <a:prstGeom prst="roundRect">
            <a:avLst/>
          </a:prstGeom>
          <a:solidFill>
            <a:srgbClr val="FFE6CC"/>
          </a:solidFill>
          <a:ln>
            <a:solidFill>
              <a:srgbClr val="5555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b="0" dirty="0" err="1">
                <a:solidFill>
                  <a:srgbClr val="66666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Crd</a:t>
            </a:r>
            <a:endParaRPr kumimoji="1" lang="zh-CN" altLang="en-US" sz="2400" b="0" dirty="0">
              <a:solidFill>
                <a:srgbClr val="666666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cxnSp>
        <p:nvCxnSpPr>
          <p:cNvPr id="74" name="直线连接符 73">
            <a:extLst>
              <a:ext uri="{FF2B5EF4-FFF2-40B4-BE49-F238E27FC236}">
                <a16:creationId xmlns:a16="http://schemas.microsoft.com/office/drawing/2014/main" id="{C4B00090-4E9A-3FFF-1239-4FB5A395E2ED}"/>
              </a:ext>
            </a:extLst>
          </p:cNvPr>
          <p:cNvCxnSpPr>
            <a:cxnSpLocks/>
          </p:cNvCxnSpPr>
          <p:nvPr/>
        </p:nvCxnSpPr>
        <p:spPr>
          <a:xfrm flipV="1">
            <a:off x="345570" y="7142644"/>
            <a:ext cx="23692860" cy="48821"/>
          </a:xfrm>
          <a:prstGeom prst="line">
            <a:avLst/>
          </a:prstGeom>
          <a:noFill/>
          <a:ln w="25400" cap="flat">
            <a:solidFill>
              <a:srgbClr val="666666"/>
            </a:solidFill>
            <a:prstDash val="dash"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sp>
        <p:nvSpPr>
          <p:cNvPr id="78" name="空白页面，自由制作">
            <a:extLst>
              <a:ext uri="{FF2B5EF4-FFF2-40B4-BE49-F238E27FC236}">
                <a16:creationId xmlns:a16="http://schemas.microsoft.com/office/drawing/2014/main" id="{7D33CEBE-757B-684E-5E23-C969B887059D}"/>
              </a:ext>
            </a:extLst>
          </p:cNvPr>
          <p:cNvSpPr txBox="1"/>
          <p:nvPr/>
        </p:nvSpPr>
        <p:spPr>
          <a:xfrm>
            <a:off x="11741543" y="6383963"/>
            <a:ext cx="2085970" cy="605934"/>
          </a:xfrm>
          <a:prstGeom prst="rect">
            <a:avLst/>
          </a:prstGeom>
          <a:ln w="12700">
            <a:miter lim="400000"/>
          </a:ln>
        </p:spPr>
        <p:txBody>
          <a:bodyPr wrap="square" lIns="71437" tIns="71437" rIns="71437" bIns="71437" anchor="ctr">
            <a:spAutoFit/>
          </a:bodyPr>
          <a:lstStyle>
            <a:lvl1pPr>
              <a:defRPr sz="6000" b="0">
                <a:solidFill>
                  <a:srgbClr val="6C6C6C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pPr algn="l"/>
            <a:r>
              <a:rPr lang="en-US" sz="3000" b="1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PingPong</a:t>
            </a:r>
            <a:r>
              <a:rPr lang="en-US" sz="3000" b="1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endParaRPr sz="3000" b="1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79" name="空白页面，自由制作">
            <a:extLst>
              <a:ext uri="{FF2B5EF4-FFF2-40B4-BE49-F238E27FC236}">
                <a16:creationId xmlns:a16="http://schemas.microsoft.com/office/drawing/2014/main" id="{BFE91B47-6414-E5AB-33E9-5379400ECE52}"/>
              </a:ext>
            </a:extLst>
          </p:cNvPr>
          <p:cNvSpPr txBox="1"/>
          <p:nvPr/>
        </p:nvSpPr>
        <p:spPr>
          <a:xfrm>
            <a:off x="11428099" y="11531941"/>
            <a:ext cx="2787803" cy="605934"/>
          </a:xfrm>
          <a:prstGeom prst="rect">
            <a:avLst/>
          </a:prstGeom>
          <a:ln w="12700">
            <a:miter lim="400000"/>
          </a:ln>
        </p:spPr>
        <p:txBody>
          <a:bodyPr wrap="square" lIns="71437" tIns="71437" rIns="71437" bIns="71437" anchor="ctr">
            <a:spAutoFit/>
          </a:bodyPr>
          <a:lstStyle>
            <a:lvl1pPr>
              <a:defRPr sz="6000" b="0">
                <a:solidFill>
                  <a:srgbClr val="6C6C6C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pPr algn="l"/>
            <a:r>
              <a:rPr lang="en-US" sz="3000" b="1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Cooperative</a:t>
            </a:r>
            <a:endParaRPr sz="3000" b="1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3" name="空白页面，自由制作">
            <a:extLst>
              <a:ext uri="{FF2B5EF4-FFF2-40B4-BE49-F238E27FC236}">
                <a16:creationId xmlns:a16="http://schemas.microsoft.com/office/drawing/2014/main" id="{EAEA0D49-62A3-0AF4-85AB-E825BDA481A1}"/>
              </a:ext>
            </a:extLst>
          </p:cNvPr>
          <p:cNvSpPr txBox="1"/>
          <p:nvPr/>
        </p:nvSpPr>
        <p:spPr>
          <a:xfrm>
            <a:off x="3781851" y="5632405"/>
            <a:ext cx="5077745" cy="1298431"/>
          </a:xfrm>
          <a:prstGeom prst="rect">
            <a:avLst/>
          </a:prstGeom>
          <a:ln w="12700">
            <a:miter lim="400000"/>
          </a:ln>
        </p:spPr>
        <p:txBody>
          <a:bodyPr wrap="square" lIns="71437" tIns="71437" rIns="71437" bIns="71437" anchor="ctr">
            <a:spAutoFit/>
          </a:bodyPr>
          <a:lstStyle>
            <a:lvl1pPr>
              <a:defRPr sz="6000" b="0">
                <a:solidFill>
                  <a:srgbClr val="6C6C6C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pPr marL="342900" indent="-342900" algn="l">
              <a:buFontTx/>
              <a:buChar char="-"/>
            </a:pPr>
            <a:r>
              <a:rPr lang="en-US" sz="2500" b="1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Epilogue较长时选用</a:t>
            </a:r>
            <a:endParaRPr lang="en-US" sz="2500" b="1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pPr marL="342900" indent="-342900" algn="l">
              <a:buFontTx/>
              <a:buChar char="-"/>
            </a:pPr>
            <a:endParaRPr lang="en-US" sz="2500" b="1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pPr marL="342900" indent="-342900" algn="l">
              <a:buFontTx/>
              <a:buChar char="-"/>
            </a:pPr>
            <a:r>
              <a:rPr lang="en-US" sz="2500" b="1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有同步开销</a:t>
            </a:r>
            <a:r>
              <a:rPr lang="zh-CN" altLang="en-US" sz="2500" b="1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，</a:t>
            </a:r>
            <a:r>
              <a:rPr lang="en-US" altLang="zh-CN" sz="2500" b="1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MMA</a:t>
            </a:r>
            <a:r>
              <a:rPr lang="zh-CN" altLang="en-US" sz="2500" b="1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r>
              <a:rPr lang="en-US" altLang="zh-CN" sz="2500" b="1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Tile</a:t>
            </a:r>
            <a:r>
              <a:rPr lang="zh-CN" altLang="en-US" sz="2500" b="1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更小</a:t>
            </a:r>
            <a:endParaRPr sz="2500" b="1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5" name="空白页面，自由制作">
            <a:extLst>
              <a:ext uri="{FF2B5EF4-FFF2-40B4-BE49-F238E27FC236}">
                <a16:creationId xmlns:a16="http://schemas.microsoft.com/office/drawing/2014/main" id="{406FB905-9658-4C0D-6920-733BA538C6A9}"/>
              </a:ext>
            </a:extLst>
          </p:cNvPr>
          <p:cNvSpPr txBox="1"/>
          <p:nvPr/>
        </p:nvSpPr>
        <p:spPr>
          <a:xfrm>
            <a:off x="3388922" y="11916661"/>
            <a:ext cx="6718275" cy="528990"/>
          </a:xfrm>
          <a:prstGeom prst="rect">
            <a:avLst/>
          </a:prstGeom>
          <a:ln w="12700">
            <a:miter lim="400000"/>
          </a:ln>
        </p:spPr>
        <p:txBody>
          <a:bodyPr wrap="square" lIns="71437" tIns="71437" rIns="71437" bIns="71437" anchor="ctr">
            <a:spAutoFit/>
          </a:bodyPr>
          <a:lstStyle>
            <a:lvl1pPr>
              <a:defRPr sz="6000" b="0">
                <a:solidFill>
                  <a:srgbClr val="6C6C6C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pPr marL="342900" indent="-342900" algn="l">
              <a:buFontTx/>
              <a:buChar char="-"/>
            </a:pPr>
            <a:r>
              <a:rPr lang="en-US" sz="2500" b="1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Optimal MMA Tile: m64n256k16</a:t>
            </a:r>
            <a:endParaRPr sz="2500" b="1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3738016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D3537B-A589-300F-1504-080D838DA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空白页面，自由制作">
            <a:extLst>
              <a:ext uri="{FF2B5EF4-FFF2-40B4-BE49-F238E27FC236}">
                <a16:creationId xmlns:a16="http://schemas.microsoft.com/office/drawing/2014/main" id="{7E0621F0-CE78-D2F0-A310-21D291F61733}"/>
              </a:ext>
            </a:extLst>
          </p:cNvPr>
          <p:cNvSpPr txBox="1"/>
          <p:nvPr/>
        </p:nvSpPr>
        <p:spPr>
          <a:xfrm>
            <a:off x="882104" y="590745"/>
            <a:ext cx="9262559" cy="913711"/>
          </a:xfrm>
          <a:prstGeom prst="rect">
            <a:avLst/>
          </a:prstGeom>
          <a:ln w="12700">
            <a:miter lim="400000"/>
          </a:ln>
        </p:spPr>
        <p:txBody>
          <a:bodyPr wrap="square" lIns="71437" tIns="71437" rIns="71437" bIns="71437" anchor="ctr">
            <a:spAutoFit/>
          </a:bodyPr>
          <a:lstStyle>
            <a:lvl1pPr>
              <a:defRPr sz="6000" b="0">
                <a:solidFill>
                  <a:srgbClr val="6C6C6C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pPr algn="l"/>
            <a:r>
              <a:rPr lang="en-US" sz="50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PingPong</a:t>
            </a:r>
            <a:r>
              <a:rPr lang="en-US" sz="50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vs Cooperative</a:t>
            </a:r>
            <a:endParaRPr sz="50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pic>
        <p:nvPicPr>
          <p:cNvPr id="3074" name="Picture 2" descr="Pingpong Schedule并不是万能钥匙">
            <a:extLst>
              <a:ext uri="{FF2B5EF4-FFF2-40B4-BE49-F238E27FC236}">
                <a16:creationId xmlns:a16="http://schemas.microsoft.com/office/drawing/2014/main" id="{B4591D31-EBFF-1BB2-DA2C-7DE4853080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104" y="2198727"/>
            <a:ext cx="12368842" cy="11392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矩形 35">
            <a:extLst>
              <a:ext uri="{FF2B5EF4-FFF2-40B4-BE49-F238E27FC236}">
                <a16:creationId xmlns:a16="http://schemas.microsoft.com/office/drawing/2014/main" id="{83D6D322-4C9C-84CD-A0C9-FDC47EE0A70F}"/>
              </a:ext>
            </a:extLst>
          </p:cNvPr>
          <p:cNvSpPr/>
          <p:nvPr/>
        </p:nvSpPr>
        <p:spPr>
          <a:xfrm>
            <a:off x="15441283" y="3597217"/>
            <a:ext cx="2398143" cy="1509622"/>
          </a:xfrm>
          <a:prstGeom prst="rect">
            <a:avLst/>
          </a:prstGeom>
          <a:solidFill>
            <a:srgbClr val="E1FEC4"/>
          </a:solidFill>
          <a:ln w="19050" cap="flat">
            <a:solidFill>
              <a:srgbClr val="666666"/>
            </a:solidFill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05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 panose="02000503000000020004"/>
            </a:endParaRPr>
          </a:p>
        </p:txBody>
      </p:sp>
      <p:sp>
        <p:nvSpPr>
          <p:cNvPr id="38" name="左大括号 37">
            <a:extLst>
              <a:ext uri="{FF2B5EF4-FFF2-40B4-BE49-F238E27FC236}">
                <a16:creationId xmlns:a16="http://schemas.microsoft.com/office/drawing/2014/main" id="{963387BF-B4F1-3CC9-A890-C068D6C48A01}"/>
              </a:ext>
            </a:extLst>
          </p:cNvPr>
          <p:cNvSpPr/>
          <p:nvPr/>
        </p:nvSpPr>
        <p:spPr>
          <a:xfrm>
            <a:off x="14871940" y="3597217"/>
            <a:ext cx="414067" cy="1509622"/>
          </a:xfrm>
          <a:prstGeom prst="leftBrace">
            <a:avLst/>
          </a:prstGeom>
          <a:solidFill>
            <a:schemeClr val="tx1"/>
          </a:solidFill>
          <a:ln w="25400" cap="flat">
            <a:solidFill>
              <a:srgbClr val="666666"/>
            </a:solidFill>
            <a:prstDash val="solid"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58" name="左大括号 57">
            <a:extLst>
              <a:ext uri="{FF2B5EF4-FFF2-40B4-BE49-F238E27FC236}">
                <a16:creationId xmlns:a16="http://schemas.microsoft.com/office/drawing/2014/main" id="{88E54F5E-CFDA-4196-344B-00366DF665C2}"/>
              </a:ext>
            </a:extLst>
          </p:cNvPr>
          <p:cNvSpPr/>
          <p:nvPr/>
        </p:nvSpPr>
        <p:spPr>
          <a:xfrm rot="5400000">
            <a:off x="16432602" y="2062436"/>
            <a:ext cx="415504" cy="2398142"/>
          </a:xfrm>
          <a:prstGeom prst="leftBrace">
            <a:avLst/>
          </a:prstGeom>
          <a:solidFill>
            <a:schemeClr val="tx1"/>
          </a:solidFill>
          <a:ln w="25400" cap="flat">
            <a:solidFill>
              <a:srgbClr val="666666"/>
            </a:solidFill>
            <a:prstDash val="solid"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60" name="空白页面，自由制作">
            <a:extLst>
              <a:ext uri="{FF2B5EF4-FFF2-40B4-BE49-F238E27FC236}">
                <a16:creationId xmlns:a16="http://schemas.microsoft.com/office/drawing/2014/main" id="{8B886996-10B5-440B-3ED5-8E9A36EEB543}"/>
              </a:ext>
            </a:extLst>
          </p:cNvPr>
          <p:cNvSpPr txBox="1"/>
          <p:nvPr/>
        </p:nvSpPr>
        <p:spPr>
          <a:xfrm>
            <a:off x="16330228" y="2601709"/>
            <a:ext cx="620252" cy="452046"/>
          </a:xfrm>
          <a:prstGeom prst="rect">
            <a:avLst/>
          </a:prstGeom>
          <a:ln w="12700">
            <a:miter lim="400000"/>
          </a:ln>
        </p:spPr>
        <p:txBody>
          <a:bodyPr wrap="square" lIns="71437" tIns="71437" rIns="71437" bIns="71437" anchor="ctr">
            <a:spAutoFit/>
          </a:bodyPr>
          <a:lstStyle>
            <a:lvl1pPr>
              <a:defRPr sz="6000" b="0">
                <a:solidFill>
                  <a:srgbClr val="6C6C6C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pPr algn="l"/>
            <a:r>
              <a:rPr lang="en-US" sz="2000" b="1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192</a:t>
            </a:r>
            <a:endParaRPr sz="2000" b="1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1" name="空白页面，自由制作">
            <a:extLst>
              <a:ext uri="{FF2B5EF4-FFF2-40B4-BE49-F238E27FC236}">
                <a16:creationId xmlns:a16="http://schemas.microsoft.com/office/drawing/2014/main" id="{4DDE2034-47E6-CB60-58B4-7E9B4F0B93BE}"/>
              </a:ext>
            </a:extLst>
          </p:cNvPr>
          <p:cNvSpPr txBox="1"/>
          <p:nvPr/>
        </p:nvSpPr>
        <p:spPr>
          <a:xfrm>
            <a:off x="14251688" y="4126005"/>
            <a:ext cx="620252" cy="452046"/>
          </a:xfrm>
          <a:prstGeom prst="rect">
            <a:avLst/>
          </a:prstGeom>
          <a:ln w="12700">
            <a:miter lim="400000"/>
          </a:ln>
        </p:spPr>
        <p:txBody>
          <a:bodyPr wrap="square" lIns="71437" tIns="71437" rIns="71437" bIns="71437" anchor="ctr">
            <a:spAutoFit/>
          </a:bodyPr>
          <a:lstStyle>
            <a:lvl1pPr>
              <a:defRPr sz="6000" b="0">
                <a:solidFill>
                  <a:srgbClr val="6C6C6C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pPr algn="l"/>
            <a:r>
              <a:rPr lang="en-US" sz="2000" b="1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128</a:t>
            </a:r>
            <a:endParaRPr sz="2000" b="1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4" name="空白页面，自由制作">
            <a:extLst>
              <a:ext uri="{FF2B5EF4-FFF2-40B4-BE49-F238E27FC236}">
                <a16:creationId xmlns:a16="http://schemas.microsoft.com/office/drawing/2014/main" id="{AF57B2C6-27BF-1725-9DC1-6C392EB998EB}"/>
              </a:ext>
            </a:extLst>
          </p:cNvPr>
          <p:cNvSpPr txBox="1"/>
          <p:nvPr/>
        </p:nvSpPr>
        <p:spPr>
          <a:xfrm>
            <a:off x="18268721" y="4087533"/>
            <a:ext cx="3107536" cy="528990"/>
          </a:xfrm>
          <a:prstGeom prst="rect">
            <a:avLst/>
          </a:prstGeom>
          <a:ln w="12700">
            <a:miter lim="400000"/>
          </a:ln>
        </p:spPr>
        <p:txBody>
          <a:bodyPr wrap="square" lIns="71437" tIns="71437" rIns="71437" bIns="71437" anchor="ctr">
            <a:spAutoFit/>
          </a:bodyPr>
          <a:lstStyle>
            <a:lvl1pPr>
              <a:defRPr sz="6000" b="0">
                <a:solidFill>
                  <a:srgbClr val="6C6C6C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pPr algn="l"/>
            <a:r>
              <a:rPr lang="en-US" sz="25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Consumer WG 0/1</a:t>
            </a:r>
            <a:endParaRPr sz="25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379AF765-C3A0-7194-65C2-51A1DC05CB6B}"/>
              </a:ext>
            </a:extLst>
          </p:cNvPr>
          <p:cNvSpPr/>
          <p:nvPr/>
        </p:nvSpPr>
        <p:spPr>
          <a:xfrm>
            <a:off x="15441283" y="7849323"/>
            <a:ext cx="3107536" cy="796604"/>
          </a:xfrm>
          <a:prstGeom prst="rect">
            <a:avLst/>
          </a:prstGeom>
          <a:solidFill>
            <a:srgbClr val="E1FEC4"/>
          </a:solidFill>
          <a:ln w="19050" cap="flat">
            <a:solidFill>
              <a:srgbClr val="666666"/>
            </a:solidFill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05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 panose="02000503000000020004"/>
            </a:endParaRP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6F4C9FDA-7974-98CF-0635-B5856594EE45}"/>
              </a:ext>
            </a:extLst>
          </p:cNvPr>
          <p:cNvSpPr/>
          <p:nvPr/>
        </p:nvSpPr>
        <p:spPr>
          <a:xfrm>
            <a:off x="15441283" y="8645927"/>
            <a:ext cx="3107536" cy="796604"/>
          </a:xfrm>
          <a:prstGeom prst="rect">
            <a:avLst/>
          </a:prstGeom>
          <a:solidFill>
            <a:srgbClr val="E1FEC4"/>
          </a:solidFill>
          <a:ln w="19050" cap="flat">
            <a:solidFill>
              <a:srgbClr val="666666"/>
            </a:solidFill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05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 panose="02000503000000020004"/>
            </a:endParaRPr>
          </a:p>
        </p:txBody>
      </p:sp>
      <p:sp>
        <p:nvSpPr>
          <p:cNvPr id="69" name="左大括号 68">
            <a:extLst>
              <a:ext uri="{FF2B5EF4-FFF2-40B4-BE49-F238E27FC236}">
                <a16:creationId xmlns:a16="http://schemas.microsoft.com/office/drawing/2014/main" id="{A0902800-4B5B-7086-C81B-3B4A39A782A2}"/>
              </a:ext>
            </a:extLst>
          </p:cNvPr>
          <p:cNvSpPr/>
          <p:nvPr/>
        </p:nvSpPr>
        <p:spPr>
          <a:xfrm>
            <a:off x="14871939" y="7849323"/>
            <a:ext cx="414067" cy="796604"/>
          </a:xfrm>
          <a:prstGeom prst="leftBrace">
            <a:avLst/>
          </a:prstGeom>
          <a:solidFill>
            <a:schemeClr val="tx1"/>
          </a:solidFill>
          <a:ln w="25400" cap="flat">
            <a:solidFill>
              <a:srgbClr val="666666"/>
            </a:solidFill>
            <a:prstDash val="solid"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70" name="左大括号 69">
            <a:extLst>
              <a:ext uri="{FF2B5EF4-FFF2-40B4-BE49-F238E27FC236}">
                <a16:creationId xmlns:a16="http://schemas.microsoft.com/office/drawing/2014/main" id="{40A62768-85FD-B7EA-F06E-81AE735B0FD2}"/>
              </a:ext>
            </a:extLst>
          </p:cNvPr>
          <p:cNvSpPr/>
          <p:nvPr/>
        </p:nvSpPr>
        <p:spPr>
          <a:xfrm>
            <a:off x="14871938" y="8645927"/>
            <a:ext cx="414067" cy="796604"/>
          </a:xfrm>
          <a:prstGeom prst="leftBrace">
            <a:avLst/>
          </a:prstGeom>
          <a:solidFill>
            <a:schemeClr val="tx1"/>
          </a:solidFill>
          <a:ln w="25400" cap="flat">
            <a:solidFill>
              <a:srgbClr val="666666"/>
            </a:solidFill>
            <a:prstDash val="solid"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73" name="空白页面，自由制作">
            <a:extLst>
              <a:ext uri="{FF2B5EF4-FFF2-40B4-BE49-F238E27FC236}">
                <a16:creationId xmlns:a16="http://schemas.microsoft.com/office/drawing/2014/main" id="{6B9CE962-0684-EEE5-04E1-98A2546F4257}"/>
              </a:ext>
            </a:extLst>
          </p:cNvPr>
          <p:cNvSpPr txBox="1"/>
          <p:nvPr/>
        </p:nvSpPr>
        <p:spPr>
          <a:xfrm>
            <a:off x="14347853" y="8021602"/>
            <a:ext cx="620252" cy="452046"/>
          </a:xfrm>
          <a:prstGeom prst="rect">
            <a:avLst/>
          </a:prstGeom>
          <a:ln w="12700">
            <a:miter lim="400000"/>
          </a:ln>
        </p:spPr>
        <p:txBody>
          <a:bodyPr wrap="square" lIns="71437" tIns="71437" rIns="71437" bIns="71437" anchor="ctr">
            <a:spAutoFit/>
          </a:bodyPr>
          <a:lstStyle>
            <a:lvl1pPr>
              <a:defRPr sz="6000" b="0">
                <a:solidFill>
                  <a:srgbClr val="6C6C6C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pPr algn="l"/>
            <a:r>
              <a:rPr lang="en-US" sz="2000" b="1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64</a:t>
            </a:r>
            <a:endParaRPr sz="2000" b="1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75" name="空白页面，自由制作">
            <a:extLst>
              <a:ext uri="{FF2B5EF4-FFF2-40B4-BE49-F238E27FC236}">
                <a16:creationId xmlns:a16="http://schemas.microsoft.com/office/drawing/2014/main" id="{FF2DA303-03E2-990D-D751-AA6FB9F7C44E}"/>
              </a:ext>
            </a:extLst>
          </p:cNvPr>
          <p:cNvSpPr txBox="1"/>
          <p:nvPr/>
        </p:nvSpPr>
        <p:spPr>
          <a:xfrm>
            <a:off x="14347853" y="8818206"/>
            <a:ext cx="620252" cy="452046"/>
          </a:xfrm>
          <a:prstGeom prst="rect">
            <a:avLst/>
          </a:prstGeom>
          <a:ln w="12700">
            <a:miter lim="400000"/>
          </a:ln>
        </p:spPr>
        <p:txBody>
          <a:bodyPr wrap="square" lIns="71437" tIns="71437" rIns="71437" bIns="71437" anchor="ctr">
            <a:spAutoFit/>
          </a:bodyPr>
          <a:lstStyle>
            <a:lvl1pPr>
              <a:defRPr sz="6000" b="0">
                <a:solidFill>
                  <a:srgbClr val="6C6C6C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pPr algn="l"/>
            <a:r>
              <a:rPr lang="en-US" sz="2000" b="1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64</a:t>
            </a:r>
            <a:endParaRPr sz="2000" b="1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76" name="空白页面，自由制作">
            <a:extLst>
              <a:ext uri="{FF2B5EF4-FFF2-40B4-BE49-F238E27FC236}">
                <a16:creationId xmlns:a16="http://schemas.microsoft.com/office/drawing/2014/main" id="{C9E7CC54-555A-1F16-9ABC-72C715C4D338}"/>
              </a:ext>
            </a:extLst>
          </p:cNvPr>
          <p:cNvSpPr txBox="1"/>
          <p:nvPr/>
        </p:nvSpPr>
        <p:spPr>
          <a:xfrm>
            <a:off x="16684925" y="6826696"/>
            <a:ext cx="620252" cy="452046"/>
          </a:xfrm>
          <a:prstGeom prst="rect">
            <a:avLst/>
          </a:prstGeom>
          <a:ln w="12700">
            <a:miter lim="400000"/>
          </a:ln>
        </p:spPr>
        <p:txBody>
          <a:bodyPr wrap="square" lIns="71437" tIns="71437" rIns="71437" bIns="71437" anchor="ctr">
            <a:spAutoFit/>
          </a:bodyPr>
          <a:lstStyle>
            <a:lvl1pPr>
              <a:defRPr sz="6000" b="0">
                <a:solidFill>
                  <a:srgbClr val="6C6C6C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pPr algn="l"/>
            <a:r>
              <a:rPr lang="en-US" sz="2000" b="1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256</a:t>
            </a:r>
            <a:endParaRPr sz="2000" b="1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77" name="左大括号 76">
            <a:extLst>
              <a:ext uri="{FF2B5EF4-FFF2-40B4-BE49-F238E27FC236}">
                <a16:creationId xmlns:a16="http://schemas.microsoft.com/office/drawing/2014/main" id="{DD507D22-AB05-590B-0F19-9F5A6DD78CC1}"/>
              </a:ext>
            </a:extLst>
          </p:cNvPr>
          <p:cNvSpPr/>
          <p:nvPr/>
        </p:nvSpPr>
        <p:spPr>
          <a:xfrm rot="5400000">
            <a:off x="16787299" y="5942373"/>
            <a:ext cx="415504" cy="3107536"/>
          </a:xfrm>
          <a:prstGeom prst="leftBrace">
            <a:avLst/>
          </a:prstGeom>
          <a:solidFill>
            <a:schemeClr val="tx1"/>
          </a:solidFill>
          <a:ln w="25400" cap="flat">
            <a:solidFill>
              <a:srgbClr val="666666"/>
            </a:solidFill>
            <a:prstDash val="solid"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80" name="空白页面，自由制作">
            <a:extLst>
              <a:ext uri="{FF2B5EF4-FFF2-40B4-BE49-F238E27FC236}">
                <a16:creationId xmlns:a16="http://schemas.microsoft.com/office/drawing/2014/main" id="{7DA7D6FE-1F78-DD5B-9647-E61AF2C3153A}"/>
              </a:ext>
            </a:extLst>
          </p:cNvPr>
          <p:cNvSpPr txBox="1"/>
          <p:nvPr/>
        </p:nvSpPr>
        <p:spPr>
          <a:xfrm>
            <a:off x="19315201" y="7944658"/>
            <a:ext cx="2833599" cy="528990"/>
          </a:xfrm>
          <a:prstGeom prst="rect">
            <a:avLst/>
          </a:prstGeom>
          <a:ln w="12700">
            <a:miter lim="400000"/>
          </a:ln>
        </p:spPr>
        <p:txBody>
          <a:bodyPr wrap="square" lIns="71437" tIns="71437" rIns="71437" bIns="71437" anchor="ctr">
            <a:spAutoFit/>
          </a:bodyPr>
          <a:lstStyle>
            <a:lvl1pPr>
              <a:defRPr sz="6000" b="0">
                <a:solidFill>
                  <a:srgbClr val="6C6C6C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pPr algn="l"/>
            <a:r>
              <a:rPr lang="en-US" sz="25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Consumer WG 0</a:t>
            </a:r>
            <a:endParaRPr sz="25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81" name="空白页面，自由制作">
            <a:extLst>
              <a:ext uri="{FF2B5EF4-FFF2-40B4-BE49-F238E27FC236}">
                <a16:creationId xmlns:a16="http://schemas.microsoft.com/office/drawing/2014/main" id="{9B74838B-55BC-6538-77B3-C7B9FAC3D477}"/>
              </a:ext>
            </a:extLst>
          </p:cNvPr>
          <p:cNvSpPr txBox="1"/>
          <p:nvPr/>
        </p:nvSpPr>
        <p:spPr>
          <a:xfrm>
            <a:off x="19315200" y="8741262"/>
            <a:ext cx="2833599" cy="528990"/>
          </a:xfrm>
          <a:prstGeom prst="rect">
            <a:avLst/>
          </a:prstGeom>
          <a:ln w="12700">
            <a:miter lim="400000"/>
          </a:ln>
        </p:spPr>
        <p:txBody>
          <a:bodyPr wrap="square" lIns="71437" tIns="71437" rIns="71437" bIns="71437" anchor="ctr">
            <a:spAutoFit/>
          </a:bodyPr>
          <a:lstStyle>
            <a:lvl1pPr>
              <a:defRPr sz="6000" b="0">
                <a:solidFill>
                  <a:srgbClr val="6C6C6C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pPr algn="l"/>
            <a:r>
              <a:rPr lang="en-US" sz="25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Consumer WG 1</a:t>
            </a:r>
            <a:endParaRPr sz="25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cxnSp>
        <p:nvCxnSpPr>
          <p:cNvPr id="82" name="直线连接符 81">
            <a:extLst>
              <a:ext uri="{FF2B5EF4-FFF2-40B4-BE49-F238E27FC236}">
                <a16:creationId xmlns:a16="http://schemas.microsoft.com/office/drawing/2014/main" id="{63854BA8-7B85-938C-A5F6-A9710A5F272C}"/>
              </a:ext>
            </a:extLst>
          </p:cNvPr>
          <p:cNvCxnSpPr>
            <a:cxnSpLocks/>
          </p:cNvCxnSpPr>
          <p:nvPr/>
        </p:nvCxnSpPr>
        <p:spPr>
          <a:xfrm>
            <a:off x="14671040" y="6047119"/>
            <a:ext cx="9204960" cy="0"/>
          </a:xfrm>
          <a:prstGeom prst="line">
            <a:avLst/>
          </a:prstGeom>
          <a:noFill/>
          <a:ln w="25400" cap="flat">
            <a:solidFill>
              <a:srgbClr val="666666"/>
            </a:solidFill>
            <a:prstDash val="dash"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sp>
        <p:nvSpPr>
          <p:cNvPr id="86" name="空白页面，自由制作">
            <a:extLst>
              <a:ext uri="{FF2B5EF4-FFF2-40B4-BE49-F238E27FC236}">
                <a16:creationId xmlns:a16="http://schemas.microsoft.com/office/drawing/2014/main" id="{79BD5C8F-290C-BBFD-3002-58049515BBCC}"/>
              </a:ext>
            </a:extLst>
          </p:cNvPr>
          <p:cNvSpPr txBox="1"/>
          <p:nvPr/>
        </p:nvSpPr>
        <p:spPr>
          <a:xfrm>
            <a:off x="18548819" y="2194428"/>
            <a:ext cx="3107536" cy="528990"/>
          </a:xfrm>
          <a:prstGeom prst="rect">
            <a:avLst/>
          </a:prstGeom>
          <a:ln w="12700">
            <a:miter lim="400000"/>
          </a:ln>
        </p:spPr>
        <p:txBody>
          <a:bodyPr wrap="square" lIns="71437" tIns="71437" rIns="71437" bIns="71437" anchor="ctr">
            <a:spAutoFit/>
          </a:bodyPr>
          <a:lstStyle>
            <a:lvl1pPr>
              <a:defRPr sz="6000" b="0">
                <a:solidFill>
                  <a:srgbClr val="6C6C6C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pPr algn="l"/>
            <a:r>
              <a:rPr lang="en-US" sz="2500" b="1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WASP </a:t>
            </a:r>
            <a:r>
              <a:rPr lang="en-US" sz="2500" b="1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PingPong</a:t>
            </a:r>
            <a:endParaRPr sz="2500" b="1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87" name="空白页面，自由制作">
            <a:extLst>
              <a:ext uri="{FF2B5EF4-FFF2-40B4-BE49-F238E27FC236}">
                <a16:creationId xmlns:a16="http://schemas.microsoft.com/office/drawing/2014/main" id="{F71B11FA-2E3C-2346-B347-FD091AC08CD4}"/>
              </a:ext>
            </a:extLst>
          </p:cNvPr>
          <p:cNvSpPr txBox="1"/>
          <p:nvPr/>
        </p:nvSpPr>
        <p:spPr>
          <a:xfrm>
            <a:off x="18548819" y="6419231"/>
            <a:ext cx="3396783" cy="528990"/>
          </a:xfrm>
          <a:prstGeom prst="rect">
            <a:avLst/>
          </a:prstGeom>
          <a:ln w="12700">
            <a:miter lim="400000"/>
          </a:ln>
        </p:spPr>
        <p:txBody>
          <a:bodyPr wrap="square" lIns="71437" tIns="71437" rIns="71437" bIns="71437" anchor="ctr">
            <a:spAutoFit/>
          </a:bodyPr>
          <a:lstStyle>
            <a:lvl1pPr>
              <a:defRPr sz="6000" b="0">
                <a:solidFill>
                  <a:srgbClr val="6C6C6C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pPr algn="l"/>
            <a:r>
              <a:rPr lang="en-US" sz="2500" b="1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WASP Cooperative</a:t>
            </a:r>
            <a:endParaRPr sz="2500" b="1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88" name="空白页面，自由制作">
            <a:extLst>
              <a:ext uri="{FF2B5EF4-FFF2-40B4-BE49-F238E27FC236}">
                <a16:creationId xmlns:a16="http://schemas.microsoft.com/office/drawing/2014/main" id="{77E59594-3762-7318-AD5D-7E46A729EBFC}"/>
              </a:ext>
            </a:extLst>
          </p:cNvPr>
          <p:cNvSpPr txBox="1"/>
          <p:nvPr/>
        </p:nvSpPr>
        <p:spPr>
          <a:xfrm>
            <a:off x="14442641" y="9892805"/>
            <a:ext cx="6933615" cy="2067873"/>
          </a:xfrm>
          <a:prstGeom prst="rect">
            <a:avLst/>
          </a:prstGeom>
          <a:ln w="12700">
            <a:miter lim="400000"/>
          </a:ln>
        </p:spPr>
        <p:txBody>
          <a:bodyPr wrap="square" lIns="71437" tIns="71437" rIns="71437" bIns="71437" anchor="ctr">
            <a:spAutoFit/>
          </a:bodyPr>
          <a:lstStyle>
            <a:lvl1pPr>
              <a:defRPr sz="6000" b="0">
                <a:solidFill>
                  <a:srgbClr val="6C6C6C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pPr algn="l"/>
            <a:r>
              <a:rPr lang="en-US" sz="2500" b="1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寄存器压力差别巨大</a:t>
            </a:r>
            <a:r>
              <a:rPr lang="en-US" sz="2500" b="1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(1.5x)</a:t>
            </a:r>
            <a:r>
              <a:rPr lang="zh-CN" altLang="en-US" sz="2500" b="1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：</a:t>
            </a:r>
            <a:endParaRPr lang="en-US" altLang="zh-CN" sz="2500" b="1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pPr algn="l"/>
            <a:endParaRPr lang="en-US" sz="2500" b="1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pPr marL="342900" indent="-342900" algn="l">
              <a:buFontTx/>
              <a:buChar char="-"/>
            </a:pPr>
            <a:r>
              <a:rPr lang="en-US" altLang="zh-CN" sz="2500" b="1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PingPong</a:t>
            </a:r>
            <a:r>
              <a:rPr lang="en-US" altLang="zh-CN" sz="2500" b="1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: 128 * 192 * 2 = 49152</a:t>
            </a:r>
          </a:p>
          <a:p>
            <a:pPr marL="342900" indent="-342900" algn="l">
              <a:buFontTx/>
              <a:buChar char="-"/>
            </a:pPr>
            <a:endParaRPr lang="en-US" altLang="zh-CN" sz="2500" b="1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pPr marL="342900" indent="-342900" algn="l">
              <a:buFontTx/>
              <a:buChar char="-"/>
            </a:pPr>
            <a:r>
              <a:rPr lang="en-US" altLang="zh-CN" sz="2500" b="1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Cooperative: 128 * 256 = 32768 </a:t>
            </a:r>
            <a:endParaRPr sz="2500" b="1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1792891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E7562E-B5D6-AD76-DBD7-59DE56767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空白页面，自由制作">
            <a:extLst>
              <a:ext uri="{FF2B5EF4-FFF2-40B4-BE49-F238E27FC236}">
                <a16:creationId xmlns:a16="http://schemas.microsoft.com/office/drawing/2014/main" id="{631F9524-5684-321C-38E9-A2CA81FD873B}"/>
              </a:ext>
            </a:extLst>
          </p:cNvPr>
          <p:cNvSpPr txBox="1"/>
          <p:nvPr/>
        </p:nvSpPr>
        <p:spPr>
          <a:xfrm>
            <a:off x="882105" y="590745"/>
            <a:ext cx="7584562" cy="913711"/>
          </a:xfrm>
          <a:prstGeom prst="rect">
            <a:avLst/>
          </a:prstGeom>
          <a:ln w="12700">
            <a:miter lim="400000"/>
          </a:ln>
        </p:spPr>
        <p:txBody>
          <a:bodyPr wrap="square" lIns="71437" tIns="71437" rIns="71437" bIns="71437" anchor="ctr">
            <a:spAutoFit/>
          </a:bodyPr>
          <a:lstStyle>
            <a:lvl1pPr>
              <a:defRPr sz="6000" b="0">
                <a:solidFill>
                  <a:srgbClr val="6C6C6C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pPr algn="l"/>
            <a:r>
              <a:rPr lang="zh-CN" altLang="en-US" sz="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性能收益</a:t>
            </a:r>
            <a:endParaRPr sz="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2" name="图片 141" descr="图表, 折线图&#10;&#10;描述已自动生成">
            <a:extLst>
              <a:ext uri="{FF2B5EF4-FFF2-40B4-BE49-F238E27FC236}">
                <a16:creationId xmlns:a16="http://schemas.microsoft.com/office/drawing/2014/main" id="{3E4AC964-E30E-CDBA-4C1F-77FBB37F08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0642" y="1647892"/>
            <a:ext cx="20102715" cy="11959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674677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E47517-37DA-8CC3-6140-93208D777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空白页面，自由制作">
            <a:extLst>
              <a:ext uri="{FF2B5EF4-FFF2-40B4-BE49-F238E27FC236}">
                <a16:creationId xmlns:a16="http://schemas.microsoft.com/office/drawing/2014/main" id="{53748661-4FDD-1E4A-ECA6-6BE0C671AF10}"/>
              </a:ext>
            </a:extLst>
          </p:cNvPr>
          <p:cNvSpPr txBox="1"/>
          <p:nvPr/>
        </p:nvSpPr>
        <p:spPr>
          <a:xfrm>
            <a:off x="882105" y="590745"/>
            <a:ext cx="7584562" cy="913711"/>
          </a:xfrm>
          <a:prstGeom prst="rect">
            <a:avLst/>
          </a:prstGeom>
          <a:ln w="12700">
            <a:miter lim="400000"/>
          </a:ln>
        </p:spPr>
        <p:txBody>
          <a:bodyPr wrap="square" lIns="71437" tIns="71437" rIns="71437" bIns="71437" anchor="ctr">
            <a:spAutoFit/>
          </a:bodyPr>
          <a:lstStyle>
            <a:lvl1pPr>
              <a:defRPr sz="6000" b="0">
                <a:solidFill>
                  <a:srgbClr val="6C6C6C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pPr algn="l"/>
            <a:r>
              <a:rPr lang="zh-CN" altLang="en-US" sz="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通算融合的几种类型</a:t>
            </a:r>
            <a:endParaRPr sz="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1AA008EE-7D90-4937-5DDD-9BB765627368}"/>
              </a:ext>
            </a:extLst>
          </p:cNvPr>
          <p:cNvSpPr/>
          <p:nvPr/>
        </p:nvSpPr>
        <p:spPr>
          <a:xfrm>
            <a:off x="1918010" y="5481624"/>
            <a:ext cx="3813716" cy="1085388"/>
          </a:xfrm>
          <a:prstGeom prst="roundRect">
            <a:avLst/>
          </a:prstGeom>
          <a:solidFill>
            <a:srgbClr val="D5E8D4"/>
          </a:solidFill>
          <a:ln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3000" dirty="0">
                <a:solidFill>
                  <a:srgbClr val="55555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Warp Specialization</a:t>
            </a:r>
            <a:endParaRPr kumimoji="1" lang="zh-CN" altLang="en-US" sz="3000" dirty="0">
              <a:solidFill>
                <a:srgbClr val="555555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73C2B502-6047-FF0F-59FE-0AB03A75E92D}"/>
              </a:ext>
            </a:extLst>
          </p:cNvPr>
          <p:cNvSpPr/>
          <p:nvPr/>
        </p:nvSpPr>
        <p:spPr>
          <a:xfrm>
            <a:off x="1918010" y="2676292"/>
            <a:ext cx="3813716" cy="1085388"/>
          </a:xfrm>
          <a:prstGeom prst="roundRect">
            <a:avLst/>
          </a:prstGeom>
          <a:solidFill>
            <a:srgbClr val="DAE8FC"/>
          </a:solidFill>
          <a:ln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3000" dirty="0">
                <a:solidFill>
                  <a:srgbClr val="55555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Comm-as-Op</a:t>
            </a:r>
            <a:endParaRPr kumimoji="1" lang="zh-CN" altLang="en-US" sz="3000" dirty="0">
              <a:solidFill>
                <a:srgbClr val="555555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7BB853D9-0B63-FF6B-D4A7-8837B900F5E1}"/>
              </a:ext>
            </a:extLst>
          </p:cNvPr>
          <p:cNvSpPr/>
          <p:nvPr/>
        </p:nvSpPr>
        <p:spPr>
          <a:xfrm>
            <a:off x="1918010" y="8531738"/>
            <a:ext cx="3813716" cy="1085388"/>
          </a:xfrm>
          <a:prstGeom prst="roundRect">
            <a:avLst/>
          </a:prstGeom>
          <a:solidFill>
            <a:srgbClr val="FFE6CC"/>
          </a:solidFill>
          <a:ln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3000" dirty="0">
                <a:solidFill>
                  <a:srgbClr val="55555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SM</a:t>
            </a:r>
          </a:p>
          <a:p>
            <a:pPr algn="ctr"/>
            <a:r>
              <a:rPr kumimoji="1" lang="en-US" altLang="zh-CN" sz="3000" dirty="0">
                <a:solidFill>
                  <a:srgbClr val="55555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Specialization</a:t>
            </a:r>
            <a:endParaRPr kumimoji="1" lang="zh-CN" altLang="en-US" sz="3000" dirty="0">
              <a:solidFill>
                <a:srgbClr val="555555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2388D16E-8682-39DC-FC7C-077EF3FCA8D9}"/>
              </a:ext>
            </a:extLst>
          </p:cNvPr>
          <p:cNvSpPr/>
          <p:nvPr/>
        </p:nvSpPr>
        <p:spPr>
          <a:xfrm>
            <a:off x="1918010" y="11602040"/>
            <a:ext cx="3813716" cy="1085388"/>
          </a:xfrm>
          <a:prstGeom prst="roundRect">
            <a:avLst/>
          </a:prstGeom>
          <a:solidFill>
            <a:srgbClr val="FFF2CC"/>
          </a:solidFill>
          <a:ln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3000" dirty="0">
                <a:solidFill>
                  <a:srgbClr val="55555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Multi-Stream</a:t>
            </a:r>
            <a:endParaRPr kumimoji="1" lang="zh-CN" altLang="en-US" sz="3000" dirty="0">
              <a:solidFill>
                <a:srgbClr val="555555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46F94332-4D6A-F8BF-36B7-6D949ECF5E23}"/>
              </a:ext>
            </a:extLst>
          </p:cNvPr>
          <p:cNvSpPr/>
          <p:nvPr/>
        </p:nvSpPr>
        <p:spPr>
          <a:xfrm>
            <a:off x="6861718" y="1910575"/>
            <a:ext cx="5806068" cy="587298"/>
          </a:xfrm>
          <a:prstGeom prst="roundRect">
            <a:avLst/>
          </a:prstGeom>
          <a:solidFill>
            <a:srgbClr val="DAE8FC"/>
          </a:solidFill>
          <a:ln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CN" altLang="en-US" sz="2400" dirty="0">
                <a:solidFill>
                  <a:srgbClr val="555555"/>
                </a:solidFill>
                <a:latin typeface="JetBrains Mono NL" panose="02000009000000000000" pitchFamily="49" charset="0"/>
                <a:ea typeface="JetBrainsMono NF" panose="02000009000000000000" pitchFamily="49" charset="0"/>
                <a:cs typeface="JetBrains Mono NL" panose="02000009000000000000" pitchFamily="49" charset="0"/>
              </a:rPr>
              <a:t>适用：单边</a:t>
            </a:r>
            <a:r>
              <a:rPr kumimoji="1" lang="en-US" altLang="zh-CN" sz="2400" dirty="0">
                <a:solidFill>
                  <a:srgbClr val="55555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/</a:t>
            </a:r>
            <a:r>
              <a:rPr kumimoji="1" lang="zh-CN" altLang="en-US" sz="2400" dirty="0">
                <a:solidFill>
                  <a:srgbClr val="555555"/>
                </a:solidFill>
                <a:latin typeface="JetBrains Mono NL" panose="02000009000000000000" pitchFamily="49" charset="0"/>
                <a:ea typeface="JetBrainsMono NF" panose="02000009000000000000" pitchFamily="49" charset="0"/>
                <a:cs typeface="JetBrains Mono NL" panose="02000009000000000000" pitchFamily="49" charset="0"/>
              </a:rPr>
              <a:t>无</a:t>
            </a:r>
            <a:r>
              <a:rPr kumimoji="1" lang="en-US" altLang="zh-CN" sz="2400" dirty="0">
                <a:solidFill>
                  <a:srgbClr val="55555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Reduce</a:t>
            </a:r>
            <a:r>
              <a:rPr kumimoji="1" lang="zh-CN" altLang="en-US" sz="2400" dirty="0">
                <a:solidFill>
                  <a:srgbClr val="555555"/>
                </a:solidFill>
                <a:latin typeface="JetBrains Mono NL" panose="02000009000000000000" pitchFamily="49" charset="0"/>
                <a:ea typeface="JetBrainsMono NF" panose="02000009000000000000" pitchFamily="49" charset="0"/>
                <a:cs typeface="JetBrains Mono NL" panose="02000009000000000000" pitchFamily="49" charset="0"/>
              </a:rPr>
              <a:t>通信（如</a:t>
            </a:r>
            <a:r>
              <a:rPr kumimoji="1" lang="en-US" altLang="zh-CN" sz="2400" dirty="0">
                <a:solidFill>
                  <a:srgbClr val="55555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A2A)</a:t>
            </a:r>
            <a:endParaRPr kumimoji="1" lang="zh-CN" altLang="en-US" sz="2400" dirty="0">
              <a:solidFill>
                <a:srgbClr val="555555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pic>
        <p:nvPicPr>
          <p:cNvPr id="8" name="图形 7" descr="处理器">
            <a:extLst>
              <a:ext uri="{FF2B5EF4-FFF2-40B4-BE49-F238E27FC236}">
                <a16:creationId xmlns:a16="http://schemas.microsoft.com/office/drawing/2014/main" id="{3828DFD8-8A5A-E482-3756-65079CEE18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10400" y="2865862"/>
            <a:ext cx="1304692" cy="1304692"/>
          </a:xfrm>
          <a:prstGeom prst="rect">
            <a:avLst/>
          </a:prstGeom>
        </p:spPr>
      </p:pic>
      <p:sp>
        <p:nvSpPr>
          <p:cNvPr id="9" name="圆角矩形 8">
            <a:extLst>
              <a:ext uri="{FF2B5EF4-FFF2-40B4-BE49-F238E27FC236}">
                <a16:creationId xmlns:a16="http://schemas.microsoft.com/office/drawing/2014/main" id="{B513FDAA-71DD-7BE4-98E3-3DF6DC9991BF}"/>
              </a:ext>
            </a:extLst>
          </p:cNvPr>
          <p:cNvSpPr/>
          <p:nvPr/>
        </p:nvSpPr>
        <p:spPr>
          <a:xfrm>
            <a:off x="13385182" y="3224559"/>
            <a:ext cx="1869688" cy="587298"/>
          </a:xfrm>
          <a:prstGeom prst="roundRect">
            <a:avLst/>
          </a:prstGeom>
          <a:solidFill>
            <a:srgbClr val="DAE8FC"/>
          </a:solidFill>
          <a:ln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rgbClr val="55555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GMEM</a:t>
            </a:r>
            <a:endParaRPr kumimoji="1" lang="zh-CN" altLang="en-US" sz="2400" dirty="0">
              <a:solidFill>
                <a:srgbClr val="555555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C27E3C0E-02D5-8C80-7D8D-8154639E9C94}"/>
              </a:ext>
            </a:extLst>
          </p:cNvPr>
          <p:cNvCxnSpPr>
            <a:cxnSpLocks/>
          </p:cNvCxnSpPr>
          <p:nvPr/>
        </p:nvCxnSpPr>
        <p:spPr>
          <a:xfrm>
            <a:off x="8270489" y="3518208"/>
            <a:ext cx="5070090" cy="0"/>
          </a:xfrm>
          <a:prstGeom prst="straightConnector1">
            <a:avLst/>
          </a:prstGeom>
          <a:ln w="19050">
            <a:solidFill>
              <a:srgbClr val="2F528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46865FBD-17F5-B532-677E-0DAFF51D6A5D}"/>
              </a:ext>
            </a:extLst>
          </p:cNvPr>
          <p:cNvSpPr txBox="1"/>
          <p:nvPr/>
        </p:nvSpPr>
        <p:spPr>
          <a:xfrm>
            <a:off x="9097866" y="3070372"/>
            <a:ext cx="30059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solidFill>
                  <a:srgbClr val="55555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SMEM</a:t>
            </a:r>
            <a:r>
              <a:rPr kumimoji="1" lang="zh-CN" altLang="en-US" sz="2000" dirty="0">
                <a:solidFill>
                  <a:srgbClr val="555555"/>
                </a:solidFill>
                <a:latin typeface="JetBrains Mono NL" panose="02000009000000000000" pitchFamily="49" charset="0"/>
                <a:ea typeface="JetBrainsMono NF" panose="02000009000000000000" pitchFamily="49" charset="0"/>
                <a:cs typeface="JetBrains Mono NL" panose="02000009000000000000" pitchFamily="49" charset="0"/>
              </a:rPr>
              <a:t>直连</a:t>
            </a:r>
            <a:r>
              <a:rPr kumimoji="1" lang="en-US" altLang="zh-CN" sz="2000" dirty="0">
                <a:solidFill>
                  <a:srgbClr val="55555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Remote</a:t>
            </a:r>
            <a:r>
              <a:rPr kumimoji="1" lang="zh-CN" altLang="en-US" sz="2000" dirty="0">
                <a:solidFill>
                  <a:srgbClr val="555555"/>
                </a:solidFill>
                <a:latin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r>
              <a:rPr kumimoji="1" lang="en-US" altLang="zh-CN" sz="2000" dirty="0">
                <a:solidFill>
                  <a:srgbClr val="55555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GMEM</a:t>
            </a:r>
            <a:endParaRPr kumimoji="1" lang="zh-CN" altLang="en-US" sz="2000" dirty="0">
              <a:solidFill>
                <a:srgbClr val="555555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AEA97BD-74AB-4437-8102-8F0C9B9C4E08}"/>
              </a:ext>
            </a:extLst>
          </p:cNvPr>
          <p:cNvSpPr txBox="1"/>
          <p:nvPr/>
        </p:nvSpPr>
        <p:spPr>
          <a:xfrm>
            <a:off x="9549493" y="3493156"/>
            <a:ext cx="2236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>
                <a:solidFill>
                  <a:srgbClr val="555555"/>
                </a:solidFill>
                <a:latin typeface="JetBrains Mono NL" panose="02000009000000000000" pitchFamily="49" charset="0"/>
                <a:ea typeface="JetBrainsMono NF" panose="02000009000000000000" pitchFamily="49" charset="0"/>
                <a:cs typeface="JetBrains Mono NL" panose="02000009000000000000" pitchFamily="49" charset="0"/>
              </a:rPr>
              <a:t>（无需本地拷贝）</a:t>
            </a:r>
            <a:endParaRPr kumimoji="1" lang="zh-CN" altLang="en-US" sz="2000" dirty="0">
              <a:solidFill>
                <a:srgbClr val="555555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29526C3-FEF1-D3B4-ED05-F80F827966EA}"/>
              </a:ext>
            </a:extLst>
          </p:cNvPr>
          <p:cNvSpPr txBox="1"/>
          <p:nvPr/>
        </p:nvSpPr>
        <p:spPr>
          <a:xfrm>
            <a:off x="7185692" y="3981022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solidFill>
                  <a:srgbClr val="55555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GPUSM</a:t>
            </a:r>
            <a:endParaRPr kumimoji="1" lang="zh-CN" altLang="en-US" sz="2000" dirty="0">
              <a:solidFill>
                <a:srgbClr val="555555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BFCA171-0A10-7502-1518-27D2F2D9A0B9}"/>
              </a:ext>
            </a:extLst>
          </p:cNvPr>
          <p:cNvSpPr txBox="1"/>
          <p:nvPr/>
        </p:nvSpPr>
        <p:spPr>
          <a:xfrm>
            <a:off x="15963007" y="2520185"/>
            <a:ext cx="664156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600" dirty="0">
                <a:solidFill>
                  <a:srgbClr val="333444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JetBrains Mono NL" panose="02000009000000000000" pitchFamily="49" charset="0"/>
              </a:rPr>
              <a:t>优势：无需额外线程，避免寄存器压力过大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FAE9895-1F96-4E49-90F8-103F5D83BEF3}"/>
              </a:ext>
            </a:extLst>
          </p:cNvPr>
          <p:cNvSpPr txBox="1"/>
          <p:nvPr/>
        </p:nvSpPr>
        <p:spPr>
          <a:xfrm>
            <a:off x="15957397" y="3662223"/>
            <a:ext cx="8044190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600" dirty="0">
                <a:solidFill>
                  <a:srgbClr val="333444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JetBrains Mono NL" panose="02000009000000000000" pitchFamily="49" charset="0"/>
              </a:rPr>
              <a:t>劣势：计算</a:t>
            </a:r>
            <a:r>
              <a:rPr kumimoji="1" lang="en-US" altLang="zh-CN" sz="2600" dirty="0">
                <a:solidFill>
                  <a:srgbClr val="333444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JetBrains Mono NL" panose="02000009000000000000" pitchFamily="49" charset="0"/>
              </a:rPr>
              <a:t>/</a:t>
            </a:r>
            <a:r>
              <a:rPr kumimoji="1" lang="zh-CN" altLang="en-US" sz="2600" dirty="0">
                <a:solidFill>
                  <a:srgbClr val="333444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JetBrains Mono NL" panose="02000009000000000000" pitchFamily="49" charset="0"/>
              </a:rPr>
              <a:t>通信粒度耦合，同步困难，不能</a:t>
            </a:r>
            <a:r>
              <a:rPr kumimoji="1" lang="en-US" altLang="zh-CN" sz="2600" dirty="0">
                <a:solidFill>
                  <a:srgbClr val="33344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Reduce</a:t>
            </a:r>
            <a:endParaRPr kumimoji="1" lang="zh-CN" altLang="en-US" sz="2600" dirty="0">
              <a:solidFill>
                <a:srgbClr val="333444"/>
              </a:solidFill>
              <a:latin typeface="JetBrains Mono NL" panose="02000009000000000000" pitchFamily="49" charset="0"/>
              <a:ea typeface="DengXian" panose="02010600030101010101" pitchFamily="2" charset="-122"/>
              <a:cs typeface="JetBrains Mono NL" panose="02000009000000000000" pitchFamily="49" charset="0"/>
            </a:endParaRPr>
          </a:p>
        </p:txBody>
      </p:sp>
      <p:cxnSp>
        <p:nvCxnSpPr>
          <p:cNvPr id="16" name="直线连接符 15">
            <a:extLst>
              <a:ext uri="{FF2B5EF4-FFF2-40B4-BE49-F238E27FC236}">
                <a16:creationId xmlns:a16="http://schemas.microsoft.com/office/drawing/2014/main" id="{2D8E73B0-3B37-95D6-A467-FEC61DD33C51}"/>
              </a:ext>
            </a:extLst>
          </p:cNvPr>
          <p:cNvCxnSpPr/>
          <p:nvPr/>
        </p:nvCxnSpPr>
        <p:spPr>
          <a:xfrm>
            <a:off x="1605776" y="4531046"/>
            <a:ext cx="22213228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连接符 16">
            <a:extLst>
              <a:ext uri="{FF2B5EF4-FFF2-40B4-BE49-F238E27FC236}">
                <a16:creationId xmlns:a16="http://schemas.microsoft.com/office/drawing/2014/main" id="{4D47B465-8B7E-1DCF-7BBF-6FC606113E0E}"/>
              </a:ext>
            </a:extLst>
          </p:cNvPr>
          <p:cNvCxnSpPr/>
          <p:nvPr/>
        </p:nvCxnSpPr>
        <p:spPr>
          <a:xfrm>
            <a:off x="1605776" y="7581162"/>
            <a:ext cx="22213228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连接符 17">
            <a:extLst>
              <a:ext uri="{FF2B5EF4-FFF2-40B4-BE49-F238E27FC236}">
                <a16:creationId xmlns:a16="http://schemas.microsoft.com/office/drawing/2014/main" id="{ABC50B67-79FD-322E-905D-02DA69F68F3D}"/>
              </a:ext>
            </a:extLst>
          </p:cNvPr>
          <p:cNvCxnSpPr/>
          <p:nvPr/>
        </p:nvCxnSpPr>
        <p:spPr>
          <a:xfrm>
            <a:off x="1605776" y="10651466"/>
            <a:ext cx="22213228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D81FE70C-C522-AAB2-780D-2A46C99A919E}"/>
              </a:ext>
            </a:extLst>
          </p:cNvPr>
          <p:cNvSpPr/>
          <p:nvPr/>
        </p:nvSpPr>
        <p:spPr>
          <a:xfrm>
            <a:off x="6861718" y="4840624"/>
            <a:ext cx="7752468" cy="605816"/>
          </a:xfrm>
          <a:prstGeom prst="roundRect">
            <a:avLst/>
          </a:prstGeom>
          <a:solidFill>
            <a:srgbClr val="D5E8D4"/>
          </a:solidFill>
          <a:ln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CN" altLang="en-US" sz="2400" dirty="0">
                <a:solidFill>
                  <a:srgbClr val="555555"/>
                </a:solidFill>
                <a:latin typeface="JetBrains Mono NL" panose="02000009000000000000" pitchFamily="49" charset="0"/>
                <a:ea typeface="JetBrainsMono NF" panose="02000009000000000000" pitchFamily="49" charset="0"/>
                <a:cs typeface="JetBrains Mono NL" panose="02000009000000000000" pitchFamily="49" charset="0"/>
              </a:rPr>
              <a:t>适用：有</a:t>
            </a:r>
            <a:r>
              <a:rPr kumimoji="1" lang="en-US" altLang="zh-CN" sz="2400" dirty="0">
                <a:solidFill>
                  <a:srgbClr val="55555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Reduce/</a:t>
            </a:r>
            <a:r>
              <a:rPr kumimoji="1" lang="zh-CN" altLang="en-US" sz="2400" dirty="0">
                <a:solidFill>
                  <a:srgbClr val="555555"/>
                </a:solidFill>
                <a:latin typeface="JetBrains Mono NL" panose="02000009000000000000" pitchFamily="49" charset="0"/>
                <a:ea typeface="JetBrainsMono NF" panose="02000009000000000000" pitchFamily="49" charset="0"/>
                <a:cs typeface="JetBrains Mono NL" panose="02000009000000000000" pitchFamily="49" charset="0"/>
              </a:rPr>
              <a:t>同步的集合通信（如</a:t>
            </a:r>
            <a:r>
              <a:rPr kumimoji="1" lang="en-US" altLang="zh-CN" sz="2400" dirty="0" err="1">
                <a:solidFill>
                  <a:srgbClr val="55555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AllReduce</a:t>
            </a:r>
            <a:r>
              <a:rPr kumimoji="1" lang="zh-CN" altLang="en-US" sz="2400" dirty="0">
                <a:solidFill>
                  <a:srgbClr val="555555"/>
                </a:solidFill>
                <a:latin typeface="JetBrains Mono NL" panose="02000009000000000000" pitchFamily="49" charset="0"/>
                <a:ea typeface="JetBrainsMono NF" panose="02000009000000000000" pitchFamily="49" charset="0"/>
                <a:cs typeface="JetBrains Mono NL" panose="02000009000000000000" pitchFamily="49" charset="0"/>
              </a:rPr>
              <a:t>）</a:t>
            </a:r>
            <a:endParaRPr kumimoji="1" lang="zh-CN" altLang="en-US" sz="2400" dirty="0">
              <a:solidFill>
                <a:srgbClr val="555555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C9903A9C-0591-D25C-E00E-E8083E10268C}"/>
              </a:ext>
            </a:extLst>
          </p:cNvPr>
          <p:cNvSpPr/>
          <p:nvPr/>
        </p:nvSpPr>
        <p:spPr>
          <a:xfrm>
            <a:off x="9777316" y="6092200"/>
            <a:ext cx="1304692" cy="900400"/>
          </a:xfrm>
          <a:prstGeom prst="roundRect">
            <a:avLst/>
          </a:prstGeom>
          <a:solidFill>
            <a:srgbClr val="F8CECC"/>
          </a:solidFill>
          <a:ln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rgbClr val="55555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SMEM</a:t>
            </a:r>
            <a:endParaRPr kumimoji="1" lang="zh-CN" altLang="en-US" sz="2400" dirty="0">
              <a:solidFill>
                <a:srgbClr val="555555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pic>
        <p:nvPicPr>
          <p:cNvPr id="21" name="图形 20" descr="处理器">
            <a:extLst>
              <a:ext uri="{FF2B5EF4-FFF2-40B4-BE49-F238E27FC236}">
                <a16:creationId xmlns:a16="http://schemas.microsoft.com/office/drawing/2014/main" id="{4CA3F81D-2837-75F5-C8D1-42C4BDD744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27440" y="5877038"/>
            <a:ext cx="1304692" cy="1304692"/>
          </a:xfrm>
          <a:prstGeom prst="rect">
            <a:avLst/>
          </a:prstGeom>
        </p:spPr>
      </p:pic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37A73A5F-DD59-3075-3A27-D78FA59175E7}"/>
              </a:ext>
            </a:extLst>
          </p:cNvPr>
          <p:cNvCxnSpPr>
            <a:cxnSpLocks/>
          </p:cNvCxnSpPr>
          <p:nvPr/>
        </p:nvCxnSpPr>
        <p:spPr>
          <a:xfrm>
            <a:off x="8187528" y="6529384"/>
            <a:ext cx="1577224" cy="13016"/>
          </a:xfrm>
          <a:prstGeom prst="straightConnector1">
            <a:avLst/>
          </a:prstGeom>
          <a:ln w="19050">
            <a:solidFill>
              <a:srgbClr val="82B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圆角矩形 22">
            <a:extLst>
              <a:ext uri="{FF2B5EF4-FFF2-40B4-BE49-F238E27FC236}">
                <a16:creationId xmlns:a16="http://schemas.microsoft.com/office/drawing/2014/main" id="{3D967CE2-138A-FAF8-B95D-199F729ADD4B}"/>
              </a:ext>
            </a:extLst>
          </p:cNvPr>
          <p:cNvSpPr/>
          <p:nvPr/>
        </p:nvSpPr>
        <p:spPr>
          <a:xfrm>
            <a:off x="8631151" y="6346218"/>
            <a:ext cx="157978" cy="366332"/>
          </a:xfrm>
          <a:prstGeom prst="roundRect">
            <a:avLst/>
          </a:prstGeom>
          <a:solidFill>
            <a:srgbClr val="F8CECC"/>
          </a:solidFill>
          <a:ln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 dirty="0">
              <a:solidFill>
                <a:srgbClr val="555555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6849DD11-FF7E-EA8B-54FE-DDCE79553EA1}"/>
              </a:ext>
            </a:extLst>
          </p:cNvPr>
          <p:cNvSpPr/>
          <p:nvPr/>
        </p:nvSpPr>
        <p:spPr>
          <a:xfrm>
            <a:off x="8782403" y="6346652"/>
            <a:ext cx="157978" cy="366332"/>
          </a:xfrm>
          <a:prstGeom prst="roundRect">
            <a:avLst/>
          </a:prstGeom>
          <a:solidFill>
            <a:srgbClr val="F8CECC"/>
          </a:solidFill>
          <a:ln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 dirty="0">
              <a:solidFill>
                <a:srgbClr val="555555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53B46B66-C852-9B2A-592E-63AA2190B64B}"/>
              </a:ext>
            </a:extLst>
          </p:cNvPr>
          <p:cNvSpPr/>
          <p:nvPr/>
        </p:nvSpPr>
        <p:spPr>
          <a:xfrm>
            <a:off x="8933655" y="6346218"/>
            <a:ext cx="157978" cy="366332"/>
          </a:xfrm>
          <a:prstGeom prst="roundRect">
            <a:avLst/>
          </a:prstGeom>
          <a:solidFill>
            <a:srgbClr val="F8CECC"/>
          </a:solidFill>
          <a:ln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 dirty="0">
              <a:solidFill>
                <a:srgbClr val="555555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9D2AE230-6F34-DCD8-4939-027FE14EE933}"/>
              </a:ext>
            </a:extLst>
          </p:cNvPr>
          <p:cNvSpPr/>
          <p:nvPr/>
        </p:nvSpPr>
        <p:spPr>
          <a:xfrm>
            <a:off x="9080725" y="6346218"/>
            <a:ext cx="157978" cy="366332"/>
          </a:xfrm>
          <a:prstGeom prst="roundRect">
            <a:avLst/>
          </a:prstGeom>
          <a:solidFill>
            <a:srgbClr val="F8CECC"/>
          </a:solidFill>
          <a:ln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 dirty="0">
              <a:solidFill>
                <a:srgbClr val="555555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9E3BA9A-2B81-471F-1CAC-57BDA687B007}"/>
              </a:ext>
            </a:extLst>
          </p:cNvPr>
          <p:cNvSpPr txBox="1"/>
          <p:nvPr/>
        </p:nvSpPr>
        <p:spPr>
          <a:xfrm>
            <a:off x="8377434" y="5974636"/>
            <a:ext cx="10887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>
                <a:solidFill>
                  <a:srgbClr val="555555"/>
                </a:solidFill>
                <a:latin typeface="JetBrains Mono NL" panose="02000009000000000000" pitchFamily="49" charset="0"/>
                <a:ea typeface="JetBrainsMono NF" panose="02000009000000000000" pitchFamily="49" charset="0"/>
                <a:cs typeface="JetBrains Mono NL" panose="02000009000000000000" pitchFamily="49" charset="0"/>
              </a:rPr>
              <a:t>计算</a:t>
            </a:r>
            <a:r>
              <a:rPr kumimoji="1" lang="en-US" altLang="zh-CN" sz="1600" dirty="0">
                <a:solidFill>
                  <a:srgbClr val="55555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Warp</a:t>
            </a:r>
            <a:endParaRPr kumimoji="1" lang="zh-CN" altLang="en-US" sz="1600" dirty="0">
              <a:solidFill>
                <a:srgbClr val="555555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F1C04EDF-D6BB-BDDB-7C49-AA54EF0EF5F5}"/>
              </a:ext>
            </a:extLst>
          </p:cNvPr>
          <p:cNvSpPr txBox="1"/>
          <p:nvPr/>
        </p:nvSpPr>
        <p:spPr>
          <a:xfrm>
            <a:off x="7103668" y="6987260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solidFill>
                  <a:srgbClr val="55555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GPUSM</a:t>
            </a:r>
            <a:endParaRPr kumimoji="1" lang="zh-CN" altLang="en-US" sz="2000" dirty="0">
              <a:solidFill>
                <a:srgbClr val="555555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F8D40658-FB21-CA1A-793D-6880EE3C7676}"/>
              </a:ext>
            </a:extLst>
          </p:cNvPr>
          <p:cNvSpPr/>
          <p:nvPr/>
        </p:nvSpPr>
        <p:spPr>
          <a:xfrm>
            <a:off x="11990860" y="6092200"/>
            <a:ext cx="1304692" cy="900400"/>
          </a:xfrm>
          <a:prstGeom prst="roundRect">
            <a:avLst/>
          </a:prstGeom>
          <a:solidFill>
            <a:srgbClr val="F8CECC"/>
          </a:solidFill>
          <a:ln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rgbClr val="55555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GMEM</a:t>
            </a:r>
            <a:endParaRPr kumimoji="1" lang="zh-CN" altLang="en-US" sz="2400" dirty="0">
              <a:solidFill>
                <a:srgbClr val="555555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cxnSp>
        <p:nvCxnSpPr>
          <p:cNvPr id="30" name="直线箭头连接符 29">
            <a:extLst>
              <a:ext uri="{FF2B5EF4-FFF2-40B4-BE49-F238E27FC236}">
                <a16:creationId xmlns:a16="http://schemas.microsoft.com/office/drawing/2014/main" id="{0AEF1D2C-D5F2-B02A-3DF2-D3E4E0FC2A68}"/>
              </a:ext>
            </a:extLst>
          </p:cNvPr>
          <p:cNvCxnSpPr>
            <a:cxnSpLocks/>
            <a:stCxn id="20" idx="3"/>
            <a:endCxn id="29" idx="1"/>
          </p:cNvCxnSpPr>
          <p:nvPr/>
        </p:nvCxnSpPr>
        <p:spPr>
          <a:xfrm>
            <a:off x="11082008" y="6542400"/>
            <a:ext cx="908852" cy="0"/>
          </a:xfrm>
          <a:prstGeom prst="straightConnector1">
            <a:avLst/>
          </a:prstGeom>
          <a:ln w="19050">
            <a:solidFill>
              <a:srgbClr val="82B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000AF71D-1FF0-A42C-CC94-81E2CCA0A15B}"/>
              </a:ext>
            </a:extLst>
          </p:cNvPr>
          <p:cNvSpPr txBox="1"/>
          <p:nvPr/>
        </p:nvSpPr>
        <p:spPr>
          <a:xfrm>
            <a:off x="11197157" y="6149702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800" dirty="0">
                <a:solidFill>
                  <a:srgbClr val="55555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TMA</a:t>
            </a:r>
            <a:endParaRPr kumimoji="1" lang="zh-CN" altLang="en-US" sz="1800" dirty="0">
              <a:solidFill>
                <a:srgbClr val="555555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pic>
        <p:nvPicPr>
          <p:cNvPr id="32" name="图形 31" descr="图章">
            <a:extLst>
              <a:ext uri="{FF2B5EF4-FFF2-40B4-BE49-F238E27FC236}">
                <a16:creationId xmlns:a16="http://schemas.microsoft.com/office/drawing/2014/main" id="{480D386A-53C6-21A0-8166-9677B24EB7C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470162" y="5931862"/>
            <a:ext cx="1247108" cy="1247108"/>
          </a:xfrm>
          <a:prstGeom prst="rect">
            <a:avLst/>
          </a:prstGeom>
        </p:spPr>
      </p:pic>
      <p:cxnSp>
        <p:nvCxnSpPr>
          <p:cNvPr id="33" name="直线箭头连接符 32">
            <a:extLst>
              <a:ext uri="{FF2B5EF4-FFF2-40B4-BE49-F238E27FC236}">
                <a16:creationId xmlns:a16="http://schemas.microsoft.com/office/drawing/2014/main" id="{BCE0B68B-928F-3A4F-D001-377E34B736F3}"/>
              </a:ext>
            </a:extLst>
          </p:cNvPr>
          <p:cNvCxnSpPr>
            <a:cxnSpLocks/>
          </p:cNvCxnSpPr>
          <p:nvPr/>
        </p:nvCxnSpPr>
        <p:spPr>
          <a:xfrm>
            <a:off x="13391553" y="6542400"/>
            <a:ext cx="1115930" cy="13016"/>
          </a:xfrm>
          <a:prstGeom prst="straightConnector1">
            <a:avLst/>
          </a:prstGeom>
          <a:ln w="19050">
            <a:solidFill>
              <a:srgbClr val="82B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188F0C9A-F3A5-2DFD-206F-6FC38451073C}"/>
              </a:ext>
            </a:extLst>
          </p:cNvPr>
          <p:cNvSpPr txBox="1"/>
          <p:nvPr/>
        </p:nvSpPr>
        <p:spPr>
          <a:xfrm>
            <a:off x="14693606" y="6932748"/>
            <a:ext cx="8002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solidFill>
                  <a:srgbClr val="55555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NVLS</a:t>
            </a:r>
            <a:endParaRPr kumimoji="1" lang="zh-CN" altLang="en-US" sz="2000" dirty="0">
              <a:solidFill>
                <a:srgbClr val="555555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5" name="圆角矩形 34">
            <a:extLst>
              <a:ext uri="{FF2B5EF4-FFF2-40B4-BE49-F238E27FC236}">
                <a16:creationId xmlns:a16="http://schemas.microsoft.com/office/drawing/2014/main" id="{EB1B0451-BBEF-808A-172C-9EEB5B7ED2A2}"/>
              </a:ext>
            </a:extLst>
          </p:cNvPr>
          <p:cNvSpPr/>
          <p:nvPr/>
        </p:nvSpPr>
        <p:spPr>
          <a:xfrm>
            <a:off x="13584783" y="6368218"/>
            <a:ext cx="157978" cy="366332"/>
          </a:xfrm>
          <a:prstGeom prst="roundRect">
            <a:avLst/>
          </a:prstGeom>
          <a:solidFill>
            <a:srgbClr val="F8CECC"/>
          </a:solidFill>
          <a:ln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 dirty="0">
              <a:solidFill>
                <a:srgbClr val="555555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AFC78BD2-2147-B76B-641E-93892FF85209}"/>
              </a:ext>
            </a:extLst>
          </p:cNvPr>
          <p:cNvSpPr/>
          <p:nvPr/>
        </p:nvSpPr>
        <p:spPr>
          <a:xfrm>
            <a:off x="13736035" y="6368652"/>
            <a:ext cx="157978" cy="366332"/>
          </a:xfrm>
          <a:prstGeom prst="roundRect">
            <a:avLst/>
          </a:prstGeom>
          <a:solidFill>
            <a:srgbClr val="F8CECC"/>
          </a:solidFill>
          <a:ln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 dirty="0">
              <a:solidFill>
                <a:srgbClr val="555555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7" name="圆角矩形 36">
            <a:extLst>
              <a:ext uri="{FF2B5EF4-FFF2-40B4-BE49-F238E27FC236}">
                <a16:creationId xmlns:a16="http://schemas.microsoft.com/office/drawing/2014/main" id="{F4E41F97-0834-F694-5C0B-7778A0C5CF75}"/>
              </a:ext>
            </a:extLst>
          </p:cNvPr>
          <p:cNvSpPr/>
          <p:nvPr/>
        </p:nvSpPr>
        <p:spPr>
          <a:xfrm>
            <a:off x="13887287" y="6368218"/>
            <a:ext cx="157978" cy="366332"/>
          </a:xfrm>
          <a:prstGeom prst="roundRect">
            <a:avLst/>
          </a:prstGeom>
          <a:solidFill>
            <a:srgbClr val="F8CECC"/>
          </a:solidFill>
          <a:ln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 dirty="0">
              <a:solidFill>
                <a:srgbClr val="555555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B0A3E8C3-03DD-AF4F-DCC1-D1BBE46342BA}"/>
              </a:ext>
            </a:extLst>
          </p:cNvPr>
          <p:cNvSpPr/>
          <p:nvPr/>
        </p:nvSpPr>
        <p:spPr>
          <a:xfrm>
            <a:off x="14038539" y="6368218"/>
            <a:ext cx="157978" cy="366332"/>
          </a:xfrm>
          <a:prstGeom prst="roundRect">
            <a:avLst/>
          </a:prstGeom>
          <a:solidFill>
            <a:srgbClr val="F8CECC"/>
          </a:solidFill>
          <a:ln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 dirty="0">
              <a:solidFill>
                <a:srgbClr val="555555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EF74A4F2-CF6A-F486-7ED4-70CFA264E3F1}"/>
              </a:ext>
            </a:extLst>
          </p:cNvPr>
          <p:cNvSpPr txBox="1"/>
          <p:nvPr/>
        </p:nvSpPr>
        <p:spPr>
          <a:xfrm>
            <a:off x="13316112" y="6010584"/>
            <a:ext cx="10887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>
                <a:solidFill>
                  <a:srgbClr val="555555"/>
                </a:solidFill>
                <a:latin typeface="JetBrains Mono NL" panose="02000009000000000000" pitchFamily="49" charset="0"/>
                <a:ea typeface="JetBrainsMono NF" panose="02000009000000000000" pitchFamily="49" charset="0"/>
                <a:cs typeface="JetBrains Mono NL" panose="02000009000000000000" pitchFamily="49" charset="0"/>
              </a:rPr>
              <a:t>通信</a:t>
            </a:r>
            <a:r>
              <a:rPr kumimoji="1" lang="en-US" altLang="zh-CN" sz="1600" dirty="0">
                <a:solidFill>
                  <a:srgbClr val="55555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Warp</a:t>
            </a:r>
            <a:endParaRPr kumimoji="1" lang="zh-CN" altLang="en-US" sz="1600" dirty="0">
              <a:solidFill>
                <a:srgbClr val="555555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34FC05F6-333C-8064-16F7-75470C11F67C}"/>
              </a:ext>
            </a:extLst>
          </p:cNvPr>
          <p:cNvSpPr txBox="1"/>
          <p:nvPr/>
        </p:nvSpPr>
        <p:spPr>
          <a:xfrm>
            <a:off x="15999059" y="5232105"/>
            <a:ext cx="6623929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600" dirty="0">
                <a:solidFill>
                  <a:srgbClr val="333444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JetBrains Mono NL" panose="02000009000000000000" pitchFamily="49" charset="0"/>
              </a:rPr>
              <a:t>优势：计算</a:t>
            </a:r>
            <a:r>
              <a:rPr kumimoji="1" lang="en-US" altLang="zh-CN" sz="2600" dirty="0">
                <a:solidFill>
                  <a:srgbClr val="333444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JetBrains Mono NL" panose="02000009000000000000" pitchFamily="49" charset="0"/>
              </a:rPr>
              <a:t>/</a:t>
            </a:r>
            <a:r>
              <a:rPr kumimoji="1" lang="zh-CN" altLang="en-US" sz="2600" dirty="0">
                <a:solidFill>
                  <a:srgbClr val="333444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JetBrains Mono NL" panose="02000009000000000000" pitchFamily="49" charset="0"/>
              </a:rPr>
              <a:t>通信粒度可以不同，支持</a:t>
            </a:r>
            <a:r>
              <a:rPr kumimoji="1" lang="en-US" altLang="zh-CN" sz="2600" dirty="0">
                <a:solidFill>
                  <a:srgbClr val="33344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NVLS</a:t>
            </a:r>
            <a:endParaRPr kumimoji="1" lang="zh-CN" altLang="en-US" sz="2600" dirty="0">
              <a:solidFill>
                <a:srgbClr val="333444"/>
              </a:solidFill>
              <a:latin typeface="JetBrains Mono NL" panose="02000009000000000000" pitchFamily="49" charset="0"/>
              <a:ea typeface="DengXian" panose="02010600030101010101" pitchFamily="2" charset="-122"/>
              <a:cs typeface="JetBrains Mono NL" panose="02000009000000000000" pitchFamily="49" charset="0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A902C58A-BEA5-B8C7-3324-A916FB7BA3F2}"/>
              </a:ext>
            </a:extLst>
          </p:cNvPr>
          <p:cNvSpPr txBox="1"/>
          <p:nvPr/>
        </p:nvSpPr>
        <p:spPr>
          <a:xfrm>
            <a:off x="16012748" y="6346218"/>
            <a:ext cx="8183651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600" dirty="0">
                <a:solidFill>
                  <a:srgbClr val="333444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JetBrains Mono NL" panose="02000009000000000000" pitchFamily="49" charset="0"/>
              </a:rPr>
              <a:t>劣势：需进行本地拷贝，</a:t>
            </a:r>
            <a:r>
              <a:rPr kumimoji="1" lang="en-US" altLang="zh-CN" sz="2600" dirty="0">
                <a:solidFill>
                  <a:srgbClr val="333444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JetBrains Mono NL" panose="02000009000000000000" pitchFamily="49" charset="0"/>
              </a:rPr>
              <a:t>Hopper</a:t>
            </a:r>
            <a:r>
              <a:rPr kumimoji="1" lang="zh-CN" altLang="en-US" sz="2600" dirty="0">
                <a:solidFill>
                  <a:srgbClr val="333444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JetBrains Mono NL" panose="02000009000000000000" pitchFamily="49" charset="0"/>
              </a:rPr>
              <a:t>架构寄存器压力大，</a:t>
            </a:r>
            <a:endParaRPr kumimoji="1" lang="en-US" altLang="zh-CN" sz="2600" dirty="0">
              <a:solidFill>
                <a:srgbClr val="333444"/>
              </a:solidFill>
              <a:latin typeface="DengXian" panose="02010600030101010101" pitchFamily="2" charset="-122"/>
              <a:ea typeface="DengXian" panose="02010600030101010101" pitchFamily="2" charset="-122"/>
              <a:cs typeface="JetBrains Mono NL" panose="02000009000000000000" pitchFamily="49" charset="0"/>
            </a:endParaRPr>
          </a:p>
          <a:p>
            <a:r>
              <a:rPr kumimoji="1" lang="zh-CN" altLang="en-US" sz="2600" dirty="0">
                <a:solidFill>
                  <a:srgbClr val="333444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JetBrains Mono NL" panose="02000009000000000000" pitchFamily="49" charset="0"/>
              </a:rPr>
              <a:t>难以开额外线程组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91FFE1BF-8E1D-2432-F2C7-51A3EE505CD5}"/>
              </a:ext>
            </a:extLst>
          </p:cNvPr>
          <p:cNvSpPr txBox="1"/>
          <p:nvPr/>
        </p:nvSpPr>
        <p:spPr>
          <a:xfrm>
            <a:off x="13111116" y="5551570"/>
            <a:ext cx="28905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solidFill>
                  <a:srgbClr val="55555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NVLS</a:t>
            </a:r>
            <a:r>
              <a:rPr kumimoji="1" lang="zh-CN" altLang="en-US" sz="2000" dirty="0">
                <a:solidFill>
                  <a:srgbClr val="555555"/>
                </a:solidFill>
                <a:latin typeface="JetBrains Mono NL" panose="02000009000000000000" pitchFamily="49" charset="0"/>
                <a:cs typeface="JetBrains Mono NL" panose="02000009000000000000" pitchFamily="49" charset="0"/>
              </a:rPr>
              <a:t>需要线程打满带宽</a:t>
            </a:r>
          </a:p>
        </p:txBody>
      </p:sp>
      <p:pic>
        <p:nvPicPr>
          <p:cNvPr id="43" name="图形 42" descr="处理器">
            <a:extLst>
              <a:ext uri="{FF2B5EF4-FFF2-40B4-BE49-F238E27FC236}">
                <a16:creationId xmlns:a16="http://schemas.microsoft.com/office/drawing/2014/main" id="{6A2435DA-71CC-5828-B821-D35E446D9D7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897088" y="9004354"/>
            <a:ext cx="830996" cy="830996"/>
          </a:xfrm>
          <a:prstGeom prst="rect">
            <a:avLst/>
          </a:prstGeom>
        </p:spPr>
      </p:pic>
      <p:sp>
        <p:nvSpPr>
          <p:cNvPr id="44" name="圆角矩形 43">
            <a:extLst>
              <a:ext uri="{FF2B5EF4-FFF2-40B4-BE49-F238E27FC236}">
                <a16:creationId xmlns:a16="http://schemas.microsoft.com/office/drawing/2014/main" id="{B0261831-C241-D7CD-56A4-5BFEB3C47A42}"/>
              </a:ext>
            </a:extLst>
          </p:cNvPr>
          <p:cNvSpPr/>
          <p:nvPr/>
        </p:nvSpPr>
        <p:spPr>
          <a:xfrm>
            <a:off x="6861718" y="7946316"/>
            <a:ext cx="6582184" cy="559132"/>
          </a:xfrm>
          <a:prstGeom prst="roundRect">
            <a:avLst/>
          </a:prstGeom>
          <a:solidFill>
            <a:srgbClr val="FFE6CC"/>
          </a:solidFill>
          <a:ln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400" dirty="0">
                <a:solidFill>
                  <a:srgbClr val="555555"/>
                </a:solidFill>
                <a:latin typeface="JetBrains Mono NL" panose="02000009000000000000" pitchFamily="49" charset="0"/>
                <a:ea typeface="JetBrainsMono NF" panose="02000009000000000000" pitchFamily="49" charset="0"/>
                <a:cs typeface="JetBrains Mono NL" panose="02000009000000000000" pitchFamily="49" charset="0"/>
              </a:rPr>
              <a:t>适用：通信密集型任务，编程解耦进一步简化</a:t>
            </a:r>
            <a:endParaRPr kumimoji="1" lang="en-US" altLang="zh-CN" sz="2400" dirty="0">
              <a:solidFill>
                <a:srgbClr val="555555"/>
              </a:solidFill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4EC16BA1-7E82-C6E8-8305-440D3AABE2D2}"/>
              </a:ext>
            </a:extLst>
          </p:cNvPr>
          <p:cNvSpPr txBox="1"/>
          <p:nvPr/>
        </p:nvSpPr>
        <p:spPr>
          <a:xfrm>
            <a:off x="6989420" y="9682960"/>
            <a:ext cx="6463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solidFill>
                  <a:srgbClr val="55555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GPU</a:t>
            </a:r>
            <a:endParaRPr kumimoji="1" lang="zh-CN" altLang="en-US" sz="2000" dirty="0">
              <a:solidFill>
                <a:srgbClr val="555555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6" name="圆角矩形 45">
            <a:extLst>
              <a:ext uri="{FF2B5EF4-FFF2-40B4-BE49-F238E27FC236}">
                <a16:creationId xmlns:a16="http://schemas.microsoft.com/office/drawing/2014/main" id="{FAC506E0-4373-B054-E9C5-483971128D36}"/>
              </a:ext>
            </a:extLst>
          </p:cNvPr>
          <p:cNvSpPr/>
          <p:nvPr/>
        </p:nvSpPr>
        <p:spPr>
          <a:xfrm>
            <a:off x="8005460" y="9612702"/>
            <a:ext cx="1451700" cy="559132"/>
          </a:xfrm>
          <a:prstGeom prst="roundRect">
            <a:avLst/>
          </a:prstGeom>
          <a:solidFill>
            <a:srgbClr val="FFE6CC"/>
          </a:solidFill>
          <a:ln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dirty="0">
                <a:solidFill>
                  <a:srgbClr val="555555"/>
                </a:solidFill>
                <a:latin typeface="JetBrains Mono NL" panose="02000009000000000000" pitchFamily="49" charset="0"/>
                <a:ea typeface="JetBrainsMono NF" panose="02000009000000000000" pitchFamily="49" charset="0"/>
                <a:cs typeface="JetBrains Mono NL" panose="02000009000000000000" pitchFamily="49" charset="0"/>
              </a:rPr>
              <a:t>计算</a:t>
            </a:r>
            <a:r>
              <a:rPr kumimoji="1" lang="en-US" altLang="zh-CN" sz="2000" dirty="0">
                <a:solidFill>
                  <a:srgbClr val="55555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SM</a:t>
            </a:r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DB2752AB-5E73-EBF2-93AF-A7072C7974D0}"/>
              </a:ext>
            </a:extLst>
          </p:cNvPr>
          <p:cNvSpPr/>
          <p:nvPr/>
        </p:nvSpPr>
        <p:spPr>
          <a:xfrm>
            <a:off x="13613490" y="9612702"/>
            <a:ext cx="1451700" cy="559132"/>
          </a:xfrm>
          <a:prstGeom prst="roundRect">
            <a:avLst/>
          </a:prstGeom>
          <a:solidFill>
            <a:srgbClr val="FFE6CC"/>
          </a:solidFill>
          <a:ln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dirty="0">
                <a:solidFill>
                  <a:srgbClr val="555555"/>
                </a:solidFill>
                <a:latin typeface="JetBrains Mono NL" panose="02000009000000000000" pitchFamily="49" charset="0"/>
                <a:ea typeface="JetBrainsMono NF" panose="02000009000000000000" pitchFamily="49" charset="0"/>
                <a:cs typeface="JetBrains Mono NL" panose="02000009000000000000" pitchFamily="49" charset="0"/>
              </a:rPr>
              <a:t>计算</a:t>
            </a:r>
            <a:r>
              <a:rPr kumimoji="1" lang="en-US" altLang="zh-CN" sz="2000" dirty="0">
                <a:solidFill>
                  <a:srgbClr val="55555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SM</a:t>
            </a:r>
          </a:p>
        </p:txBody>
      </p:sp>
      <p:sp>
        <p:nvSpPr>
          <p:cNvPr id="48" name="圆角矩形 47">
            <a:extLst>
              <a:ext uri="{FF2B5EF4-FFF2-40B4-BE49-F238E27FC236}">
                <a16:creationId xmlns:a16="http://schemas.microsoft.com/office/drawing/2014/main" id="{F0B4DA81-942E-8B62-5E6D-6353CB8EB96E}"/>
              </a:ext>
            </a:extLst>
          </p:cNvPr>
          <p:cNvSpPr/>
          <p:nvPr/>
        </p:nvSpPr>
        <p:spPr>
          <a:xfrm>
            <a:off x="8005460" y="8779508"/>
            <a:ext cx="1451700" cy="559132"/>
          </a:xfrm>
          <a:prstGeom prst="roundRect">
            <a:avLst/>
          </a:prstGeom>
          <a:solidFill>
            <a:srgbClr val="FFE6CC"/>
          </a:solidFill>
          <a:ln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dirty="0">
                <a:solidFill>
                  <a:srgbClr val="555555"/>
                </a:solidFill>
                <a:latin typeface="JetBrains Mono NL" panose="02000009000000000000" pitchFamily="49" charset="0"/>
                <a:ea typeface="JetBrainsMono NF" panose="02000009000000000000" pitchFamily="49" charset="0"/>
                <a:cs typeface="JetBrains Mono NL" panose="02000009000000000000" pitchFamily="49" charset="0"/>
              </a:rPr>
              <a:t>计算</a:t>
            </a:r>
            <a:r>
              <a:rPr kumimoji="1" lang="en-US" altLang="zh-CN" sz="2000" dirty="0">
                <a:solidFill>
                  <a:srgbClr val="55555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SM</a:t>
            </a:r>
          </a:p>
        </p:txBody>
      </p:sp>
      <p:sp>
        <p:nvSpPr>
          <p:cNvPr id="49" name="圆角矩形 48">
            <a:extLst>
              <a:ext uri="{FF2B5EF4-FFF2-40B4-BE49-F238E27FC236}">
                <a16:creationId xmlns:a16="http://schemas.microsoft.com/office/drawing/2014/main" id="{CDA87799-46B4-A35D-A299-A0F17CB26B96}"/>
              </a:ext>
            </a:extLst>
          </p:cNvPr>
          <p:cNvSpPr/>
          <p:nvPr/>
        </p:nvSpPr>
        <p:spPr>
          <a:xfrm>
            <a:off x="9874990" y="8779508"/>
            <a:ext cx="1451700" cy="559132"/>
          </a:xfrm>
          <a:prstGeom prst="roundRect">
            <a:avLst/>
          </a:prstGeom>
          <a:solidFill>
            <a:srgbClr val="FFE6CC"/>
          </a:solidFill>
          <a:ln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dirty="0">
                <a:solidFill>
                  <a:srgbClr val="555555"/>
                </a:solidFill>
                <a:latin typeface="JetBrains Mono NL" panose="02000009000000000000" pitchFamily="49" charset="0"/>
                <a:ea typeface="JetBrainsMono NF" panose="02000009000000000000" pitchFamily="49" charset="0"/>
                <a:cs typeface="JetBrains Mono NL" panose="02000009000000000000" pitchFamily="49" charset="0"/>
              </a:rPr>
              <a:t>计算</a:t>
            </a:r>
            <a:r>
              <a:rPr kumimoji="1" lang="en-US" altLang="zh-CN" sz="2000" dirty="0">
                <a:solidFill>
                  <a:srgbClr val="55555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SM</a:t>
            </a:r>
          </a:p>
        </p:txBody>
      </p:sp>
      <p:sp>
        <p:nvSpPr>
          <p:cNvPr id="50" name="圆角矩形 49">
            <a:extLst>
              <a:ext uri="{FF2B5EF4-FFF2-40B4-BE49-F238E27FC236}">
                <a16:creationId xmlns:a16="http://schemas.microsoft.com/office/drawing/2014/main" id="{3EB2B31F-5FDA-D59E-3740-4AA9121AEFC7}"/>
              </a:ext>
            </a:extLst>
          </p:cNvPr>
          <p:cNvSpPr/>
          <p:nvPr/>
        </p:nvSpPr>
        <p:spPr>
          <a:xfrm>
            <a:off x="11744520" y="8779508"/>
            <a:ext cx="1451700" cy="559132"/>
          </a:xfrm>
          <a:prstGeom prst="roundRect">
            <a:avLst/>
          </a:prstGeom>
          <a:solidFill>
            <a:srgbClr val="FFE6CC"/>
          </a:solidFill>
          <a:ln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dirty="0">
                <a:solidFill>
                  <a:srgbClr val="555555"/>
                </a:solidFill>
                <a:latin typeface="JetBrains Mono NL" panose="02000009000000000000" pitchFamily="49" charset="0"/>
                <a:ea typeface="JetBrainsMono NF" panose="02000009000000000000" pitchFamily="49" charset="0"/>
                <a:cs typeface="JetBrains Mono NL" panose="02000009000000000000" pitchFamily="49" charset="0"/>
              </a:rPr>
              <a:t>计算</a:t>
            </a:r>
            <a:r>
              <a:rPr kumimoji="1" lang="en-US" altLang="zh-CN" sz="2000" dirty="0">
                <a:solidFill>
                  <a:srgbClr val="55555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SM</a:t>
            </a:r>
          </a:p>
        </p:txBody>
      </p:sp>
      <p:sp>
        <p:nvSpPr>
          <p:cNvPr id="51" name="圆角矩形 50">
            <a:extLst>
              <a:ext uri="{FF2B5EF4-FFF2-40B4-BE49-F238E27FC236}">
                <a16:creationId xmlns:a16="http://schemas.microsoft.com/office/drawing/2014/main" id="{F823DCE0-2E9E-E2C1-D035-F5E1F4CDA3C5}"/>
              </a:ext>
            </a:extLst>
          </p:cNvPr>
          <p:cNvSpPr/>
          <p:nvPr/>
        </p:nvSpPr>
        <p:spPr>
          <a:xfrm>
            <a:off x="13613490" y="8779508"/>
            <a:ext cx="1451700" cy="559132"/>
          </a:xfrm>
          <a:prstGeom prst="roundRect">
            <a:avLst/>
          </a:prstGeom>
          <a:solidFill>
            <a:srgbClr val="FFE6CC"/>
          </a:solidFill>
          <a:ln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dirty="0">
                <a:solidFill>
                  <a:srgbClr val="555555"/>
                </a:solidFill>
                <a:latin typeface="JetBrains Mono NL" panose="02000009000000000000" pitchFamily="49" charset="0"/>
                <a:ea typeface="JetBrainsMono NF" panose="02000009000000000000" pitchFamily="49" charset="0"/>
                <a:cs typeface="JetBrains Mono NL" panose="02000009000000000000" pitchFamily="49" charset="0"/>
              </a:rPr>
              <a:t>计算</a:t>
            </a:r>
            <a:r>
              <a:rPr kumimoji="1" lang="en-US" altLang="zh-CN" sz="2000" dirty="0">
                <a:solidFill>
                  <a:srgbClr val="55555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SM</a:t>
            </a:r>
          </a:p>
        </p:txBody>
      </p:sp>
      <p:sp>
        <p:nvSpPr>
          <p:cNvPr id="52" name="圆角矩形 51">
            <a:extLst>
              <a:ext uri="{FF2B5EF4-FFF2-40B4-BE49-F238E27FC236}">
                <a16:creationId xmlns:a16="http://schemas.microsoft.com/office/drawing/2014/main" id="{53E16473-8B21-172B-CB58-A26070F6D6C5}"/>
              </a:ext>
            </a:extLst>
          </p:cNvPr>
          <p:cNvSpPr/>
          <p:nvPr/>
        </p:nvSpPr>
        <p:spPr>
          <a:xfrm>
            <a:off x="10810584" y="9612700"/>
            <a:ext cx="1451700" cy="559132"/>
          </a:xfrm>
          <a:prstGeom prst="roundRect">
            <a:avLst/>
          </a:prstGeom>
          <a:solidFill>
            <a:srgbClr val="FFFF88"/>
          </a:solidFill>
          <a:ln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dirty="0">
                <a:solidFill>
                  <a:srgbClr val="555555"/>
                </a:solidFill>
                <a:latin typeface="JetBrains Mono NL" panose="02000009000000000000" pitchFamily="49" charset="0"/>
                <a:ea typeface="JetBrainsMono NF" panose="02000009000000000000" pitchFamily="49" charset="0"/>
                <a:cs typeface="JetBrains Mono NL" panose="02000009000000000000" pitchFamily="49" charset="0"/>
              </a:rPr>
              <a:t>通信</a:t>
            </a:r>
            <a:r>
              <a:rPr kumimoji="1" lang="en-US" altLang="zh-CN" sz="2000" dirty="0">
                <a:solidFill>
                  <a:srgbClr val="55555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SM</a:t>
            </a:r>
          </a:p>
        </p:txBody>
      </p:sp>
      <p:cxnSp>
        <p:nvCxnSpPr>
          <p:cNvPr id="53" name="直线箭头连接符 52">
            <a:extLst>
              <a:ext uri="{FF2B5EF4-FFF2-40B4-BE49-F238E27FC236}">
                <a16:creationId xmlns:a16="http://schemas.microsoft.com/office/drawing/2014/main" id="{31354BD6-325B-596D-562F-87C8BE4544DC}"/>
              </a:ext>
            </a:extLst>
          </p:cNvPr>
          <p:cNvCxnSpPr>
            <a:cxnSpLocks/>
            <a:stCxn id="46" idx="3"/>
            <a:endCxn id="52" idx="1"/>
          </p:cNvCxnSpPr>
          <p:nvPr/>
        </p:nvCxnSpPr>
        <p:spPr>
          <a:xfrm flipV="1">
            <a:off x="9457160" y="9892267"/>
            <a:ext cx="1353424" cy="2"/>
          </a:xfrm>
          <a:prstGeom prst="straightConnector1">
            <a:avLst/>
          </a:prstGeom>
          <a:ln w="9525">
            <a:solidFill>
              <a:srgbClr val="9673A6"/>
            </a:solidFill>
            <a:headEnd type="none" w="med" len="med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线箭头连接符 53">
            <a:extLst>
              <a:ext uri="{FF2B5EF4-FFF2-40B4-BE49-F238E27FC236}">
                <a16:creationId xmlns:a16="http://schemas.microsoft.com/office/drawing/2014/main" id="{F110235A-2C22-8F98-C21E-68E072E16FA6}"/>
              </a:ext>
            </a:extLst>
          </p:cNvPr>
          <p:cNvCxnSpPr>
            <a:cxnSpLocks/>
          </p:cNvCxnSpPr>
          <p:nvPr/>
        </p:nvCxnSpPr>
        <p:spPr>
          <a:xfrm>
            <a:off x="9413528" y="9326464"/>
            <a:ext cx="1392004" cy="335016"/>
          </a:xfrm>
          <a:prstGeom prst="straightConnector1">
            <a:avLst/>
          </a:prstGeom>
          <a:ln w="9525">
            <a:solidFill>
              <a:srgbClr val="9673A6"/>
            </a:solidFill>
            <a:headEnd type="none" w="med" len="med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线箭头连接符 54">
            <a:extLst>
              <a:ext uri="{FF2B5EF4-FFF2-40B4-BE49-F238E27FC236}">
                <a16:creationId xmlns:a16="http://schemas.microsoft.com/office/drawing/2014/main" id="{1721889A-B173-0FEF-D942-E2AE487189B8}"/>
              </a:ext>
            </a:extLst>
          </p:cNvPr>
          <p:cNvCxnSpPr>
            <a:cxnSpLocks/>
          </p:cNvCxnSpPr>
          <p:nvPr/>
        </p:nvCxnSpPr>
        <p:spPr>
          <a:xfrm>
            <a:off x="11006578" y="9327096"/>
            <a:ext cx="215028" cy="265420"/>
          </a:xfrm>
          <a:prstGeom prst="straightConnector1">
            <a:avLst/>
          </a:prstGeom>
          <a:ln w="9525">
            <a:solidFill>
              <a:srgbClr val="9673A6"/>
            </a:solidFill>
            <a:headEnd type="none" w="med" len="med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线箭头连接符 55">
            <a:extLst>
              <a:ext uri="{FF2B5EF4-FFF2-40B4-BE49-F238E27FC236}">
                <a16:creationId xmlns:a16="http://schemas.microsoft.com/office/drawing/2014/main" id="{75FF02C4-F6FF-CA1E-17E6-80F1678B08B9}"/>
              </a:ext>
            </a:extLst>
          </p:cNvPr>
          <p:cNvCxnSpPr>
            <a:cxnSpLocks/>
          </p:cNvCxnSpPr>
          <p:nvPr/>
        </p:nvCxnSpPr>
        <p:spPr>
          <a:xfrm flipH="1">
            <a:off x="11945566" y="9358824"/>
            <a:ext cx="205676" cy="233692"/>
          </a:xfrm>
          <a:prstGeom prst="straightConnector1">
            <a:avLst/>
          </a:prstGeom>
          <a:ln w="9525">
            <a:solidFill>
              <a:srgbClr val="9673A6"/>
            </a:solidFill>
            <a:headEnd type="none" w="med" len="med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线箭头连接符 56">
            <a:extLst>
              <a:ext uri="{FF2B5EF4-FFF2-40B4-BE49-F238E27FC236}">
                <a16:creationId xmlns:a16="http://schemas.microsoft.com/office/drawing/2014/main" id="{153B2960-5767-E763-F25F-C27DC4D45866}"/>
              </a:ext>
            </a:extLst>
          </p:cNvPr>
          <p:cNvCxnSpPr>
            <a:cxnSpLocks/>
          </p:cNvCxnSpPr>
          <p:nvPr/>
        </p:nvCxnSpPr>
        <p:spPr>
          <a:xfrm flipH="1">
            <a:off x="12256326" y="9326464"/>
            <a:ext cx="1407444" cy="335016"/>
          </a:xfrm>
          <a:prstGeom prst="straightConnector1">
            <a:avLst/>
          </a:prstGeom>
          <a:ln w="9525">
            <a:solidFill>
              <a:srgbClr val="9673A6"/>
            </a:solidFill>
            <a:headEnd type="none" w="med" len="med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线箭头连接符 57">
            <a:extLst>
              <a:ext uri="{FF2B5EF4-FFF2-40B4-BE49-F238E27FC236}">
                <a16:creationId xmlns:a16="http://schemas.microsoft.com/office/drawing/2014/main" id="{C40E4C02-0DE5-74E5-B180-57CE3EF9DF4D}"/>
              </a:ext>
            </a:extLst>
          </p:cNvPr>
          <p:cNvCxnSpPr>
            <a:cxnSpLocks/>
            <a:stCxn id="47" idx="1"/>
            <a:endCxn id="52" idx="3"/>
          </p:cNvCxnSpPr>
          <p:nvPr/>
        </p:nvCxnSpPr>
        <p:spPr>
          <a:xfrm flipH="1" flipV="1">
            <a:off x="12262285" y="9892267"/>
            <a:ext cx="1351206" cy="2"/>
          </a:xfrm>
          <a:prstGeom prst="straightConnector1">
            <a:avLst/>
          </a:prstGeom>
          <a:ln w="9525">
            <a:solidFill>
              <a:srgbClr val="9673A6"/>
            </a:solidFill>
            <a:headEnd type="none" w="med" len="med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本框 58">
            <a:extLst>
              <a:ext uri="{FF2B5EF4-FFF2-40B4-BE49-F238E27FC236}">
                <a16:creationId xmlns:a16="http://schemas.microsoft.com/office/drawing/2014/main" id="{1DDA89EF-835B-6B1A-D663-A04C9953C9F4}"/>
              </a:ext>
            </a:extLst>
          </p:cNvPr>
          <p:cNvSpPr txBox="1"/>
          <p:nvPr/>
        </p:nvSpPr>
        <p:spPr>
          <a:xfrm>
            <a:off x="16030382" y="8282219"/>
            <a:ext cx="562205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600" dirty="0">
                <a:solidFill>
                  <a:srgbClr val="333444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JetBrains Mono NL" panose="02000009000000000000" pitchFamily="49" charset="0"/>
              </a:rPr>
              <a:t>优势：编程相对简单，寄存器压力小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0B408E3F-FB56-6194-6E20-0A374F352C7A}"/>
              </a:ext>
            </a:extLst>
          </p:cNvPr>
          <p:cNvSpPr txBox="1"/>
          <p:nvPr/>
        </p:nvSpPr>
        <p:spPr>
          <a:xfrm>
            <a:off x="16075266" y="9424257"/>
            <a:ext cx="602280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600" dirty="0">
                <a:solidFill>
                  <a:srgbClr val="333444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JetBrains Mono NL" panose="02000009000000000000" pitchFamily="49" charset="0"/>
              </a:rPr>
              <a:t>劣势：占用</a:t>
            </a:r>
            <a:r>
              <a:rPr kumimoji="1" lang="en-US" altLang="zh-CN" sz="2600" dirty="0">
                <a:solidFill>
                  <a:srgbClr val="33344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SM</a:t>
            </a:r>
            <a:r>
              <a:rPr kumimoji="1" lang="zh-CN" altLang="en-US" sz="2600" dirty="0">
                <a:solidFill>
                  <a:srgbClr val="333444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JetBrains Mono NL" panose="02000009000000000000" pitchFamily="49" charset="0"/>
              </a:rPr>
              <a:t>，可能导致计算性能下降</a:t>
            </a:r>
          </a:p>
        </p:txBody>
      </p:sp>
      <p:sp>
        <p:nvSpPr>
          <p:cNvPr id="61" name="圆角矩形 60">
            <a:extLst>
              <a:ext uri="{FF2B5EF4-FFF2-40B4-BE49-F238E27FC236}">
                <a16:creationId xmlns:a16="http://schemas.microsoft.com/office/drawing/2014/main" id="{DC4C74F8-0E2D-AE0F-AD36-502A01C65673}"/>
              </a:ext>
            </a:extLst>
          </p:cNvPr>
          <p:cNvSpPr/>
          <p:nvPr/>
        </p:nvSpPr>
        <p:spPr>
          <a:xfrm>
            <a:off x="6861716" y="10974307"/>
            <a:ext cx="6433836" cy="599610"/>
          </a:xfrm>
          <a:prstGeom prst="roundRect">
            <a:avLst/>
          </a:prstGeom>
          <a:solidFill>
            <a:srgbClr val="FFF2CC"/>
          </a:solidFill>
          <a:ln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CN" altLang="en-US" sz="2400" dirty="0">
                <a:solidFill>
                  <a:srgbClr val="555555"/>
                </a:solidFill>
                <a:latin typeface="JetBrains Mono NL" panose="02000009000000000000" pitchFamily="49" charset="0"/>
                <a:ea typeface="JetBrainsMono NF" panose="02000009000000000000" pitchFamily="49" charset="0"/>
                <a:cs typeface="JetBrains Mono NL" panose="02000009000000000000" pitchFamily="49" charset="0"/>
              </a:rPr>
              <a:t>适用：大数据量，复用</a:t>
            </a:r>
            <a:r>
              <a:rPr kumimoji="1" lang="en-US" altLang="zh-CN" sz="2400" dirty="0">
                <a:solidFill>
                  <a:srgbClr val="55555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NCCL</a:t>
            </a:r>
            <a:r>
              <a:rPr kumimoji="1" lang="zh-CN" altLang="en-US" sz="2400" dirty="0">
                <a:solidFill>
                  <a:srgbClr val="555555"/>
                </a:solidFill>
                <a:latin typeface="JetBrains Mono NL" panose="02000009000000000000" pitchFamily="49" charset="0"/>
                <a:ea typeface="JetBrainsMono NF" panose="02000009000000000000" pitchFamily="49" charset="0"/>
                <a:cs typeface="JetBrains Mono NL" panose="02000009000000000000" pitchFamily="49" charset="0"/>
              </a:rPr>
              <a:t>或</a:t>
            </a:r>
            <a:r>
              <a:rPr kumimoji="1" lang="en-US" altLang="zh-CN" sz="2400" dirty="0">
                <a:solidFill>
                  <a:srgbClr val="55555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SM-Free</a:t>
            </a:r>
            <a:r>
              <a:rPr kumimoji="1" lang="zh-CN" altLang="en-US" sz="2400" dirty="0">
                <a:solidFill>
                  <a:srgbClr val="555555"/>
                </a:solidFill>
                <a:latin typeface="JetBrains Mono NL" panose="02000009000000000000" pitchFamily="49" charset="0"/>
                <a:ea typeface="JetBrainsMono NF" panose="02000009000000000000" pitchFamily="49" charset="0"/>
                <a:cs typeface="JetBrains Mono NL" panose="02000009000000000000" pitchFamily="49" charset="0"/>
              </a:rPr>
              <a:t>通信</a:t>
            </a:r>
            <a:endParaRPr kumimoji="1" lang="zh-CN" altLang="en-US" sz="2400" dirty="0">
              <a:solidFill>
                <a:srgbClr val="555555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2" name="圆角矩形 61">
            <a:extLst>
              <a:ext uri="{FF2B5EF4-FFF2-40B4-BE49-F238E27FC236}">
                <a16:creationId xmlns:a16="http://schemas.microsoft.com/office/drawing/2014/main" id="{91058DDE-6690-F2F3-F707-2D979D6DE7D0}"/>
              </a:ext>
            </a:extLst>
          </p:cNvPr>
          <p:cNvSpPr/>
          <p:nvPr/>
        </p:nvSpPr>
        <p:spPr>
          <a:xfrm>
            <a:off x="6861716" y="12363013"/>
            <a:ext cx="2143816" cy="599610"/>
          </a:xfrm>
          <a:prstGeom prst="roundRect">
            <a:avLst/>
          </a:prstGeom>
          <a:solidFill>
            <a:srgbClr val="FFF2CC"/>
          </a:solidFill>
          <a:ln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CN" altLang="en-US" sz="2400" dirty="0">
                <a:solidFill>
                  <a:srgbClr val="555555"/>
                </a:solidFill>
                <a:latin typeface="JetBrains Mono NL" panose="02000009000000000000" pitchFamily="49" charset="0"/>
                <a:ea typeface="JetBrainsMono NF" panose="02000009000000000000" pitchFamily="49" charset="0"/>
                <a:cs typeface="JetBrains Mono NL" panose="02000009000000000000" pitchFamily="49" charset="0"/>
              </a:rPr>
              <a:t>计算</a:t>
            </a:r>
            <a:r>
              <a:rPr kumimoji="1" lang="en-US" altLang="zh-CN" sz="2400" dirty="0">
                <a:solidFill>
                  <a:srgbClr val="55555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Kernel</a:t>
            </a:r>
            <a:endParaRPr kumimoji="1" lang="zh-CN" altLang="en-US" sz="2400" dirty="0">
              <a:solidFill>
                <a:srgbClr val="555555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3" name="圆角矩形 62">
            <a:extLst>
              <a:ext uri="{FF2B5EF4-FFF2-40B4-BE49-F238E27FC236}">
                <a16:creationId xmlns:a16="http://schemas.microsoft.com/office/drawing/2014/main" id="{3859A362-CE20-730E-21E5-1301BBF12B17}"/>
              </a:ext>
            </a:extLst>
          </p:cNvPr>
          <p:cNvSpPr/>
          <p:nvPr/>
        </p:nvSpPr>
        <p:spPr>
          <a:xfrm>
            <a:off x="12470370" y="12363013"/>
            <a:ext cx="2143816" cy="599610"/>
          </a:xfrm>
          <a:prstGeom prst="roundRect">
            <a:avLst/>
          </a:prstGeom>
          <a:solidFill>
            <a:srgbClr val="FFF2CC"/>
          </a:solidFill>
          <a:ln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400" dirty="0">
                <a:solidFill>
                  <a:srgbClr val="555555"/>
                </a:solidFill>
                <a:latin typeface="JetBrains Mono NL" panose="02000009000000000000" pitchFamily="49" charset="0"/>
                <a:ea typeface="JetBrainsMono NF" panose="02000009000000000000" pitchFamily="49" charset="0"/>
                <a:cs typeface="JetBrains Mono NL" panose="02000009000000000000" pitchFamily="49" charset="0"/>
              </a:rPr>
              <a:t>通信算子</a:t>
            </a:r>
            <a:endParaRPr kumimoji="1" lang="zh-CN" altLang="en-US" sz="2400" dirty="0">
              <a:solidFill>
                <a:srgbClr val="555555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4" name="圆角矩形 63">
            <a:extLst>
              <a:ext uri="{FF2B5EF4-FFF2-40B4-BE49-F238E27FC236}">
                <a16:creationId xmlns:a16="http://schemas.microsoft.com/office/drawing/2014/main" id="{A6E8F1FD-84E9-D556-6B37-7C3E4E37FAE2}"/>
              </a:ext>
            </a:extLst>
          </p:cNvPr>
          <p:cNvSpPr/>
          <p:nvPr/>
        </p:nvSpPr>
        <p:spPr>
          <a:xfrm>
            <a:off x="10026901" y="12078032"/>
            <a:ext cx="1422102" cy="1169568"/>
          </a:xfrm>
          <a:prstGeom prst="roundRect">
            <a:avLst/>
          </a:prstGeom>
          <a:solidFill>
            <a:srgbClr val="FFF2CC"/>
          </a:solidFill>
          <a:ln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rgbClr val="55555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GMEM</a:t>
            </a:r>
            <a:endParaRPr kumimoji="1" lang="zh-CN" altLang="en-US" sz="2400" dirty="0">
              <a:solidFill>
                <a:srgbClr val="555555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cxnSp>
        <p:nvCxnSpPr>
          <p:cNvPr id="65" name="直线箭头连接符 64">
            <a:extLst>
              <a:ext uri="{FF2B5EF4-FFF2-40B4-BE49-F238E27FC236}">
                <a16:creationId xmlns:a16="http://schemas.microsoft.com/office/drawing/2014/main" id="{BF43C13B-A1E5-F581-81A3-A22DAC9681E6}"/>
              </a:ext>
            </a:extLst>
          </p:cNvPr>
          <p:cNvCxnSpPr>
            <a:stCxn id="62" idx="3"/>
            <a:endCxn id="64" idx="1"/>
          </p:cNvCxnSpPr>
          <p:nvPr/>
        </p:nvCxnSpPr>
        <p:spPr>
          <a:xfrm flipV="1">
            <a:off x="9005532" y="12662817"/>
            <a:ext cx="1021368" cy="2"/>
          </a:xfrm>
          <a:prstGeom prst="straightConnector1">
            <a:avLst/>
          </a:prstGeom>
          <a:ln w="12700">
            <a:solidFill>
              <a:srgbClr val="B8545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线箭头连接符 65">
            <a:extLst>
              <a:ext uri="{FF2B5EF4-FFF2-40B4-BE49-F238E27FC236}">
                <a16:creationId xmlns:a16="http://schemas.microsoft.com/office/drawing/2014/main" id="{E38A6209-4A21-23E3-CCD4-21C956A98A60}"/>
              </a:ext>
            </a:extLst>
          </p:cNvPr>
          <p:cNvCxnSpPr>
            <a:cxnSpLocks/>
            <a:stCxn id="64" idx="3"/>
            <a:endCxn id="63" idx="1"/>
          </p:cNvCxnSpPr>
          <p:nvPr/>
        </p:nvCxnSpPr>
        <p:spPr>
          <a:xfrm>
            <a:off x="11449002" y="12662817"/>
            <a:ext cx="1021368" cy="2"/>
          </a:xfrm>
          <a:prstGeom prst="straightConnector1">
            <a:avLst/>
          </a:prstGeom>
          <a:ln w="12700">
            <a:solidFill>
              <a:srgbClr val="B8545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文本框 66">
            <a:extLst>
              <a:ext uri="{FF2B5EF4-FFF2-40B4-BE49-F238E27FC236}">
                <a16:creationId xmlns:a16="http://schemas.microsoft.com/office/drawing/2014/main" id="{A0B862D7-1B78-A623-C566-9A567EA0042B}"/>
              </a:ext>
            </a:extLst>
          </p:cNvPr>
          <p:cNvSpPr txBox="1"/>
          <p:nvPr/>
        </p:nvSpPr>
        <p:spPr>
          <a:xfrm>
            <a:off x="9379421" y="11700976"/>
            <a:ext cx="2653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solidFill>
                  <a:srgbClr val="55555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Data/Counter/Mapping</a:t>
            </a:r>
            <a:endParaRPr kumimoji="1" lang="zh-CN" altLang="en-US" sz="1600" dirty="0">
              <a:solidFill>
                <a:srgbClr val="555555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pic>
        <p:nvPicPr>
          <p:cNvPr id="68" name="图形 67" descr="处理器">
            <a:extLst>
              <a:ext uri="{FF2B5EF4-FFF2-40B4-BE49-F238E27FC236}">
                <a16:creationId xmlns:a16="http://schemas.microsoft.com/office/drawing/2014/main" id="{F4A7EC36-90C2-990D-EA23-92DAF4EB1AD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3365928" y="11185984"/>
            <a:ext cx="830996" cy="830996"/>
          </a:xfrm>
          <a:prstGeom prst="rect">
            <a:avLst/>
          </a:prstGeom>
        </p:spPr>
      </p:pic>
      <p:sp>
        <p:nvSpPr>
          <p:cNvPr id="69" name="文本框 68">
            <a:extLst>
              <a:ext uri="{FF2B5EF4-FFF2-40B4-BE49-F238E27FC236}">
                <a16:creationId xmlns:a16="http://schemas.microsoft.com/office/drawing/2014/main" id="{6661506A-A625-F5A3-BECA-DFD0C88352A4}"/>
              </a:ext>
            </a:extLst>
          </p:cNvPr>
          <p:cNvSpPr txBox="1"/>
          <p:nvPr/>
        </p:nvSpPr>
        <p:spPr>
          <a:xfrm>
            <a:off x="13458260" y="11864590"/>
            <a:ext cx="6463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solidFill>
                  <a:srgbClr val="55555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CPU</a:t>
            </a:r>
            <a:endParaRPr kumimoji="1" lang="zh-CN" altLang="en-US" sz="2000" dirty="0">
              <a:solidFill>
                <a:srgbClr val="555555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pic>
        <p:nvPicPr>
          <p:cNvPr id="70" name="图形 69" descr="网络">
            <a:extLst>
              <a:ext uri="{FF2B5EF4-FFF2-40B4-BE49-F238E27FC236}">
                <a16:creationId xmlns:a16="http://schemas.microsoft.com/office/drawing/2014/main" id="{13DAD753-00F2-06C3-5A56-783DF67A782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5154997" y="11185985"/>
            <a:ext cx="694606" cy="694606"/>
          </a:xfrm>
          <a:prstGeom prst="rect">
            <a:avLst/>
          </a:prstGeom>
        </p:spPr>
      </p:pic>
      <p:sp>
        <p:nvSpPr>
          <p:cNvPr id="71" name="文本框 70">
            <a:extLst>
              <a:ext uri="{FF2B5EF4-FFF2-40B4-BE49-F238E27FC236}">
                <a16:creationId xmlns:a16="http://schemas.microsoft.com/office/drawing/2014/main" id="{80094CE4-857E-18D2-0464-8F18D3BE5F27}"/>
              </a:ext>
            </a:extLst>
          </p:cNvPr>
          <p:cNvSpPr txBox="1"/>
          <p:nvPr/>
        </p:nvSpPr>
        <p:spPr>
          <a:xfrm>
            <a:off x="15021094" y="11831810"/>
            <a:ext cx="9685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>
                <a:solidFill>
                  <a:srgbClr val="555555"/>
                </a:solidFill>
                <a:latin typeface="JetBrains Mono NL" panose="02000009000000000000" pitchFamily="49" charset="0"/>
                <a:cs typeface="JetBrains Mono NL" panose="02000009000000000000" pitchFamily="49" charset="0"/>
              </a:rPr>
              <a:t>多链路</a:t>
            </a:r>
          </a:p>
        </p:txBody>
      </p:sp>
      <p:cxnSp>
        <p:nvCxnSpPr>
          <p:cNvPr id="72" name="直线箭头连接符 71">
            <a:extLst>
              <a:ext uri="{FF2B5EF4-FFF2-40B4-BE49-F238E27FC236}">
                <a16:creationId xmlns:a16="http://schemas.microsoft.com/office/drawing/2014/main" id="{33F97B87-43AE-AE91-EB6B-7E78D4BDC3A7}"/>
              </a:ext>
            </a:extLst>
          </p:cNvPr>
          <p:cNvCxnSpPr>
            <a:cxnSpLocks/>
            <a:stCxn id="68" idx="3"/>
          </p:cNvCxnSpPr>
          <p:nvPr/>
        </p:nvCxnSpPr>
        <p:spPr>
          <a:xfrm>
            <a:off x="14196924" y="11601482"/>
            <a:ext cx="891352" cy="0"/>
          </a:xfrm>
          <a:prstGeom prst="straightConnector1">
            <a:avLst/>
          </a:prstGeom>
          <a:ln w="12700">
            <a:solidFill>
              <a:srgbClr val="B8545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本框 72">
            <a:extLst>
              <a:ext uri="{FF2B5EF4-FFF2-40B4-BE49-F238E27FC236}">
                <a16:creationId xmlns:a16="http://schemas.microsoft.com/office/drawing/2014/main" id="{86FAB361-9961-598E-41FD-2A6E0294254B}"/>
              </a:ext>
            </a:extLst>
          </p:cNvPr>
          <p:cNvSpPr txBox="1"/>
          <p:nvPr/>
        </p:nvSpPr>
        <p:spPr>
          <a:xfrm>
            <a:off x="14090676" y="11189280"/>
            <a:ext cx="10246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>
                <a:solidFill>
                  <a:srgbClr val="555555"/>
                </a:solidFill>
                <a:latin typeface="JetBrains Mono NL" panose="02000009000000000000" pitchFamily="49" charset="0"/>
                <a:cs typeface="JetBrains Mono NL" panose="02000009000000000000" pitchFamily="49" charset="0"/>
              </a:rPr>
              <a:t>直接控制</a:t>
            </a: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95C9E395-03E9-9DA2-5E77-C0C1328F6773}"/>
              </a:ext>
            </a:extLst>
          </p:cNvPr>
          <p:cNvSpPr txBox="1"/>
          <p:nvPr/>
        </p:nvSpPr>
        <p:spPr>
          <a:xfrm>
            <a:off x="16015152" y="11220974"/>
            <a:ext cx="8505855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600" dirty="0">
                <a:solidFill>
                  <a:srgbClr val="333444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JetBrains Mono NL" panose="02000009000000000000" pitchFamily="49" charset="0"/>
              </a:rPr>
              <a:t>优势：完全隔离，可复用</a:t>
            </a:r>
            <a:r>
              <a:rPr kumimoji="1" lang="en-US" altLang="zh-CN" sz="2600" dirty="0">
                <a:solidFill>
                  <a:srgbClr val="33344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NCCL</a:t>
            </a:r>
            <a:r>
              <a:rPr kumimoji="1" lang="zh-CN" altLang="en-US" sz="2600" dirty="0">
                <a:solidFill>
                  <a:srgbClr val="333444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JetBrains Mono NL" panose="02000009000000000000" pitchFamily="49" charset="0"/>
              </a:rPr>
              <a:t>，或使用</a:t>
            </a:r>
            <a:r>
              <a:rPr kumimoji="1" lang="en-US" altLang="zh-CN" sz="2600" dirty="0">
                <a:solidFill>
                  <a:srgbClr val="33344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SM-Free</a:t>
            </a:r>
            <a:r>
              <a:rPr kumimoji="1" lang="zh-CN" altLang="en-US" sz="2600" dirty="0">
                <a:solidFill>
                  <a:srgbClr val="333444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JetBrains Mono NL" panose="02000009000000000000" pitchFamily="49" charset="0"/>
              </a:rPr>
              <a:t>通信，</a:t>
            </a:r>
            <a:endParaRPr kumimoji="1" lang="en-US" altLang="zh-CN" sz="2600" dirty="0">
              <a:solidFill>
                <a:srgbClr val="333444"/>
              </a:solidFill>
              <a:latin typeface="DengXian" panose="02010600030101010101" pitchFamily="2" charset="-122"/>
              <a:ea typeface="DengXian" panose="02010600030101010101" pitchFamily="2" charset="-122"/>
              <a:cs typeface="JetBrains Mono NL" panose="02000009000000000000" pitchFamily="49" charset="0"/>
            </a:endParaRPr>
          </a:p>
          <a:p>
            <a:r>
              <a:rPr kumimoji="1" lang="zh-CN" altLang="en-US" sz="2600" dirty="0">
                <a:solidFill>
                  <a:srgbClr val="333444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JetBrains Mono NL" panose="02000009000000000000" pitchFamily="49" charset="0"/>
              </a:rPr>
              <a:t>不影响计算</a:t>
            </a: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AA3DC2A4-FD3B-63D9-CB10-BE77F799DC8F}"/>
              </a:ext>
            </a:extLst>
          </p:cNvPr>
          <p:cNvSpPr txBox="1"/>
          <p:nvPr/>
        </p:nvSpPr>
        <p:spPr>
          <a:xfrm>
            <a:off x="16107325" y="12363013"/>
            <a:ext cx="619272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600" dirty="0">
                <a:solidFill>
                  <a:srgbClr val="333444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JetBrains Mono NL" panose="02000009000000000000" pitchFamily="49" charset="0"/>
              </a:rPr>
              <a:t>劣势：计算</a:t>
            </a:r>
            <a:r>
              <a:rPr kumimoji="1" lang="en-US" altLang="zh-CN" sz="2600" dirty="0">
                <a:solidFill>
                  <a:srgbClr val="333444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JetBrains Mono NL" panose="02000009000000000000" pitchFamily="49" charset="0"/>
              </a:rPr>
              <a:t>/</a:t>
            </a:r>
            <a:r>
              <a:rPr kumimoji="1" lang="zh-CN" altLang="en-US" sz="2600" dirty="0">
                <a:solidFill>
                  <a:srgbClr val="333444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JetBrains Mono NL" panose="02000009000000000000" pitchFamily="49" charset="0"/>
              </a:rPr>
              <a:t>通信</a:t>
            </a:r>
            <a:r>
              <a:rPr kumimoji="1" lang="en-US" altLang="zh-CN" sz="2600" dirty="0">
                <a:solidFill>
                  <a:srgbClr val="33344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Kernel</a:t>
            </a:r>
            <a:r>
              <a:rPr kumimoji="1" lang="zh-CN" altLang="en-US" sz="2600" dirty="0">
                <a:solidFill>
                  <a:srgbClr val="333444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JetBrains Mono NL" panose="02000009000000000000" pitchFamily="49" charset="0"/>
              </a:rPr>
              <a:t>需定制同步逻辑</a:t>
            </a: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398DD741-F694-2F88-0D09-B1A11FCD07BD}"/>
              </a:ext>
            </a:extLst>
          </p:cNvPr>
          <p:cNvSpPr txBox="1"/>
          <p:nvPr/>
        </p:nvSpPr>
        <p:spPr>
          <a:xfrm>
            <a:off x="11715" y="3419838"/>
            <a:ext cx="16466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rgbClr val="555555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JetBrains Mono NL" panose="02000009000000000000" pitchFamily="49" charset="0"/>
              </a:rPr>
              <a:t>耦合度高</a:t>
            </a: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6D348C35-9A69-0A86-EFF0-974836EAA098}"/>
              </a:ext>
            </a:extLst>
          </p:cNvPr>
          <p:cNvSpPr txBox="1"/>
          <p:nvPr/>
        </p:nvSpPr>
        <p:spPr>
          <a:xfrm>
            <a:off x="-17" y="11211944"/>
            <a:ext cx="16466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rgbClr val="555555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JetBrains Mono NL" panose="02000009000000000000" pitchFamily="49" charset="0"/>
              </a:rPr>
              <a:t>耦合度低</a:t>
            </a:r>
          </a:p>
        </p:txBody>
      </p:sp>
      <p:sp>
        <p:nvSpPr>
          <p:cNvPr id="78" name="下箭头 77">
            <a:extLst>
              <a:ext uri="{FF2B5EF4-FFF2-40B4-BE49-F238E27FC236}">
                <a16:creationId xmlns:a16="http://schemas.microsoft.com/office/drawing/2014/main" id="{B32894CA-956E-F278-7AF7-E33C3D9B9163}"/>
              </a:ext>
            </a:extLst>
          </p:cNvPr>
          <p:cNvSpPr/>
          <p:nvPr/>
        </p:nvSpPr>
        <p:spPr>
          <a:xfrm>
            <a:off x="385425" y="4262237"/>
            <a:ext cx="694006" cy="6727278"/>
          </a:xfrm>
          <a:prstGeom prst="downArrow">
            <a:avLst>
              <a:gd name="adj1" fmla="val 50000"/>
              <a:gd name="adj2" fmla="val 160185"/>
            </a:avLst>
          </a:prstGeom>
          <a:solidFill>
            <a:srgbClr val="6C8EB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6400"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cxnSp>
        <p:nvCxnSpPr>
          <p:cNvPr id="79" name="直线箭头连接符 78">
            <a:extLst>
              <a:ext uri="{FF2B5EF4-FFF2-40B4-BE49-F238E27FC236}">
                <a16:creationId xmlns:a16="http://schemas.microsoft.com/office/drawing/2014/main" id="{D705DB08-91E7-66AA-ED98-4119B88B2351}"/>
              </a:ext>
            </a:extLst>
          </p:cNvPr>
          <p:cNvCxnSpPr>
            <a:cxnSpLocks/>
          </p:cNvCxnSpPr>
          <p:nvPr/>
        </p:nvCxnSpPr>
        <p:spPr>
          <a:xfrm>
            <a:off x="9005532" y="12904334"/>
            <a:ext cx="1021368" cy="0"/>
          </a:xfrm>
          <a:prstGeom prst="straightConnector1">
            <a:avLst/>
          </a:prstGeom>
          <a:ln w="12700">
            <a:solidFill>
              <a:srgbClr val="B8545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线箭头连接符 79">
            <a:extLst>
              <a:ext uri="{FF2B5EF4-FFF2-40B4-BE49-F238E27FC236}">
                <a16:creationId xmlns:a16="http://schemas.microsoft.com/office/drawing/2014/main" id="{59BBFF27-2BF1-9456-84D1-C3269822B70B}"/>
              </a:ext>
            </a:extLst>
          </p:cNvPr>
          <p:cNvCxnSpPr>
            <a:cxnSpLocks/>
          </p:cNvCxnSpPr>
          <p:nvPr/>
        </p:nvCxnSpPr>
        <p:spPr>
          <a:xfrm>
            <a:off x="9005532" y="12431668"/>
            <a:ext cx="1021368" cy="0"/>
          </a:xfrm>
          <a:prstGeom prst="straightConnector1">
            <a:avLst/>
          </a:prstGeom>
          <a:ln w="12700">
            <a:solidFill>
              <a:srgbClr val="B8545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线箭头连接符 80">
            <a:extLst>
              <a:ext uri="{FF2B5EF4-FFF2-40B4-BE49-F238E27FC236}">
                <a16:creationId xmlns:a16="http://schemas.microsoft.com/office/drawing/2014/main" id="{85E532DA-5781-799F-70F2-A723B5C21887}"/>
              </a:ext>
            </a:extLst>
          </p:cNvPr>
          <p:cNvCxnSpPr>
            <a:cxnSpLocks/>
          </p:cNvCxnSpPr>
          <p:nvPr/>
        </p:nvCxnSpPr>
        <p:spPr>
          <a:xfrm>
            <a:off x="11449002" y="12408942"/>
            <a:ext cx="1021368" cy="0"/>
          </a:xfrm>
          <a:prstGeom prst="straightConnector1">
            <a:avLst/>
          </a:prstGeom>
          <a:ln w="12700">
            <a:solidFill>
              <a:srgbClr val="B8545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线箭头连接符 81">
            <a:extLst>
              <a:ext uri="{FF2B5EF4-FFF2-40B4-BE49-F238E27FC236}">
                <a16:creationId xmlns:a16="http://schemas.microsoft.com/office/drawing/2014/main" id="{746CCDAD-91FF-2928-19DC-68575AE4828C}"/>
              </a:ext>
            </a:extLst>
          </p:cNvPr>
          <p:cNvCxnSpPr>
            <a:cxnSpLocks/>
          </p:cNvCxnSpPr>
          <p:nvPr/>
        </p:nvCxnSpPr>
        <p:spPr>
          <a:xfrm>
            <a:off x="11449002" y="12904334"/>
            <a:ext cx="1021368" cy="0"/>
          </a:xfrm>
          <a:prstGeom prst="straightConnector1">
            <a:avLst/>
          </a:prstGeom>
          <a:ln w="12700">
            <a:solidFill>
              <a:srgbClr val="B8545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5673501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BCB953-3073-9107-8AE3-DDEC1B318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空白页面，自由制作">
            <a:extLst>
              <a:ext uri="{FF2B5EF4-FFF2-40B4-BE49-F238E27FC236}">
                <a16:creationId xmlns:a16="http://schemas.microsoft.com/office/drawing/2014/main" id="{DFE5D586-B8CB-B487-52F6-3EB463D73048}"/>
              </a:ext>
            </a:extLst>
          </p:cNvPr>
          <p:cNvSpPr txBox="1"/>
          <p:nvPr/>
        </p:nvSpPr>
        <p:spPr>
          <a:xfrm>
            <a:off x="882104" y="590745"/>
            <a:ext cx="10659656" cy="913711"/>
          </a:xfrm>
          <a:prstGeom prst="rect">
            <a:avLst/>
          </a:prstGeom>
          <a:ln w="12700">
            <a:miter lim="400000"/>
          </a:ln>
        </p:spPr>
        <p:txBody>
          <a:bodyPr wrap="square" lIns="71437" tIns="71437" rIns="71437" bIns="71437" anchor="ctr">
            <a:spAutoFit/>
          </a:bodyPr>
          <a:lstStyle>
            <a:lvl1pPr>
              <a:defRPr sz="6000" b="0">
                <a:solidFill>
                  <a:srgbClr val="6C6C6C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pPr algn="l"/>
            <a:r>
              <a:rPr lang="zh-CN" altLang="en-US" sz="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下一代架构展望</a:t>
            </a:r>
            <a:endParaRPr sz="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" name="圆角矩形 83">
            <a:extLst>
              <a:ext uri="{FF2B5EF4-FFF2-40B4-BE49-F238E27FC236}">
                <a16:creationId xmlns:a16="http://schemas.microsoft.com/office/drawing/2014/main" id="{C55777B3-DFE1-1099-4317-C8328430B814}"/>
              </a:ext>
            </a:extLst>
          </p:cNvPr>
          <p:cNvSpPr/>
          <p:nvPr/>
        </p:nvSpPr>
        <p:spPr>
          <a:xfrm>
            <a:off x="3394458" y="3117394"/>
            <a:ext cx="1918010" cy="602279"/>
          </a:xfrm>
          <a:prstGeom prst="roundRect">
            <a:avLst/>
          </a:prstGeom>
          <a:solidFill>
            <a:srgbClr val="FFF2CC"/>
          </a:solidFill>
          <a:ln>
            <a:solidFill>
              <a:srgbClr val="5555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b="0" dirty="0">
                <a:solidFill>
                  <a:srgbClr val="66666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TMA</a:t>
            </a:r>
            <a:r>
              <a:rPr kumimoji="1" lang="zh-CN" altLang="en-US" sz="2000" b="0" dirty="0">
                <a:solidFill>
                  <a:srgbClr val="666666"/>
                </a:solidFill>
                <a:latin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r>
              <a:rPr kumimoji="1" lang="en-US" altLang="zh-CN" sz="2000" b="0" dirty="0">
                <a:solidFill>
                  <a:srgbClr val="66666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Load</a:t>
            </a:r>
            <a:endParaRPr kumimoji="1" lang="zh-CN" altLang="en-US" sz="2000" b="0" dirty="0">
              <a:solidFill>
                <a:srgbClr val="666666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85" name="圆角矩形 84">
            <a:extLst>
              <a:ext uri="{FF2B5EF4-FFF2-40B4-BE49-F238E27FC236}">
                <a16:creationId xmlns:a16="http://schemas.microsoft.com/office/drawing/2014/main" id="{0F977447-348F-1677-43B6-02016C238FE5}"/>
              </a:ext>
            </a:extLst>
          </p:cNvPr>
          <p:cNvSpPr/>
          <p:nvPr/>
        </p:nvSpPr>
        <p:spPr>
          <a:xfrm>
            <a:off x="5447668" y="3972155"/>
            <a:ext cx="3554092" cy="602279"/>
          </a:xfrm>
          <a:prstGeom prst="roundRect">
            <a:avLst/>
          </a:prstGeom>
          <a:solidFill>
            <a:srgbClr val="DAE8FC"/>
          </a:solidFill>
          <a:ln>
            <a:solidFill>
              <a:srgbClr val="5555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b="0" dirty="0">
                <a:solidFill>
                  <a:srgbClr val="66666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Tensor Core Tile 1</a:t>
            </a:r>
            <a:endParaRPr kumimoji="1" lang="zh-CN" altLang="en-US" sz="2000" b="0" dirty="0">
              <a:solidFill>
                <a:srgbClr val="666666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86" name="圆角矩形 85">
            <a:extLst>
              <a:ext uri="{FF2B5EF4-FFF2-40B4-BE49-F238E27FC236}">
                <a16:creationId xmlns:a16="http://schemas.microsoft.com/office/drawing/2014/main" id="{F44EF663-526B-0946-7C96-76281FA72FEE}"/>
              </a:ext>
            </a:extLst>
          </p:cNvPr>
          <p:cNvSpPr/>
          <p:nvPr/>
        </p:nvSpPr>
        <p:spPr>
          <a:xfrm>
            <a:off x="5447668" y="3117393"/>
            <a:ext cx="1918010" cy="602279"/>
          </a:xfrm>
          <a:prstGeom prst="roundRect">
            <a:avLst/>
          </a:prstGeom>
          <a:solidFill>
            <a:srgbClr val="FFF2CC"/>
          </a:solidFill>
          <a:ln>
            <a:solidFill>
              <a:srgbClr val="5555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b="0" dirty="0">
                <a:solidFill>
                  <a:srgbClr val="66666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TMA</a:t>
            </a:r>
            <a:r>
              <a:rPr kumimoji="1" lang="zh-CN" altLang="en-US" sz="2000" b="0" dirty="0">
                <a:solidFill>
                  <a:srgbClr val="666666"/>
                </a:solidFill>
                <a:latin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r>
              <a:rPr kumimoji="1" lang="en-US" altLang="zh-CN" sz="2000" b="0" dirty="0">
                <a:solidFill>
                  <a:srgbClr val="66666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Load</a:t>
            </a:r>
            <a:endParaRPr kumimoji="1" lang="zh-CN" altLang="en-US" sz="2000" b="0" dirty="0">
              <a:solidFill>
                <a:srgbClr val="666666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87" name="圆角矩形 86">
            <a:extLst>
              <a:ext uri="{FF2B5EF4-FFF2-40B4-BE49-F238E27FC236}">
                <a16:creationId xmlns:a16="http://schemas.microsoft.com/office/drawing/2014/main" id="{BA0A8761-B06D-FBA1-9A00-F004289E49A8}"/>
              </a:ext>
            </a:extLst>
          </p:cNvPr>
          <p:cNvSpPr/>
          <p:nvPr/>
        </p:nvSpPr>
        <p:spPr>
          <a:xfrm>
            <a:off x="7500878" y="3117392"/>
            <a:ext cx="1918010" cy="602279"/>
          </a:xfrm>
          <a:prstGeom prst="roundRect">
            <a:avLst/>
          </a:prstGeom>
          <a:solidFill>
            <a:srgbClr val="FFF2CC"/>
          </a:solidFill>
          <a:ln>
            <a:solidFill>
              <a:srgbClr val="5555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b="0" dirty="0">
                <a:solidFill>
                  <a:srgbClr val="66666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TMA</a:t>
            </a:r>
            <a:r>
              <a:rPr kumimoji="1" lang="zh-CN" altLang="en-US" sz="2000" b="0" dirty="0">
                <a:solidFill>
                  <a:srgbClr val="666666"/>
                </a:solidFill>
                <a:latin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r>
              <a:rPr kumimoji="1" lang="en-US" altLang="zh-CN" sz="2000" b="0" dirty="0">
                <a:solidFill>
                  <a:srgbClr val="66666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Load</a:t>
            </a:r>
            <a:endParaRPr kumimoji="1" lang="zh-CN" altLang="en-US" sz="2000" b="0" dirty="0">
              <a:solidFill>
                <a:srgbClr val="666666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88" name="圆角矩形 87">
            <a:extLst>
              <a:ext uri="{FF2B5EF4-FFF2-40B4-BE49-F238E27FC236}">
                <a16:creationId xmlns:a16="http://schemas.microsoft.com/office/drawing/2014/main" id="{C9CAC818-C981-5FCE-BD2B-CC6B9F140066}"/>
              </a:ext>
            </a:extLst>
          </p:cNvPr>
          <p:cNvSpPr/>
          <p:nvPr/>
        </p:nvSpPr>
        <p:spPr>
          <a:xfrm>
            <a:off x="9554088" y="3117392"/>
            <a:ext cx="1918010" cy="602279"/>
          </a:xfrm>
          <a:prstGeom prst="roundRect">
            <a:avLst/>
          </a:prstGeom>
          <a:solidFill>
            <a:srgbClr val="FFF2CC"/>
          </a:solidFill>
          <a:ln>
            <a:solidFill>
              <a:srgbClr val="5555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b="0" dirty="0">
                <a:solidFill>
                  <a:srgbClr val="66666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TMA</a:t>
            </a:r>
            <a:r>
              <a:rPr kumimoji="1" lang="zh-CN" altLang="en-US" sz="2000" b="0" dirty="0">
                <a:solidFill>
                  <a:srgbClr val="666666"/>
                </a:solidFill>
                <a:latin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r>
              <a:rPr kumimoji="1" lang="en-US" altLang="zh-CN" sz="2000" b="0" dirty="0">
                <a:solidFill>
                  <a:srgbClr val="66666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Load</a:t>
            </a:r>
            <a:endParaRPr kumimoji="1" lang="zh-CN" altLang="en-US" sz="2000" b="0" dirty="0">
              <a:solidFill>
                <a:srgbClr val="666666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04" name="圆角矩形 103">
            <a:extLst>
              <a:ext uri="{FF2B5EF4-FFF2-40B4-BE49-F238E27FC236}">
                <a16:creationId xmlns:a16="http://schemas.microsoft.com/office/drawing/2014/main" id="{3FAD914F-05B1-0DA0-F1E1-E070FED36FF0}"/>
              </a:ext>
            </a:extLst>
          </p:cNvPr>
          <p:cNvSpPr/>
          <p:nvPr/>
        </p:nvSpPr>
        <p:spPr>
          <a:xfrm>
            <a:off x="11607298" y="3117391"/>
            <a:ext cx="1918010" cy="602279"/>
          </a:xfrm>
          <a:prstGeom prst="roundRect">
            <a:avLst/>
          </a:prstGeom>
          <a:solidFill>
            <a:srgbClr val="FFF2CC"/>
          </a:solidFill>
          <a:ln>
            <a:solidFill>
              <a:srgbClr val="5555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b="0" dirty="0">
                <a:solidFill>
                  <a:srgbClr val="66666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TMA</a:t>
            </a:r>
            <a:r>
              <a:rPr kumimoji="1" lang="zh-CN" altLang="en-US" sz="2000" b="0" dirty="0">
                <a:solidFill>
                  <a:srgbClr val="666666"/>
                </a:solidFill>
                <a:latin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r>
              <a:rPr kumimoji="1" lang="en-US" altLang="zh-CN" sz="2000" b="0" dirty="0">
                <a:solidFill>
                  <a:srgbClr val="66666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Load</a:t>
            </a:r>
            <a:endParaRPr kumimoji="1" lang="zh-CN" altLang="en-US" sz="2000" b="0" dirty="0">
              <a:solidFill>
                <a:srgbClr val="666666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4F930A9B-C34F-F979-C518-8C1D41EE14CC}"/>
              </a:ext>
            </a:extLst>
          </p:cNvPr>
          <p:cNvSpPr txBox="1"/>
          <p:nvPr/>
        </p:nvSpPr>
        <p:spPr>
          <a:xfrm>
            <a:off x="202466" y="2392303"/>
            <a:ext cx="2653290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300" b="0" dirty="0">
                <a:solidFill>
                  <a:srgbClr val="44444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Scheduler Warp</a:t>
            </a:r>
            <a:endParaRPr kumimoji="1" lang="zh-CN" altLang="en-US" sz="2300" b="0" dirty="0">
              <a:solidFill>
                <a:srgbClr val="444444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7728F7B3-7086-221A-AE23-6E850A303D9E}"/>
              </a:ext>
            </a:extLst>
          </p:cNvPr>
          <p:cNvSpPr txBox="1"/>
          <p:nvPr/>
        </p:nvSpPr>
        <p:spPr>
          <a:xfrm>
            <a:off x="378796" y="3198764"/>
            <a:ext cx="2476960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300" b="0" dirty="0">
                <a:solidFill>
                  <a:srgbClr val="44444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Producer Warp</a:t>
            </a:r>
            <a:endParaRPr kumimoji="1" lang="zh-CN" altLang="en-US" sz="2300" b="0" dirty="0">
              <a:solidFill>
                <a:srgbClr val="444444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66D18C93-DF01-8446-C488-B8FA4D3D43C0}"/>
              </a:ext>
            </a:extLst>
          </p:cNvPr>
          <p:cNvSpPr txBox="1"/>
          <p:nvPr/>
        </p:nvSpPr>
        <p:spPr>
          <a:xfrm>
            <a:off x="1260447" y="4048270"/>
            <a:ext cx="1595309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300" b="0" dirty="0">
                <a:solidFill>
                  <a:srgbClr val="44444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MMA Warp</a:t>
            </a:r>
            <a:endParaRPr kumimoji="1" lang="zh-CN" altLang="en-US" sz="2300" b="0" dirty="0">
              <a:solidFill>
                <a:srgbClr val="444444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156971EF-09FD-F647-3A4D-0CF98565ECB6}"/>
              </a:ext>
            </a:extLst>
          </p:cNvPr>
          <p:cNvSpPr txBox="1"/>
          <p:nvPr/>
        </p:nvSpPr>
        <p:spPr>
          <a:xfrm>
            <a:off x="1085385" y="4880708"/>
            <a:ext cx="1771639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300" b="0" dirty="0">
                <a:solidFill>
                  <a:srgbClr val="44444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Epi Warps</a:t>
            </a:r>
            <a:endParaRPr kumimoji="1" lang="zh-CN" altLang="en-US" sz="2300" b="0" dirty="0">
              <a:solidFill>
                <a:srgbClr val="444444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4F9CF011-3563-3930-C8DA-45BE71A762C6}"/>
              </a:ext>
            </a:extLst>
          </p:cNvPr>
          <p:cNvSpPr txBox="1"/>
          <p:nvPr/>
        </p:nvSpPr>
        <p:spPr>
          <a:xfrm>
            <a:off x="1094971" y="5748826"/>
            <a:ext cx="1771639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300" b="0" dirty="0">
                <a:solidFill>
                  <a:srgbClr val="44444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Comm Warp</a:t>
            </a:r>
            <a:endParaRPr kumimoji="1" lang="zh-CN" altLang="en-US" sz="2300" b="0" dirty="0">
              <a:solidFill>
                <a:srgbClr val="444444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12" name="圆角矩形 111">
            <a:extLst>
              <a:ext uri="{FF2B5EF4-FFF2-40B4-BE49-F238E27FC236}">
                <a16:creationId xmlns:a16="http://schemas.microsoft.com/office/drawing/2014/main" id="{66708955-747A-9D1E-11C1-BCF13E9D9BAB}"/>
              </a:ext>
            </a:extLst>
          </p:cNvPr>
          <p:cNvSpPr/>
          <p:nvPr/>
        </p:nvSpPr>
        <p:spPr>
          <a:xfrm>
            <a:off x="9110315" y="3969713"/>
            <a:ext cx="3554092" cy="602279"/>
          </a:xfrm>
          <a:prstGeom prst="roundRect">
            <a:avLst/>
          </a:prstGeom>
          <a:solidFill>
            <a:srgbClr val="DAE8FC"/>
          </a:solidFill>
          <a:ln>
            <a:solidFill>
              <a:srgbClr val="5555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b="0" dirty="0">
                <a:solidFill>
                  <a:srgbClr val="66666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Tensor Core Tile 1</a:t>
            </a:r>
            <a:endParaRPr kumimoji="1" lang="zh-CN" altLang="en-US" sz="2000" b="0" dirty="0">
              <a:solidFill>
                <a:srgbClr val="666666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13" name="圆角矩形 112">
            <a:extLst>
              <a:ext uri="{FF2B5EF4-FFF2-40B4-BE49-F238E27FC236}">
                <a16:creationId xmlns:a16="http://schemas.microsoft.com/office/drawing/2014/main" id="{52D57686-32FA-DAF1-EAFE-8E6BD348A11F}"/>
              </a:ext>
            </a:extLst>
          </p:cNvPr>
          <p:cNvSpPr/>
          <p:nvPr/>
        </p:nvSpPr>
        <p:spPr>
          <a:xfrm>
            <a:off x="12774550" y="3958773"/>
            <a:ext cx="3554092" cy="602279"/>
          </a:xfrm>
          <a:prstGeom prst="roundRect">
            <a:avLst/>
          </a:prstGeom>
          <a:solidFill>
            <a:srgbClr val="DAE8FC"/>
          </a:solidFill>
          <a:ln>
            <a:solidFill>
              <a:srgbClr val="5555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b="0" dirty="0">
                <a:solidFill>
                  <a:srgbClr val="66666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Tensor Core Tile 2</a:t>
            </a:r>
            <a:endParaRPr kumimoji="1" lang="zh-CN" altLang="en-US" sz="2000" b="0" dirty="0">
              <a:solidFill>
                <a:srgbClr val="666666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14" name="圆角矩形 113">
            <a:extLst>
              <a:ext uri="{FF2B5EF4-FFF2-40B4-BE49-F238E27FC236}">
                <a16:creationId xmlns:a16="http://schemas.microsoft.com/office/drawing/2014/main" id="{5ECD8F71-C2DD-6098-DFE8-93C70ECB4944}"/>
              </a:ext>
            </a:extLst>
          </p:cNvPr>
          <p:cNvSpPr/>
          <p:nvPr/>
        </p:nvSpPr>
        <p:spPr>
          <a:xfrm>
            <a:off x="16437197" y="3958772"/>
            <a:ext cx="3554092" cy="602279"/>
          </a:xfrm>
          <a:prstGeom prst="roundRect">
            <a:avLst/>
          </a:prstGeom>
          <a:solidFill>
            <a:srgbClr val="DAE8FC"/>
          </a:solidFill>
          <a:ln>
            <a:solidFill>
              <a:srgbClr val="5555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b="0" dirty="0">
                <a:solidFill>
                  <a:srgbClr val="66666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Tensor Core Tile 2</a:t>
            </a:r>
            <a:endParaRPr kumimoji="1" lang="zh-CN" altLang="en-US" sz="2000" b="0" dirty="0">
              <a:solidFill>
                <a:srgbClr val="666666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16" name="圆角矩形 115">
            <a:extLst>
              <a:ext uri="{FF2B5EF4-FFF2-40B4-BE49-F238E27FC236}">
                <a16:creationId xmlns:a16="http://schemas.microsoft.com/office/drawing/2014/main" id="{7D25AD12-A451-49B4-BE3A-A662508C81EF}"/>
              </a:ext>
            </a:extLst>
          </p:cNvPr>
          <p:cNvSpPr/>
          <p:nvPr/>
        </p:nvSpPr>
        <p:spPr>
          <a:xfrm>
            <a:off x="12774550" y="4800211"/>
            <a:ext cx="2895756" cy="602279"/>
          </a:xfrm>
          <a:prstGeom prst="roundRect">
            <a:avLst/>
          </a:prstGeom>
          <a:solidFill>
            <a:srgbClr val="D5E8D4"/>
          </a:solidFill>
          <a:ln>
            <a:solidFill>
              <a:srgbClr val="5555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b="0" dirty="0">
                <a:solidFill>
                  <a:srgbClr val="66666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Epilog 1</a:t>
            </a:r>
            <a:endParaRPr kumimoji="1" lang="zh-CN" altLang="en-US" sz="2000" b="0" dirty="0">
              <a:solidFill>
                <a:srgbClr val="666666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17" name="圆角矩形 116">
            <a:extLst>
              <a:ext uri="{FF2B5EF4-FFF2-40B4-BE49-F238E27FC236}">
                <a16:creationId xmlns:a16="http://schemas.microsoft.com/office/drawing/2014/main" id="{233E0A4F-B7FE-4362-EC15-BEF09A6596B5}"/>
              </a:ext>
            </a:extLst>
          </p:cNvPr>
          <p:cNvSpPr/>
          <p:nvPr/>
        </p:nvSpPr>
        <p:spPr>
          <a:xfrm>
            <a:off x="20083327" y="4800210"/>
            <a:ext cx="2852955" cy="602279"/>
          </a:xfrm>
          <a:prstGeom prst="roundRect">
            <a:avLst/>
          </a:prstGeom>
          <a:solidFill>
            <a:srgbClr val="D5E8D4"/>
          </a:solidFill>
          <a:ln>
            <a:solidFill>
              <a:srgbClr val="5555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b="0" dirty="0">
                <a:solidFill>
                  <a:srgbClr val="66666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Epilog 2</a:t>
            </a:r>
            <a:endParaRPr kumimoji="1" lang="zh-CN" altLang="en-US" sz="2000" b="0" dirty="0">
              <a:solidFill>
                <a:srgbClr val="666666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18" name="圆角矩形 117">
            <a:extLst>
              <a:ext uri="{FF2B5EF4-FFF2-40B4-BE49-F238E27FC236}">
                <a16:creationId xmlns:a16="http://schemas.microsoft.com/office/drawing/2014/main" id="{E20D41E7-EA9D-0495-89DD-CB0DB3132D56}"/>
              </a:ext>
            </a:extLst>
          </p:cNvPr>
          <p:cNvSpPr/>
          <p:nvPr/>
        </p:nvSpPr>
        <p:spPr>
          <a:xfrm>
            <a:off x="15670306" y="5670825"/>
            <a:ext cx="5433915" cy="602279"/>
          </a:xfrm>
          <a:prstGeom prst="roundRect">
            <a:avLst/>
          </a:prstGeom>
          <a:solidFill>
            <a:srgbClr val="F8CECC"/>
          </a:solidFill>
          <a:ln>
            <a:solidFill>
              <a:srgbClr val="5555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b="0" dirty="0">
                <a:solidFill>
                  <a:srgbClr val="66666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Comm 1</a:t>
            </a:r>
            <a:endParaRPr kumimoji="1" lang="zh-CN" altLang="en-US" sz="2000" b="0" dirty="0">
              <a:solidFill>
                <a:srgbClr val="666666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cxnSp>
        <p:nvCxnSpPr>
          <p:cNvPr id="120" name="直线连接符 119">
            <a:extLst>
              <a:ext uri="{FF2B5EF4-FFF2-40B4-BE49-F238E27FC236}">
                <a16:creationId xmlns:a16="http://schemas.microsoft.com/office/drawing/2014/main" id="{8CB23F6F-85FE-E209-5C7A-F852CC21F880}"/>
              </a:ext>
            </a:extLst>
          </p:cNvPr>
          <p:cNvCxnSpPr/>
          <p:nvPr/>
        </p:nvCxnSpPr>
        <p:spPr>
          <a:xfrm>
            <a:off x="1085386" y="7294291"/>
            <a:ext cx="22213228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文本框 120">
            <a:extLst>
              <a:ext uri="{FF2B5EF4-FFF2-40B4-BE49-F238E27FC236}">
                <a16:creationId xmlns:a16="http://schemas.microsoft.com/office/drawing/2014/main" id="{C4F6EC16-CB4A-7490-6FBF-14639D4D4AEE}"/>
              </a:ext>
            </a:extLst>
          </p:cNvPr>
          <p:cNvSpPr txBox="1"/>
          <p:nvPr/>
        </p:nvSpPr>
        <p:spPr>
          <a:xfrm>
            <a:off x="9622003" y="1794383"/>
            <a:ext cx="3839513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500" dirty="0">
                <a:solidFill>
                  <a:srgbClr val="55555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Warp Specialization</a:t>
            </a:r>
            <a:endParaRPr kumimoji="1" lang="zh-CN" altLang="en-US" sz="2500" dirty="0">
              <a:solidFill>
                <a:srgbClr val="555555"/>
              </a:solidFill>
              <a:latin typeface="JetBrains Mono NL" panose="02000009000000000000" pitchFamily="49" charset="0"/>
              <a:ea typeface="DengXian" panose="02010600030101010101" pitchFamily="2" charset="-122"/>
              <a:cs typeface="JetBrains Mono NL" panose="02000009000000000000" pitchFamily="49" charset="0"/>
            </a:endParaRPr>
          </a:p>
        </p:txBody>
      </p:sp>
      <p:sp>
        <p:nvSpPr>
          <p:cNvPr id="122" name="圆角矩形 121">
            <a:extLst>
              <a:ext uri="{FF2B5EF4-FFF2-40B4-BE49-F238E27FC236}">
                <a16:creationId xmlns:a16="http://schemas.microsoft.com/office/drawing/2014/main" id="{34CA488F-F166-8BE9-20C5-59496AD38B64}"/>
              </a:ext>
            </a:extLst>
          </p:cNvPr>
          <p:cNvSpPr/>
          <p:nvPr/>
        </p:nvSpPr>
        <p:spPr>
          <a:xfrm>
            <a:off x="3394458" y="8952982"/>
            <a:ext cx="1918010" cy="602279"/>
          </a:xfrm>
          <a:prstGeom prst="roundRect">
            <a:avLst/>
          </a:prstGeom>
          <a:solidFill>
            <a:srgbClr val="FFF2CC"/>
          </a:solidFill>
          <a:ln>
            <a:solidFill>
              <a:srgbClr val="5555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b="0" dirty="0">
                <a:solidFill>
                  <a:srgbClr val="66666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TMA</a:t>
            </a:r>
            <a:r>
              <a:rPr kumimoji="1" lang="zh-CN" altLang="en-US" sz="2000" b="0" dirty="0">
                <a:solidFill>
                  <a:srgbClr val="666666"/>
                </a:solidFill>
                <a:latin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r>
              <a:rPr kumimoji="1" lang="en-US" altLang="zh-CN" sz="2000" b="0" dirty="0">
                <a:solidFill>
                  <a:srgbClr val="66666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Load</a:t>
            </a:r>
            <a:endParaRPr kumimoji="1" lang="zh-CN" altLang="en-US" sz="2000" b="0" dirty="0">
              <a:solidFill>
                <a:srgbClr val="666666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23" name="圆角矩形 122">
            <a:extLst>
              <a:ext uri="{FF2B5EF4-FFF2-40B4-BE49-F238E27FC236}">
                <a16:creationId xmlns:a16="http://schemas.microsoft.com/office/drawing/2014/main" id="{EDB2823A-D077-0B6F-AF5F-EA606D4396C7}"/>
              </a:ext>
            </a:extLst>
          </p:cNvPr>
          <p:cNvSpPr/>
          <p:nvPr/>
        </p:nvSpPr>
        <p:spPr>
          <a:xfrm>
            <a:off x="5447668" y="9794590"/>
            <a:ext cx="3554092" cy="602279"/>
          </a:xfrm>
          <a:prstGeom prst="roundRect">
            <a:avLst/>
          </a:prstGeom>
          <a:solidFill>
            <a:srgbClr val="DAE8FC"/>
          </a:solidFill>
          <a:ln>
            <a:solidFill>
              <a:srgbClr val="5555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b="0" dirty="0">
                <a:solidFill>
                  <a:srgbClr val="66666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Tensor Core Tile 1</a:t>
            </a:r>
            <a:endParaRPr kumimoji="1" lang="zh-CN" altLang="en-US" sz="2000" b="0" dirty="0">
              <a:solidFill>
                <a:srgbClr val="666666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24" name="圆角矩形 123">
            <a:extLst>
              <a:ext uri="{FF2B5EF4-FFF2-40B4-BE49-F238E27FC236}">
                <a16:creationId xmlns:a16="http://schemas.microsoft.com/office/drawing/2014/main" id="{458FD0C8-6B18-25DD-9F21-DD0A66C72C63}"/>
              </a:ext>
            </a:extLst>
          </p:cNvPr>
          <p:cNvSpPr/>
          <p:nvPr/>
        </p:nvSpPr>
        <p:spPr>
          <a:xfrm>
            <a:off x="5447668" y="8952981"/>
            <a:ext cx="1918010" cy="602279"/>
          </a:xfrm>
          <a:prstGeom prst="roundRect">
            <a:avLst/>
          </a:prstGeom>
          <a:solidFill>
            <a:srgbClr val="FFF2CC"/>
          </a:solidFill>
          <a:ln>
            <a:solidFill>
              <a:srgbClr val="5555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b="0" dirty="0">
                <a:solidFill>
                  <a:srgbClr val="66666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TMA</a:t>
            </a:r>
            <a:r>
              <a:rPr kumimoji="1" lang="zh-CN" altLang="en-US" sz="2000" b="0" dirty="0">
                <a:solidFill>
                  <a:srgbClr val="666666"/>
                </a:solidFill>
                <a:latin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r>
              <a:rPr kumimoji="1" lang="en-US" altLang="zh-CN" sz="2000" b="0" dirty="0">
                <a:solidFill>
                  <a:srgbClr val="66666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Load</a:t>
            </a:r>
            <a:endParaRPr kumimoji="1" lang="zh-CN" altLang="en-US" sz="2000" b="0" dirty="0">
              <a:solidFill>
                <a:srgbClr val="666666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25" name="圆角矩形 124">
            <a:extLst>
              <a:ext uri="{FF2B5EF4-FFF2-40B4-BE49-F238E27FC236}">
                <a16:creationId xmlns:a16="http://schemas.microsoft.com/office/drawing/2014/main" id="{30407E6E-BE53-08F5-9D90-C5271A4CA7F2}"/>
              </a:ext>
            </a:extLst>
          </p:cNvPr>
          <p:cNvSpPr/>
          <p:nvPr/>
        </p:nvSpPr>
        <p:spPr>
          <a:xfrm>
            <a:off x="7500878" y="8952980"/>
            <a:ext cx="1918010" cy="602279"/>
          </a:xfrm>
          <a:prstGeom prst="roundRect">
            <a:avLst/>
          </a:prstGeom>
          <a:solidFill>
            <a:srgbClr val="FFF2CC"/>
          </a:solidFill>
          <a:ln>
            <a:solidFill>
              <a:srgbClr val="5555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b="0" dirty="0">
                <a:solidFill>
                  <a:srgbClr val="66666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TMA</a:t>
            </a:r>
            <a:r>
              <a:rPr kumimoji="1" lang="zh-CN" altLang="en-US" sz="2000" b="0" dirty="0">
                <a:solidFill>
                  <a:srgbClr val="666666"/>
                </a:solidFill>
                <a:latin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r>
              <a:rPr kumimoji="1" lang="en-US" altLang="zh-CN" sz="2000" b="0" dirty="0">
                <a:solidFill>
                  <a:srgbClr val="66666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Load</a:t>
            </a:r>
            <a:endParaRPr kumimoji="1" lang="zh-CN" altLang="en-US" sz="2000" b="0" dirty="0">
              <a:solidFill>
                <a:srgbClr val="666666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26" name="圆角矩形 125">
            <a:extLst>
              <a:ext uri="{FF2B5EF4-FFF2-40B4-BE49-F238E27FC236}">
                <a16:creationId xmlns:a16="http://schemas.microsoft.com/office/drawing/2014/main" id="{8DE8718F-E7D8-3E71-380A-DDE127359EAB}"/>
              </a:ext>
            </a:extLst>
          </p:cNvPr>
          <p:cNvSpPr/>
          <p:nvPr/>
        </p:nvSpPr>
        <p:spPr>
          <a:xfrm>
            <a:off x="9554088" y="8952980"/>
            <a:ext cx="1918010" cy="602279"/>
          </a:xfrm>
          <a:prstGeom prst="roundRect">
            <a:avLst/>
          </a:prstGeom>
          <a:solidFill>
            <a:srgbClr val="FFF2CC"/>
          </a:solidFill>
          <a:ln>
            <a:solidFill>
              <a:srgbClr val="5555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b="0" dirty="0">
                <a:solidFill>
                  <a:srgbClr val="66666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TMA</a:t>
            </a:r>
            <a:r>
              <a:rPr kumimoji="1" lang="zh-CN" altLang="en-US" sz="2000" b="0" dirty="0">
                <a:solidFill>
                  <a:srgbClr val="666666"/>
                </a:solidFill>
                <a:latin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r>
              <a:rPr kumimoji="1" lang="en-US" altLang="zh-CN" sz="2000" b="0" dirty="0">
                <a:solidFill>
                  <a:srgbClr val="66666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Load</a:t>
            </a:r>
            <a:endParaRPr kumimoji="1" lang="zh-CN" altLang="en-US" sz="2000" b="0" dirty="0">
              <a:solidFill>
                <a:srgbClr val="666666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27" name="圆角矩形 126">
            <a:extLst>
              <a:ext uri="{FF2B5EF4-FFF2-40B4-BE49-F238E27FC236}">
                <a16:creationId xmlns:a16="http://schemas.microsoft.com/office/drawing/2014/main" id="{63E11067-FA87-8A3F-9903-0C3701B0D491}"/>
              </a:ext>
            </a:extLst>
          </p:cNvPr>
          <p:cNvSpPr/>
          <p:nvPr/>
        </p:nvSpPr>
        <p:spPr>
          <a:xfrm>
            <a:off x="11607298" y="8952979"/>
            <a:ext cx="1918010" cy="602279"/>
          </a:xfrm>
          <a:prstGeom prst="roundRect">
            <a:avLst/>
          </a:prstGeom>
          <a:solidFill>
            <a:srgbClr val="FFF2CC"/>
          </a:solidFill>
          <a:ln>
            <a:solidFill>
              <a:srgbClr val="5555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b="0" dirty="0">
                <a:solidFill>
                  <a:srgbClr val="66666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TMA</a:t>
            </a:r>
            <a:r>
              <a:rPr kumimoji="1" lang="zh-CN" altLang="en-US" sz="2000" b="0" dirty="0">
                <a:solidFill>
                  <a:srgbClr val="666666"/>
                </a:solidFill>
                <a:latin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r>
              <a:rPr kumimoji="1" lang="en-US" altLang="zh-CN" sz="2000" b="0" dirty="0">
                <a:solidFill>
                  <a:srgbClr val="66666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Load</a:t>
            </a:r>
            <a:endParaRPr kumimoji="1" lang="zh-CN" altLang="en-US" sz="2000" b="0" dirty="0">
              <a:solidFill>
                <a:srgbClr val="666666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096" name="文本框 4095">
            <a:extLst>
              <a:ext uri="{FF2B5EF4-FFF2-40B4-BE49-F238E27FC236}">
                <a16:creationId xmlns:a16="http://schemas.microsoft.com/office/drawing/2014/main" id="{A7957AF5-C3B9-D14A-2DD2-E9818D3939DE}"/>
              </a:ext>
            </a:extLst>
          </p:cNvPr>
          <p:cNvSpPr txBox="1"/>
          <p:nvPr/>
        </p:nvSpPr>
        <p:spPr>
          <a:xfrm>
            <a:off x="213322" y="8263027"/>
            <a:ext cx="2653290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300" b="0" dirty="0">
                <a:solidFill>
                  <a:srgbClr val="44444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Scheduler Warp</a:t>
            </a:r>
            <a:endParaRPr kumimoji="1" lang="zh-CN" altLang="en-US" sz="2300" b="0" dirty="0">
              <a:solidFill>
                <a:srgbClr val="444444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097" name="文本框 4096">
            <a:extLst>
              <a:ext uri="{FF2B5EF4-FFF2-40B4-BE49-F238E27FC236}">
                <a16:creationId xmlns:a16="http://schemas.microsoft.com/office/drawing/2014/main" id="{9055FE10-62B3-9C3C-7426-625A4C85643C}"/>
              </a:ext>
            </a:extLst>
          </p:cNvPr>
          <p:cNvSpPr txBox="1"/>
          <p:nvPr/>
        </p:nvSpPr>
        <p:spPr>
          <a:xfrm>
            <a:off x="380065" y="9067432"/>
            <a:ext cx="2476960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300" b="0" dirty="0">
                <a:solidFill>
                  <a:srgbClr val="44444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Producer Warp</a:t>
            </a:r>
            <a:endParaRPr kumimoji="1" lang="zh-CN" altLang="en-US" sz="2300" b="0" dirty="0">
              <a:solidFill>
                <a:srgbClr val="444444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099" name="文本框 4098">
            <a:extLst>
              <a:ext uri="{FF2B5EF4-FFF2-40B4-BE49-F238E27FC236}">
                <a16:creationId xmlns:a16="http://schemas.microsoft.com/office/drawing/2014/main" id="{ABC0BFD7-12A3-7C85-252E-ADFA9919D70B}"/>
              </a:ext>
            </a:extLst>
          </p:cNvPr>
          <p:cNvSpPr txBox="1"/>
          <p:nvPr/>
        </p:nvSpPr>
        <p:spPr>
          <a:xfrm>
            <a:off x="1261716" y="9870149"/>
            <a:ext cx="1595309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300" b="0" dirty="0">
                <a:solidFill>
                  <a:srgbClr val="44444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MMA Warp</a:t>
            </a:r>
            <a:endParaRPr kumimoji="1" lang="zh-CN" altLang="en-US" sz="2300" b="0" dirty="0">
              <a:solidFill>
                <a:srgbClr val="444444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100" name="文本框 4099">
            <a:extLst>
              <a:ext uri="{FF2B5EF4-FFF2-40B4-BE49-F238E27FC236}">
                <a16:creationId xmlns:a16="http://schemas.microsoft.com/office/drawing/2014/main" id="{55FF5290-34DD-A339-0ED9-0501FE2F8BAC}"/>
              </a:ext>
            </a:extLst>
          </p:cNvPr>
          <p:cNvSpPr txBox="1"/>
          <p:nvPr/>
        </p:nvSpPr>
        <p:spPr>
          <a:xfrm>
            <a:off x="1085386" y="10676610"/>
            <a:ext cx="1771639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300" b="0" dirty="0">
                <a:solidFill>
                  <a:srgbClr val="44444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Epi Warps</a:t>
            </a:r>
            <a:endParaRPr kumimoji="1" lang="zh-CN" altLang="en-US" sz="2300" b="0" dirty="0">
              <a:solidFill>
                <a:srgbClr val="444444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102" name="圆角矩形 4101">
            <a:extLst>
              <a:ext uri="{FF2B5EF4-FFF2-40B4-BE49-F238E27FC236}">
                <a16:creationId xmlns:a16="http://schemas.microsoft.com/office/drawing/2014/main" id="{6166D5D2-0D14-2C0B-9557-351E85DB056B}"/>
              </a:ext>
            </a:extLst>
          </p:cNvPr>
          <p:cNvSpPr/>
          <p:nvPr/>
        </p:nvSpPr>
        <p:spPr>
          <a:xfrm>
            <a:off x="9110315" y="9792148"/>
            <a:ext cx="3554092" cy="602279"/>
          </a:xfrm>
          <a:prstGeom prst="roundRect">
            <a:avLst/>
          </a:prstGeom>
          <a:solidFill>
            <a:srgbClr val="DAE8FC"/>
          </a:solidFill>
          <a:ln>
            <a:solidFill>
              <a:srgbClr val="5555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b="0" dirty="0">
                <a:solidFill>
                  <a:srgbClr val="66666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Tensor Core Tile 1</a:t>
            </a:r>
            <a:endParaRPr kumimoji="1" lang="zh-CN" altLang="en-US" sz="2000" b="0" dirty="0">
              <a:solidFill>
                <a:srgbClr val="666666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103" name="圆角矩形 4102">
            <a:extLst>
              <a:ext uri="{FF2B5EF4-FFF2-40B4-BE49-F238E27FC236}">
                <a16:creationId xmlns:a16="http://schemas.microsoft.com/office/drawing/2014/main" id="{7B571B74-7820-4885-9C96-D2E17A9FBA58}"/>
              </a:ext>
            </a:extLst>
          </p:cNvPr>
          <p:cNvSpPr/>
          <p:nvPr/>
        </p:nvSpPr>
        <p:spPr>
          <a:xfrm>
            <a:off x="12774550" y="9781208"/>
            <a:ext cx="3554092" cy="602279"/>
          </a:xfrm>
          <a:prstGeom prst="roundRect">
            <a:avLst/>
          </a:prstGeom>
          <a:solidFill>
            <a:srgbClr val="DAE8FC"/>
          </a:solidFill>
          <a:ln>
            <a:solidFill>
              <a:srgbClr val="5555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b="0" dirty="0">
                <a:solidFill>
                  <a:srgbClr val="66666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Tensor Core Tile 2</a:t>
            </a:r>
            <a:endParaRPr kumimoji="1" lang="zh-CN" altLang="en-US" sz="2000" b="0" dirty="0">
              <a:solidFill>
                <a:srgbClr val="666666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104" name="圆角矩形 4103">
            <a:extLst>
              <a:ext uri="{FF2B5EF4-FFF2-40B4-BE49-F238E27FC236}">
                <a16:creationId xmlns:a16="http://schemas.microsoft.com/office/drawing/2014/main" id="{D49CFB55-5F2A-FA84-4B67-CDBD9D534248}"/>
              </a:ext>
            </a:extLst>
          </p:cNvPr>
          <p:cNvSpPr/>
          <p:nvPr/>
        </p:nvSpPr>
        <p:spPr>
          <a:xfrm>
            <a:off x="16437197" y="9781207"/>
            <a:ext cx="3554092" cy="602279"/>
          </a:xfrm>
          <a:prstGeom prst="roundRect">
            <a:avLst/>
          </a:prstGeom>
          <a:solidFill>
            <a:srgbClr val="DAE8FC"/>
          </a:solidFill>
          <a:ln>
            <a:solidFill>
              <a:srgbClr val="5555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b="0" dirty="0">
                <a:solidFill>
                  <a:srgbClr val="66666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Tensor Core Tile 2</a:t>
            </a:r>
            <a:endParaRPr kumimoji="1" lang="zh-CN" altLang="en-US" sz="2000" b="0" dirty="0">
              <a:solidFill>
                <a:srgbClr val="666666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105" name="圆角矩形 4104">
            <a:extLst>
              <a:ext uri="{FF2B5EF4-FFF2-40B4-BE49-F238E27FC236}">
                <a16:creationId xmlns:a16="http://schemas.microsoft.com/office/drawing/2014/main" id="{386223E3-CB1C-466F-9882-8655D89FF185}"/>
              </a:ext>
            </a:extLst>
          </p:cNvPr>
          <p:cNvSpPr/>
          <p:nvPr/>
        </p:nvSpPr>
        <p:spPr>
          <a:xfrm>
            <a:off x="12722760" y="10598611"/>
            <a:ext cx="1972775" cy="602279"/>
          </a:xfrm>
          <a:prstGeom prst="roundRect">
            <a:avLst/>
          </a:prstGeom>
          <a:solidFill>
            <a:srgbClr val="D5E8D4"/>
          </a:solidFill>
          <a:ln>
            <a:solidFill>
              <a:srgbClr val="5555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b="0" dirty="0">
                <a:solidFill>
                  <a:srgbClr val="66666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Epilog 1</a:t>
            </a:r>
            <a:endParaRPr kumimoji="1" lang="zh-CN" altLang="en-US" sz="2000" b="0" dirty="0">
              <a:solidFill>
                <a:srgbClr val="666666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106" name="圆角矩形 4105">
            <a:extLst>
              <a:ext uri="{FF2B5EF4-FFF2-40B4-BE49-F238E27FC236}">
                <a16:creationId xmlns:a16="http://schemas.microsoft.com/office/drawing/2014/main" id="{D5E89FC8-BBF2-E153-20D4-B2F624D24839}"/>
              </a:ext>
            </a:extLst>
          </p:cNvPr>
          <p:cNvSpPr/>
          <p:nvPr/>
        </p:nvSpPr>
        <p:spPr>
          <a:xfrm>
            <a:off x="20031537" y="10598610"/>
            <a:ext cx="1972775" cy="602279"/>
          </a:xfrm>
          <a:prstGeom prst="roundRect">
            <a:avLst/>
          </a:prstGeom>
          <a:solidFill>
            <a:srgbClr val="D5E8D4"/>
          </a:solidFill>
          <a:ln>
            <a:solidFill>
              <a:srgbClr val="5555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b="0" dirty="0">
                <a:solidFill>
                  <a:srgbClr val="66666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Epilog 2</a:t>
            </a:r>
            <a:endParaRPr kumimoji="1" lang="zh-CN" altLang="en-US" sz="2000" b="0" dirty="0">
              <a:solidFill>
                <a:srgbClr val="666666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109" name="圆角矩形 4108">
            <a:extLst>
              <a:ext uri="{FF2B5EF4-FFF2-40B4-BE49-F238E27FC236}">
                <a16:creationId xmlns:a16="http://schemas.microsoft.com/office/drawing/2014/main" id="{FFED7902-24B6-CE78-991B-1C2ABAEA8DA0}"/>
              </a:ext>
            </a:extLst>
          </p:cNvPr>
          <p:cNvSpPr/>
          <p:nvPr/>
        </p:nvSpPr>
        <p:spPr>
          <a:xfrm>
            <a:off x="3394458" y="2303142"/>
            <a:ext cx="1231330" cy="602279"/>
          </a:xfrm>
          <a:prstGeom prst="roundRect">
            <a:avLst/>
          </a:prstGeom>
          <a:solidFill>
            <a:srgbClr val="FFFF88"/>
          </a:solidFill>
          <a:ln>
            <a:solidFill>
              <a:srgbClr val="5555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b="0" dirty="0">
                <a:solidFill>
                  <a:srgbClr val="66666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CLC 2</a:t>
            </a:r>
            <a:endParaRPr kumimoji="1" lang="zh-CN" altLang="en-US" sz="2000" b="0" dirty="0">
              <a:solidFill>
                <a:srgbClr val="666666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110" name="圆角矩形 4109">
            <a:extLst>
              <a:ext uri="{FF2B5EF4-FFF2-40B4-BE49-F238E27FC236}">
                <a16:creationId xmlns:a16="http://schemas.microsoft.com/office/drawing/2014/main" id="{1B350F48-F942-8B7D-5152-B351DA349F8A}"/>
              </a:ext>
            </a:extLst>
          </p:cNvPr>
          <p:cNvSpPr/>
          <p:nvPr/>
        </p:nvSpPr>
        <p:spPr>
          <a:xfrm>
            <a:off x="7500878" y="2303142"/>
            <a:ext cx="1231330" cy="602279"/>
          </a:xfrm>
          <a:prstGeom prst="roundRect">
            <a:avLst/>
          </a:prstGeom>
          <a:solidFill>
            <a:srgbClr val="FFFF88"/>
          </a:solidFill>
          <a:ln>
            <a:solidFill>
              <a:srgbClr val="5555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b="0" dirty="0">
                <a:solidFill>
                  <a:srgbClr val="66666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CLC 3</a:t>
            </a:r>
            <a:endParaRPr kumimoji="1" lang="zh-CN" altLang="en-US" sz="2000" b="0" dirty="0">
              <a:solidFill>
                <a:srgbClr val="666666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111" name="圆角矩形 4110">
            <a:extLst>
              <a:ext uri="{FF2B5EF4-FFF2-40B4-BE49-F238E27FC236}">
                <a16:creationId xmlns:a16="http://schemas.microsoft.com/office/drawing/2014/main" id="{0C7BA975-B893-9C2A-76E4-4EB086014D45}"/>
              </a:ext>
            </a:extLst>
          </p:cNvPr>
          <p:cNvSpPr/>
          <p:nvPr/>
        </p:nvSpPr>
        <p:spPr>
          <a:xfrm>
            <a:off x="3394458" y="8140246"/>
            <a:ext cx="1231330" cy="602279"/>
          </a:xfrm>
          <a:prstGeom prst="roundRect">
            <a:avLst/>
          </a:prstGeom>
          <a:solidFill>
            <a:srgbClr val="FFFF88"/>
          </a:solidFill>
          <a:ln>
            <a:solidFill>
              <a:srgbClr val="5555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b="0" dirty="0">
                <a:solidFill>
                  <a:srgbClr val="66666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CLC 2</a:t>
            </a:r>
            <a:endParaRPr kumimoji="1" lang="zh-CN" altLang="en-US" sz="2000" b="0" dirty="0">
              <a:solidFill>
                <a:srgbClr val="666666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112" name="圆角矩形 4111">
            <a:extLst>
              <a:ext uri="{FF2B5EF4-FFF2-40B4-BE49-F238E27FC236}">
                <a16:creationId xmlns:a16="http://schemas.microsoft.com/office/drawing/2014/main" id="{99941D9E-F856-DCF5-4913-5DC86043FEA8}"/>
              </a:ext>
            </a:extLst>
          </p:cNvPr>
          <p:cNvSpPr/>
          <p:nvPr/>
        </p:nvSpPr>
        <p:spPr>
          <a:xfrm>
            <a:off x="7500878" y="8140246"/>
            <a:ext cx="1231330" cy="602279"/>
          </a:xfrm>
          <a:prstGeom prst="roundRect">
            <a:avLst/>
          </a:prstGeom>
          <a:solidFill>
            <a:srgbClr val="FFFF88"/>
          </a:solidFill>
          <a:ln>
            <a:solidFill>
              <a:srgbClr val="5555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b="0" dirty="0">
                <a:solidFill>
                  <a:srgbClr val="66666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CLC 3</a:t>
            </a:r>
            <a:endParaRPr kumimoji="1" lang="zh-CN" altLang="en-US" sz="2000" b="0" dirty="0">
              <a:solidFill>
                <a:srgbClr val="666666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115" name="圆角矩形 4114">
            <a:extLst>
              <a:ext uri="{FF2B5EF4-FFF2-40B4-BE49-F238E27FC236}">
                <a16:creationId xmlns:a16="http://schemas.microsoft.com/office/drawing/2014/main" id="{DA1D18A1-02AC-D47C-E4CC-2F74F2BD1296}"/>
              </a:ext>
            </a:extLst>
          </p:cNvPr>
          <p:cNvSpPr/>
          <p:nvPr/>
        </p:nvSpPr>
        <p:spPr>
          <a:xfrm>
            <a:off x="14892759" y="10603445"/>
            <a:ext cx="1771639" cy="602279"/>
          </a:xfrm>
          <a:prstGeom prst="roundRect">
            <a:avLst/>
          </a:prstGeom>
          <a:solidFill>
            <a:srgbClr val="F8CECC"/>
          </a:solidFill>
          <a:ln>
            <a:solidFill>
              <a:srgbClr val="5555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b="0" dirty="0">
                <a:solidFill>
                  <a:srgbClr val="66666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Comm 1</a:t>
            </a:r>
            <a:endParaRPr kumimoji="1" lang="zh-CN" altLang="en-US" sz="2000" b="0" dirty="0">
              <a:solidFill>
                <a:srgbClr val="666666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116" name="圆角矩形 4115">
            <a:extLst>
              <a:ext uri="{FF2B5EF4-FFF2-40B4-BE49-F238E27FC236}">
                <a16:creationId xmlns:a16="http://schemas.microsoft.com/office/drawing/2014/main" id="{B8D03B46-6176-07CA-10AC-74CAFBB8FFFD}"/>
              </a:ext>
            </a:extLst>
          </p:cNvPr>
          <p:cNvSpPr/>
          <p:nvPr/>
        </p:nvSpPr>
        <p:spPr>
          <a:xfrm>
            <a:off x="22179455" y="10598609"/>
            <a:ext cx="1771639" cy="602279"/>
          </a:xfrm>
          <a:prstGeom prst="roundRect">
            <a:avLst/>
          </a:prstGeom>
          <a:solidFill>
            <a:srgbClr val="F8CECC"/>
          </a:solidFill>
          <a:ln>
            <a:solidFill>
              <a:srgbClr val="5555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b="0" dirty="0">
                <a:solidFill>
                  <a:srgbClr val="66666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Comm 2</a:t>
            </a:r>
            <a:endParaRPr kumimoji="1" lang="zh-CN" altLang="en-US" sz="2000" b="0" dirty="0">
              <a:solidFill>
                <a:srgbClr val="666666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117" name="文本框 4116">
            <a:extLst>
              <a:ext uri="{FF2B5EF4-FFF2-40B4-BE49-F238E27FC236}">
                <a16:creationId xmlns:a16="http://schemas.microsoft.com/office/drawing/2014/main" id="{A887CC63-6D73-E3B0-9376-5179D564C187}"/>
              </a:ext>
            </a:extLst>
          </p:cNvPr>
          <p:cNvSpPr txBox="1"/>
          <p:nvPr/>
        </p:nvSpPr>
        <p:spPr>
          <a:xfrm>
            <a:off x="10487626" y="7598701"/>
            <a:ext cx="2108269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500" dirty="0">
                <a:solidFill>
                  <a:srgbClr val="55555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Comm-as-Op</a:t>
            </a:r>
            <a:endParaRPr kumimoji="1" lang="zh-CN" altLang="en-US" sz="2500" dirty="0">
              <a:solidFill>
                <a:srgbClr val="555555"/>
              </a:solidFill>
              <a:latin typeface="JetBrains Mono NL" panose="02000009000000000000" pitchFamily="49" charset="0"/>
              <a:ea typeface="DengXian" panose="02010600030101010101" pitchFamily="2" charset="-122"/>
              <a:cs typeface="JetBrains Mono NL" panose="02000009000000000000" pitchFamily="49" charset="0"/>
            </a:endParaRPr>
          </a:p>
        </p:txBody>
      </p:sp>
      <p:sp>
        <p:nvSpPr>
          <p:cNvPr id="4118" name="文本框 4117">
            <a:extLst>
              <a:ext uri="{FF2B5EF4-FFF2-40B4-BE49-F238E27FC236}">
                <a16:creationId xmlns:a16="http://schemas.microsoft.com/office/drawing/2014/main" id="{2881401C-4F31-5F1D-2D9D-0C22BBAF4379}"/>
              </a:ext>
            </a:extLst>
          </p:cNvPr>
          <p:cNvSpPr txBox="1"/>
          <p:nvPr/>
        </p:nvSpPr>
        <p:spPr>
          <a:xfrm>
            <a:off x="22936282" y="5800742"/>
            <a:ext cx="6463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b="0" dirty="0">
                <a:solidFill>
                  <a:srgbClr val="44444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...</a:t>
            </a:r>
            <a:endParaRPr kumimoji="1" lang="zh-CN" altLang="en-US" sz="2000" b="0" dirty="0">
              <a:solidFill>
                <a:srgbClr val="444444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5381744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>
            <a:extLst>
              <a:ext uri="{FF2B5EF4-FFF2-40B4-BE49-F238E27FC236}">
                <a16:creationId xmlns:a16="http://schemas.microsoft.com/office/drawing/2014/main" id="{F4005900-EA8E-8BF0-AE07-045CCF92A4C1}"/>
              </a:ext>
            </a:extLst>
          </p:cNvPr>
          <p:cNvSpPr/>
          <p:nvPr/>
        </p:nvSpPr>
        <p:spPr>
          <a:xfrm>
            <a:off x="10664284" y="1968989"/>
            <a:ext cx="3813716" cy="1085388"/>
          </a:xfrm>
          <a:prstGeom prst="roundRect">
            <a:avLst/>
          </a:prstGeom>
          <a:solidFill>
            <a:srgbClr val="DAE8FC"/>
          </a:solidFill>
          <a:ln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3000" dirty="0">
                <a:solidFill>
                  <a:srgbClr val="555555"/>
                </a:solidFill>
                <a:latin typeface="JetBrains Mono Medium" panose="02000009000000000000" pitchFamily="2" charset="0"/>
                <a:cs typeface="JetBrains Mono Medium" panose="02000009000000000000" pitchFamily="2" charset="0"/>
              </a:rPr>
              <a:t>通信计算</a:t>
            </a:r>
            <a:r>
              <a:rPr kumimoji="1" lang="en-US" altLang="zh-CN" sz="3000" dirty="0">
                <a:solidFill>
                  <a:srgbClr val="55555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Overlap</a:t>
            </a:r>
            <a:endParaRPr kumimoji="1" lang="zh-CN" altLang="en-US" sz="3000" dirty="0">
              <a:solidFill>
                <a:srgbClr val="555555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AEC2CC0E-562B-1628-CD83-F52D8CBFD95F}"/>
              </a:ext>
            </a:extLst>
          </p:cNvPr>
          <p:cNvSpPr/>
          <p:nvPr/>
        </p:nvSpPr>
        <p:spPr>
          <a:xfrm>
            <a:off x="5345994" y="4378498"/>
            <a:ext cx="3813716" cy="717922"/>
          </a:xfrm>
          <a:prstGeom prst="roundRect">
            <a:avLst/>
          </a:prstGeom>
          <a:solidFill>
            <a:srgbClr val="FFF2CC"/>
          </a:solidFill>
          <a:ln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600" dirty="0">
                <a:solidFill>
                  <a:srgbClr val="555555"/>
                </a:solidFill>
                <a:latin typeface="JetBrains Mono Medium" panose="02000009000000000000" pitchFamily="2" charset="0"/>
                <a:ea typeface="JetBrainsMono NF" panose="02000009000000000000" pitchFamily="49" charset="0"/>
                <a:cs typeface="JetBrains Mono Medium" panose="02000009000000000000" pitchFamily="2" charset="0"/>
              </a:rPr>
              <a:t>通算融合</a:t>
            </a:r>
            <a:endParaRPr kumimoji="1" lang="zh-CN" altLang="en-US" sz="2600" dirty="0">
              <a:solidFill>
                <a:srgbClr val="555555"/>
              </a:solidFill>
              <a:latin typeface="JetBrains Mono Medium" panose="02000009000000000000" pitchFamily="2" charset="0"/>
              <a:cs typeface="JetBrains Mono Medium" panose="02000009000000000000" pitchFamily="2" charset="0"/>
            </a:endParaRP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3FB6CA70-13CC-BE2A-E28E-5EC56936CD8C}"/>
              </a:ext>
            </a:extLst>
          </p:cNvPr>
          <p:cNvSpPr/>
          <p:nvPr/>
        </p:nvSpPr>
        <p:spPr>
          <a:xfrm>
            <a:off x="15656844" y="4382434"/>
            <a:ext cx="3813716" cy="717922"/>
          </a:xfrm>
          <a:prstGeom prst="roundRect">
            <a:avLst/>
          </a:prstGeom>
          <a:solidFill>
            <a:srgbClr val="FFF2CC"/>
          </a:solidFill>
          <a:ln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600" dirty="0">
                <a:solidFill>
                  <a:srgbClr val="555555"/>
                </a:solidFill>
                <a:latin typeface="JetBrains Mono Medium" panose="02000009000000000000" pitchFamily="2" charset="0"/>
                <a:ea typeface="JetBrainsMono NF" panose="02000009000000000000" pitchFamily="49" charset="0"/>
                <a:cs typeface="JetBrains Mono Medium" panose="02000009000000000000" pitchFamily="2" charset="0"/>
              </a:rPr>
              <a:t>多流调度</a:t>
            </a:r>
            <a:endParaRPr kumimoji="1" lang="zh-CN" altLang="en-US" sz="2600" dirty="0">
              <a:solidFill>
                <a:srgbClr val="555555"/>
              </a:solidFill>
              <a:latin typeface="JetBrains Mono Medium" panose="02000009000000000000" pitchFamily="2" charset="0"/>
              <a:cs typeface="JetBrains Mono Medium" panose="02000009000000000000" pitchFamily="2" charset="0"/>
            </a:endParaRP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F61B17BF-20D8-4C0F-831C-E661FC4A0DDC}"/>
              </a:ext>
            </a:extLst>
          </p:cNvPr>
          <p:cNvSpPr/>
          <p:nvPr/>
        </p:nvSpPr>
        <p:spPr>
          <a:xfrm>
            <a:off x="3257221" y="7666474"/>
            <a:ext cx="2240334" cy="717922"/>
          </a:xfrm>
          <a:prstGeom prst="roundRect">
            <a:avLst/>
          </a:prstGeom>
          <a:solidFill>
            <a:srgbClr val="F5F5F5"/>
          </a:solidFill>
          <a:ln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400" dirty="0">
                <a:solidFill>
                  <a:srgbClr val="555555"/>
                </a:solidFill>
                <a:latin typeface="JetBrains Mono Medium" panose="02000009000000000000" pitchFamily="2" charset="0"/>
                <a:ea typeface="JetBrainsMono NF" panose="02000009000000000000" pitchFamily="49" charset="0"/>
                <a:cs typeface="JetBrains Mono Medium" panose="02000009000000000000" pitchFamily="2" charset="0"/>
              </a:rPr>
              <a:t>分离</a:t>
            </a:r>
            <a:r>
              <a:rPr kumimoji="1" lang="en-US" altLang="zh-CN" sz="2400" dirty="0">
                <a:solidFill>
                  <a:srgbClr val="55555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Kernel</a:t>
            </a:r>
            <a:endParaRPr kumimoji="1" lang="zh-CN" altLang="en-US" sz="2400" dirty="0">
              <a:solidFill>
                <a:srgbClr val="555555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7D5585A8-5192-DE14-F888-6F119C5F7497}"/>
              </a:ext>
            </a:extLst>
          </p:cNvPr>
          <p:cNvSpPr/>
          <p:nvPr/>
        </p:nvSpPr>
        <p:spPr>
          <a:xfrm>
            <a:off x="9333041" y="7666474"/>
            <a:ext cx="2240334" cy="717922"/>
          </a:xfrm>
          <a:prstGeom prst="roundRect">
            <a:avLst/>
          </a:prstGeom>
          <a:solidFill>
            <a:srgbClr val="F5F5F5"/>
          </a:solidFill>
          <a:ln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400" dirty="0">
                <a:solidFill>
                  <a:srgbClr val="555555"/>
                </a:solidFill>
                <a:latin typeface="JetBrains Mono Medium" panose="02000009000000000000" pitchFamily="2" charset="0"/>
                <a:ea typeface="JetBrainsMono NF" panose="02000009000000000000" pitchFamily="49" charset="0"/>
                <a:cs typeface="JetBrains Mono Medium" panose="02000009000000000000" pitchFamily="2" charset="0"/>
              </a:rPr>
              <a:t>独占线程</a:t>
            </a:r>
            <a:endParaRPr kumimoji="1" lang="zh-CN" altLang="en-US" sz="2400" dirty="0">
              <a:solidFill>
                <a:srgbClr val="555555"/>
              </a:solidFill>
              <a:latin typeface="JetBrains Mono Medium" panose="02000009000000000000" pitchFamily="2" charset="0"/>
              <a:cs typeface="JetBrains Mono Medium" panose="02000009000000000000" pitchFamily="2" charset="0"/>
            </a:endParaRP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99847DC5-6835-7763-731B-AD6DC240654E}"/>
              </a:ext>
            </a:extLst>
          </p:cNvPr>
          <p:cNvSpPr/>
          <p:nvPr/>
        </p:nvSpPr>
        <p:spPr>
          <a:xfrm>
            <a:off x="1735343" y="10075918"/>
            <a:ext cx="2240334" cy="717922"/>
          </a:xfrm>
          <a:prstGeom prst="roundRect">
            <a:avLst/>
          </a:prstGeom>
          <a:solidFill>
            <a:srgbClr val="EEEEEE"/>
          </a:solidFill>
          <a:ln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800" dirty="0">
                <a:solidFill>
                  <a:srgbClr val="55555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Multi-Stream</a:t>
            </a:r>
            <a:endParaRPr kumimoji="1" lang="zh-CN" altLang="en-US" sz="1800" dirty="0">
              <a:solidFill>
                <a:srgbClr val="555555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F529920B-D6B5-C3F5-C163-4F1B6655E5DD}"/>
              </a:ext>
            </a:extLst>
          </p:cNvPr>
          <p:cNvSpPr/>
          <p:nvPr/>
        </p:nvSpPr>
        <p:spPr>
          <a:xfrm>
            <a:off x="4783343" y="10075914"/>
            <a:ext cx="2240334" cy="717922"/>
          </a:xfrm>
          <a:prstGeom prst="roundRect">
            <a:avLst/>
          </a:prstGeom>
          <a:solidFill>
            <a:srgbClr val="CDEB8B"/>
          </a:solidFill>
          <a:ln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800" dirty="0">
                <a:solidFill>
                  <a:srgbClr val="55555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SMSP</a:t>
            </a:r>
            <a:endParaRPr kumimoji="1" lang="zh-CN" altLang="en-US" sz="1800" dirty="0">
              <a:solidFill>
                <a:srgbClr val="555555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E72E1656-C3DC-6E83-E5EE-DF1073343A44}"/>
              </a:ext>
            </a:extLst>
          </p:cNvPr>
          <p:cNvSpPr/>
          <p:nvPr/>
        </p:nvSpPr>
        <p:spPr>
          <a:xfrm>
            <a:off x="7831343" y="10075914"/>
            <a:ext cx="2240334" cy="717922"/>
          </a:xfrm>
          <a:prstGeom prst="roundRect">
            <a:avLst/>
          </a:prstGeom>
          <a:solidFill>
            <a:srgbClr val="FFF2CC"/>
          </a:solidFill>
          <a:ln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800" dirty="0">
                <a:solidFill>
                  <a:srgbClr val="55555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WASP</a:t>
            </a:r>
            <a:endParaRPr kumimoji="1" lang="zh-CN" altLang="en-US" sz="1800" dirty="0">
              <a:solidFill>
                <a:srgbClr val="555555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41AEE683-55E1-4A28-6B11-088CAE73DEED}"/>
              </a:ext>
            </a:extLst>
          </p:cNvPr>
          <p:cNvSpPr/>
          <p:nvPr/>
        </p:nvSpPr>
        <p:spPr>
          <a:xfrm>
            <a:off x="10879343" y="10075914"/>
            <a:ext cx="2240334" cy="717922"/>
          </a:xfrm>
          <a:prstGeom prst="roundRect">
            <a:avLst/>
          </a:prstGeom>
          <a:solidFill>
            <a:srgbClr val="F8CECC"/>
          </a:solidFill>
          <a:ln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800" dirty="0">
                <a:solidFill>
                  <a:srgbClr val="55555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Comm-as-Op</a:t>
            </a:r>
            <a:endParaRPr kumimoji="1" lang="zh-CN" altLang="en-US" sz="1800" dirty="0">
              <a:solidFill>
                <a:srgbClr val="555555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43F6B025-927A-09C0-02A9-2A7B71B34BE9}"/>
              </a:ext>
            </a:extLst>
          </p:cNvPr>
          <p:cNvSpPr/>
          <p:nvPr/>
        </p:nvSpPr>
        <p:spPr>
          <a:xfrm>
            <a:off x="13735478" y="7198656"/>
            <a:ext cx="3303416" cy="717922"/>
          </a:xfrm>
          <a:prstGeom prst="roundRect">
            <a:avLst/>
          </a:prstGeom>
          <a:solidFill>
            <a:srgbClr val="F5F5F5"/>
          </a:solidFill>
          <a:ln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rgbClr val="55555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Intra-(micro)batch</a:t>
            </a:r>
            <a:endParaRPr kumimoji="1" lang="zh-CN" altLang="en-US" sz="2000" dirty="0">
              <a:solidFill>
                <a:srgbClr val="555555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7C199BCC-2CFB-A590-174A-9F6D63D0CDAB}"/>
              </a:ext>
            </a:extLst>
          </p:cNvPr>
          <p:cNvSpPr/>
          <p:nvPr/>
        </p:nvSpPr>
        <p:spPr>
          <a:xfrm>
            <a:off x="18090467" y="7198658"/>
            <a:ext cx="3470242" cy="717922"/>
          </a:xfrm>
          <a:prstGeom prst="roundRect">
            <a:avLst/>
          </a:prstGeom>
          <a:solidFill>
            <a:srgbClr val="F5F5F5"/>
          </a:solidFill>
          <a:ln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rgbClr val="55555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Inter-(micro)batch</a:t>
            </a:r>
            <a:endParaRPr kumimoji="1" lang="zh-CN" altLang="en-US" sz="2000" dirty="0">
              <a:solidFill>
                <a:srgbClr val="555555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cxnSp>
        <p:nvCxnSpPr>
          <p:cNvPr id="17" name="肘形连接符 16">
            <a:extLst>
              <a:ext uri="{FF2B5EF4-FFF2-40B4-BE49-F238E27FC236}">
                <a16:creationId xmlns:a16="http://schemas.microsoft.com/office/drawing/2014/main" id="{9A271288-1A88-B4E0-087D-3AB84211C834}"/>
              </a:ext>
            </a:extLst>
          </p:cNvPr>
          <p:cNvCxnSpPr>
            <a:stCxn id="6" idx="2"/>
            <a:endCxn id="8" idx="0"/>
          </p:cNvCxnSpPr>
          <p:nvPr/>
        </p:nvCxnSpPr>
        <p:spPr>
          <a:xfrm rot="5400000">
            <a:off x="4530095" y="4943713"/>
            <a:ext cx="2570054" cy="2875464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肘形连接符 18">
            <a:extLst>
              <a:ext uri="{FF2B5EF4-FFF2-40B4-BE49-F238E27FC236}">
                <a16:creationId xmlns:a16="http://schemas.microsoft.com/office/drawing/2014/main" id="{7CA0E261-9464-A13D-8302-EB2A29338F80}"/>
              </a:ext>
            </a:extLst>
          </p:cNvPr>
          <p:cNvCxnSpPr>
            <a:stCxn id="6" idx="2"/>
            <a:endCxn id="9" idx="0"/>
          </p:cNvCxnSpPr>
          <p:nvPr/>
        </p:nvCxnSpPr>
        <p:spPr>
          <a:xfrm rot="16200000" flipH="1">
            <a:off x="7568005" y="4781267"/>
            <a:ext cx="2570054" cy="3200356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肘形连接符 19">
            <a:extLst>
              <a:ext uri="{FF2B5EF4-FFF2-40B4-BE49-F238E27FC236}">
                <a16:creationId xmlns:a16="http://schemas.microsoft.com/office/drawing/2014/main" id="{560CA665-79B6-52AB-192F-F36EE83F9428}"/>
              </a:ext>
            </a:extLst>
          </p:cNvPr>
          <p:cNvCxnSpPr>
            <a:cxnSpLocks/>
            <a:stCxn id="7" idx="2"/>
            <a:endCxn id="14" idx="0"/>
          </p:cNvCxnSpPr>
          <p:nvPr/>
        </p:nvCxnSpPr>
        <p:spPr>
          <a:xfrm rot="5400000">
            <a:off x="15426294" y="5061247"/>
            <a:ext cx="2098300" cy="2176516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肘形连接符 22">
            <a:extLst>
              <a:ext uri="{FF2B5EF4-FFF2-40B4-BE49-F238E27FC236}">
                <a16:creationId xmlns:a16="http://schemas.microsoft.com/office/drawing/2014/main" id="{965B8D1D-6438-5DFE-FDC6-CC4A3629180C}"/>
              </a:ext>
            </a:extLst>
          </p:cNvPr>
          <p:cNvCxnSpPr>
            <a:cxnSpLocks/>
            <a:stCxn id="7" idx="2"/>
            <a:endCxn id="15" idx="0"/>
          </p:cNvCxnSpPr>
          <p:nvPr/>
        </p:nvCxnSpPr>
        <p:spPr>
          <a:xfrm rot="16200000" flipH="1">
            <a:off x="17645495" y="5018562"/>
            <a:ext cx="2098302" cy="2261886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442F0323-2C2A-9FA7-ECD0-2EDF311161C7}"/>
              </a:ext>
            </a:extLst>
          </p:cNvPr>
          <p:cNvSpPr txBox="1"/>
          <p:nvPr/>
        </p:nvSpPr>
        <p:spPr>
          <a:xfrm>
            <a:off x="6502841" y="6460180"/>
            <a:ext cx="172835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200" dirty="0">
                <a:solidFill>
                  <a:srgbClr val="555555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JetBrains Mono Medium" panose="02000009000000000000" pitchFamily="2" charset="0"/>
              </a:rPr>
              <a:t>是否独占</a:t>
            </a:r>
            <a:r>
              <a:rPr kumimoji="1" lang="en-US" altLang="zh-CN" sz="2200" dirty="0">
                <a:solidFill>
                  <a:srgbClr val="555555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JetBrains Mono NL" panose="02000009000000000000" pitchFamily="49" charset="0"/>
              </a:rPr>
              <a:t>SM</a:t>
            </a:r>
            <a:endParaRPr kumimoji="1" lang="zh-CN" altLang="en-US" sz="2200" dirty="0">
              <a:solidFill>
                <a:srgbClr val="555555"/>
              </a:solidFill>
              <a:latin typeface="DengXian" panose="02010600030101010101" pitchFamily="2" charset="-122"/>
              <a:ea typeface="DengXian" panose="02010600030101010101" pitchFamily="2" charset="-122"/>
              <a:cs typeface="JetBrains Mono NL" panose="02000009000000000000" pitchFamily="49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52D1827-8CB9-E200-C868-C7E1C14800F1}"/>
              </a:ext>
            </a:extLst>
          </p:cNvPr>
          <p:cNvSpPr txBox="1"/>
          <p:nvPr/>
        </p:nvSpPr>
        <p:spPr>
          <a:xfrm>
            <a:off x="10459238" y="6948552"/>
            <a:ext cx="47160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200" dirty="0">
                <a:solidFill>
                  <a:srgbClr val="555555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JetBrains Mono Medium" panose="02000009000000000000" pitchFamily="2" charset="0"/>
              </a:rPr>
              <a:t>否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56CA38FC-0F0B-D063-FE2E-B95185C1D38B}"/>
              </a:ext>
            </a:extLst>
          </p:cNvPr>
          <p:cNvSpPr txBox="1"/>
          <p:nvPr/>
        </p:nvSpPr>
        <p:spPr>
          <a:xfrm>
            <a:off x="3777574" y="6946176"/>
            <a:ext cx="47160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200" dirty="0">
                <a:solidFill>
                  <a:srgbClr val="555555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JetBrains Mono Medium" panose="02000009000000000000" pitchFamily="2" charset="0"/>
              </a:rPr>
              <a:t>是</a:t>
            </a:r>
          </a:p>
        </p:txBody>
      </p:sp>
      <p:cxnSp>
        <p:nvCxnSpPr>
          <p:cNvPr id="29" name="肘形连接符 28">
            <a:extLst>
              <a:ext uri="{FF2B5EF4-FFF2-40B4-BE49-F238E27FC236}">
                <a16:creationId xmlns:a16="http://schemas.microsoft.com/office/drawing/2014/main" id="{3D5353A7-900D-F4CE-87E4-7DC17B185856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 rot="5400000">
            <a:off x="2770691" y="8469218"/>
            <a:ext cx="1691522" cy="1521878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肘形连接符 31">
            <a:extLst>
              <a:ext uri="{FF2B5EF4-FFF2-40B4-BE49-F238E27FC236}">
                <a16:creationId xmlns:a16="http://schemas.microsoft.com/office/drawing/2014/main" id="{8CBC8ED0-B7D0-CC06-0E45-BB9A6C997AEA}"/>
              </a:ext>
            </a:extLst>
          </p:cNvPr>
          <p:cNvCxnSpPr>
            <a:cxnSpLocks/>
            <a:stCxn id="8" idx="2"/>
            <a:endCxn id="11" idx="0"/>
          </p:cNvCxnSpPr>
          <p:nvPr/>
        </p:nvCxnSpPr>
        <p:spPr>
          <a:xfrm rot="16200000" flipH="1">
            <a:off x="4294691" y="8467092"/>
            <a:ext cx="1691518" cy="1526122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C244F5F4-239D-3C86-859B-ACC799AAE238}"/>
              </a:ext>
            </a:extLst>
          </p:cNvPr>
          <p:cNvSpPr txBox="1"/>
          <p:nvPr/>
        </p:nvSpPr>
        <p:spPr>
          <a:xfrm>
            <a:off x="5925440" y="9318686"/>
            <a:ext cx="104547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200" dirty="0">
                <a:solidFill>
                  <a:srgbClr val="555555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JetBrains Mono Medium" panose="02000009000000000000" pitchFamily="2" charset="0"/>
              </a:rPr>
              <a:t>不分离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06E40226-538E-6C1E-24DF-E2F49341253B}"/>
              </a:ext>
            </a:extLst>
          </p:cNvPr>
          <p:cNvSpPr txBox="1"/>
          <p:nvPr/>
        </p:nvSpPr>
        <p:spPr>
          <a:xfrm>
            <a:off x="2056477" y="9357996"/>
            <a:ext cx="75854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200" dirty="0">
                <a:solidFill>
                  <a:srgbClr val="555555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JetBrains Mono Medium" panose="02000009000000000000" pitchFamily="2" charset="0"/>
              </a:rPr>
              <a:t>分离</a:t>
            </a:r>
          </a:p>
        </p:txBody>
      </p:sp>
      <p:cxnSp>
        <p:nvCxnSpPr>
          <p:cNvPr id="37" name="肘形连接符 36">
            <a:extLst>
              <a:ext uri="{FF2B5EF4-FFF2-40B4-BE49-F238E27FC236}">
                <a16:creationId xmlns:a16="http://schemas.microsoft.com/office/drawing/2014/main" id="{F71ADE5C-237F-3E6A-2350-6D127E4D4390}"/>
              </a:ext>
            </a:extLst>
          </p:cNvPr>
          <p:cNvCxnSpPr>
            <a:cxnSpLocks/>
            <a:stCxn id="9" idx="2"/>
            <a:endCxn id="12" idx="0"/>
          </p:cNvCxnSpPr>
          <p:nvPr/>
        </p:nvCxnSpPr>
        <p:spPr>
          <a:xfrm rot="5400000">
            <a:off x="8856603" y="8479306"/>
            <a:ext cx="1691518" cy="1501698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肘形连接符 39">
            <a:extLst>
              <a:ext uri="{FF2B5EF4-FFF2-40B4-BE49-F238E27FC236}">
                <a16:creationId xmlns:a16="http://schemas.microsoft.com/office/drawing/2014/main" id="{47FFEDB4-4F85-0186-E5CA-C11B4A5913E0}"/>
              </a:ext>
            </a:extLst>
          </p:cNvPr>
          <p:cNvCxnSpPr>
            <a:cxnSpLocks/>
            <a:stCxn id="9" idx="2"/>
            <a:endCxn id="13" idx="0"/>
          </p:cNvCxnSpPr>
          <p:nvPr/>
        </p:nvCxnSpPr>
        <p:spPr>
          <a:xfrm rot="16200000" flipH="1">
            <a:off x="10380601" y="8457002"/>
            <a:ext cx="1691518" cy="1546302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ADA36ACE-2F96-0EC7-3CD5-2F433DD4B44B}"/>
              </a:ext>
            </a:extLst>
          </p:cNvPr>
          <p:cNvSpPr txBox="1"/>
          <p:nvPr/>
        </p:nvSpPr>
        <p:spPr>
          <a:xfrm>
            <a:off x="8098361" y="9319744"/>
            <a:ext cx="75854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200" dirty="0">
                <a:solidFill>
                  <a:srgbClr val="555555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JetBrains Mono Medium" panose="02000009000000000000" pitchFamily="2" charset="0"/>
              </a:rPr>
              <a:t>独占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4750001E-18A6-E781-AFAE-5E85CB4B36B6}"/>
              </a:ext>
            </a:extLst>
          </p:cNvPr>
          <p:cNvSpPr txBox="1"/>
          <p:nvPr/>
        </p:nvSpPr>
        <p:spPr>
          <a:xfrm>
            <a:off x="12077544" y="9357996"/>
            <a:ext cx="104547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200" dirty="0">
                <a:solidFill>
                  <a:srgbClr val="555555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JetBrains Mono Medium" panose="02000009000000000000" pitchFamily="2" charset="0"/>
              </a:rPr>
              <a:t>不独占</a:t>
            </a:r>
          </a:p>
        </p:txBody>
      </p:sp>
      <p:cxnSp>
        <p:nvCxnSpPr>
          <p:cNvPr id="45" name="肘形连接符 44">
            <a:extLst>
              <a:ext uri="{FF2B5EF4-FFF2-40B4-BE49-F238E27FC236}">
                <a16:creationId xmlns:a16="http://schemas.microsoft.com/office/drawing/2014/main" id="{CC2F93C0-A69A-82FD-48A3-0F28D93C4045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 rot="5400000">
            <a:off x="9249938" y="1057294"/>
            <a:ext cx="1324120" cy="5318290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肘形连接符 47">
            <a:extLst>
              <a:ext uri="{FF2B5EF4-FFF2-40B4-BE49-F238E27FC236}">
                <a16:creationId xmlns:a16="http://schemas.microsoft.com/office/drawing/2014/main" id="{67C33163-0A61-7A92-7D05-49598FFED73E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 rot="16200000" flipH="1">
            <a:off x="14403394" y="1222125"/>
            <a:ext cx="1328056" cy="4992560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本框 50">
            <a:extLst>
              <a:ext uri="{FF2B5EF4-FFF2-40B4-BE49-F238E27FC236}">
                <a16:creationId xmlns:a16="http://schemas.microsoft.com/office/drawing/2014/main" id="{F92ACE8F-4FA6-4E63-E98C-C900EBBC2037}"/>
              </a:ext>
            </a:extLst>
          </p:cNvPr>
          <p:cNvSpPr txBox="1"/>
          <p:nvPr/>
        </p:nvSpPr>
        <p:spPr>
          <a:xfrm>
            <a:off x="11466750" y="3784128"/>
            <a:ext cx="21932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200" dirty="0">
                <a:solidFill>
                  <a:srgbClr val="555555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JetBrains Mono Medium" panose="02000009000000000000" pitchFamily="2" charset="0"/>
              </a:rPr>
              <a:t>是否需要改算子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EFF1E337-8B4B-1E6D-C78F-ED7DE5C74C61}"/>
              </a:ext>
            </a:extLst>
          </p:cNvPr>
          <p:cNvSpPr txBox="1"/>
          <p:nvPr/>
        </p:nvSpPr>
        <p:spPr>
          <a:xfrm>
            <a:off x="17680446" y="3784128"/>
            <a:ext cx="47160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200" dirty="0">
                <a:solidFill>
                  <a:srgbClr val="555555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JetBrains Mono Medium" panose="02000009000000000000" pitchFamily="2" charset="0"/>
              </a:rPr>
              <a:t>否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68F264EA-B5C2-56BB-AB0B-DF0309D5CAD6}"/>
              </a:ext>
            </a:extLst>
          </p:cNvPr>
          <p:cNvSpPr txBox="1"/>
          <p:nvPr/>
        </p:nvSpPr>
        <p:spPr>
          <a:xfrm>
            <a:off x="6738372" y="3784128"/>
            <a:ext cx="47160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200" dirty="0">
                <a:solidFill>
                  <a:srgbClr val="555555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JetBrains Mono Medium" panose="02000009000000000000" pitchFamily="2" charset="0"/>
              </a:rPr>
              <a:t>是</a:t>
            </a:r>
          </a:p>
        </p:txBody>
      </p:sp>
      <p:sp>
        <p:nvSpPr>
          <p:cNvPr id="2" name="空白页面，自由制作">
            <a:extLst>
              <a:ext uri="{FF2B5EF4-FFF2-40B4-BE49-F238E27FC236}">
                <a16:creationId xmlns:a16="http://schemas.microsoft.com/office/drawing/2014/main" id="{96E0B7A7-ED26-04CE-5B0F-B62EE695284E}"/>
              </a:ext>
            </a:extLst>
          </p:cNvPr>
          <p:cNvSpPr txBox="1"/>
          <p:nvPr/>
        </p:nvSpPr>
        <p:spPr>
          <a:xfrm>
            <a:off x="882105" y="590745"/>
            <a:ext cx="7584562" cy="913711"/>
          </a:xfrm>
          <a:prstGeom prst="rect">
            <a:avLst/>
          </a:prstGeom>
          <a:ln w="12700">
            <a:miter lim="400000"/>
          </a:ln>
        </p:spPr>
        <p:txBody>
          <a:bodyPr wrap="square" lIns="71437" tIns="71437" rIns="71437" bIns="71437" anchor="ctr">
            <a:spAutoFit/>
          </a:bodyPr>
          <a:lstStyle>
            <a:lvl1pPr>
              <a:defRPr sz="6000" b="0">
                <a:solidFill>
                  <a:srgbClr val="6C6C6C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pPr algn="l"/>
            <a:r>
              <a:rPr lang="zh-CN" altLang="en-US" sz="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按原理特性分类</a:t>
            </a:r>
            <a:endParaRPr sz="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021681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>
            <a:extLst>
              <a:ext uri="{FF2B5EF4-FFF2-40B4-BE49-F238E27FC236}">
                <a16:creationId xmlns:a16="http://schemas.microsoft.com/office/drawing/2014/main" id="{962E6204-8B7B-CA27-2B9F-02A89AF30F7C}"/>
              </a:ext>
            </a:extLst>
          </p:cNvPr>
          <p:cNvSpPr/>
          <p:nvPr/>
        </p:nvSpPr>
        <p:spPr>
          <a:xfrm>
            <a:off x="10184290" y="2494980"/>
            <a:ext cx="1869688" cy="587298"/>
          </a:xfrm>
          <a:prstGeom prst="roundRect">
            <a:avLst/>
          </a:prstGeom>
          <a:solidFill>
            <a:srgbClr val="DAE8FC"/>
          </a:solidFill>
          <a:ln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rgbClr val="55555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Batch</a:t>
            </a:r>
            <a:r>
              <a:rPr kumimoji="1" lang="zh-CN" altLang="en-US" sz="2000" dirty="0">
                <a:solidFill>
                  <a:srgbClr val="555555"/>
                </a:solidFill>
                <a:latin typeface="JetBrains Mono NL" panose="02000009000000000000" pitchFamily="49" charset="0"/>
                <a:ea typeface="JetBrainsMono NF" panose="02000009000000000000" pitchFamily="49" charset="0"/>
                <a:cs typeface="JetBrains Mono NL" panose="02000009000000000000" pitchFamily="49" charset="0"/>
              </a:rPr>
              <a:t>大</a:t>
            </a:r>
            <a:endParaRPr kumimoji="1" lang="zh-CN" altLang="en-US" sz="2000" dirty="0">
              <a:solidFill>
                <a:srgbClr val="555555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CEFE2A38-AD86-B37D-E766-DA27E89ADDDC}"/>
              </a:ext>
            </a:extLst>
          </p:cNvPr>
          <p:cNvSpPr/>
          <p:nvPr/>
        </p:nvSpPr>
        <p:spPr>
          <a:xfrm>
            <a:off x="5688776" y="3910122"/>
            <a:ext cx="1869688" cy="587298"/>
          </a:xfrm>
          <a:prstGeom prst="roundRect">
            <a:avLst/>
          </a:prstGeom>
          <a:solidFill>
            <a:srgbClr val="DAE8FC"/>
          </a:solidFill>
          <a:ln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dirty="0">
                <a:solidFill>
                  <a:srgbClr val="555555"/>
                </a:solidFill>
                <a:latin typeface="JetBrains Mono NL" panose="02000009000000000000" pitchFamily="49" charset="0"/>
                <a:ea typeface="JetBrainsMono NF" panose="02000009000000000000" pitchFamily="49" charset="0"/>
                <a:cs typeface="JetBrains Mono NL" panose="02000009000000000000" pitchFamily="49" charset="0"/>
              </a:rPr>
              <a:t>长度均衡</a:t>
            </a:r>
            <a:endParaRPr kumimoji="1" lang="zh-CN" altLang="en-US" sz="2000" dirty="0">
              <a:solidFill>
                <a:srgbClr val="555555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C158ABCF-A499-D090-13C0-EE4792F3965A}"/>
              </a:ext>
            </a:extLst>
          </p:cNvPr>
          <p:cNvSpPr/>
          <p:nvPr/>
        </p:nvSpPr>
        <p:spPr>
          <a:xfrm>
            <a:off x="2421472" y="5826008"/>
            <a:ext cx="3267304" cy="587298"/>
          </a:xfrm>
          <a:prstGeom prst="roundRect">
            <a:avLst/>
          </a:prstGeom>
          <a:solidFill>
            <a:srgbClr val="D5E8D4"/>
          </a:solidFill>
          <a:ln w="19050"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rgbClr val="55555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Inter-(micro)batch</a:t>
            </a:r>
            <a:endParaRPr kumimoji="1" lang="zh-CN" altLang="en-US" sz="2000" dirty="0">
              <a:solidFill>
                <a:srgbClr val="555555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4960B433-72B7-D4FE-CA3B-14A9E053F925}"/>
              </a:ext>
            </a:extLst>
          </p:cNvPr>
          <p:cNvSpPr/>
          <p:nvPr/>
        </p:nvSpPr>
        <p:spPr>
          <a:xfrm>
            <a:off x="7558466" y="5826008"/>
            <a:ext cx="2750100" cy="587298"/>
          </a:xfrm>
          <a:prstGeom prst="roundRect">
            <a:avLst/>
          </a:prstGeom>
          <a:solidFill>
            <a:srgbClr val="DAE8FC"/>
          </a:solidFill>
          <a:ln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rgbClr val="55555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Chunk</a:t>
            </a:r>
            <a:r>
              <a:rPr kumimoji="1" lang="zh-CN" altLang="en-US" sz="2000" dirty="0">
                <a:solidFill>
                  <a:srgbClr val="555555"/>
                </a:solidFill>
                <a:latin typeface="JetBrains Mono NL" panose="02000009000000000000" pitchFamily="49" charset="0"/>
                <a:ea typeface="JetBrainsMono NF" panose="02000009000000000000" pitchFamily="49" charset="0"/>
                <a:cs typeface="JetBrains Mono NL" panose="02000009000000000000" pitchFamily="49" charset="0"/>
              </a:rPr>
              <a:t>符合通信要求</a:t>
            </a:r>
            <a:endParaRPr kumimoji="1" lang="zh-CN" altLang="en-US" sz="2000" dirty="0">
              <a:solidFill>
                <a:srgbClr val="555555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C7CEBD06-462E-250E-2706-DA22A86A00DB}"/>
              </a:ext>
            </a:extLst>
          </p:cNvPr>
          <p:cNvSpPr/>
          <p:nvPr/>
        </p:nvSpPr>
        <p:spPr>
          <a:xfrm>
            <a:off x="5688777" y="8348560"/>
            <a:ext cx="3267306" cy="587298"/>
          </a:xfrm>
          <a:prstGeom prst="roundRect">
            <a:avLst/>
          </a:prstGeom>
          <a:solidFill>
            <a:srgbClr val="FFE6CC"/>
          </a:solidFill>
          <a:ln w="19050"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rgbClr val="55555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Intra-(micro)batch</a:t>
            </a:r>
            <a:endParaRPr kumimoji="1" lang="zh-CN" altLang="en-US" sz="2000" dirty="0">
              <a:solidFill>
                <a:srgbClr val="555555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D7A5E88B-7BB7-F44C-9C65-4F214B4AC767}"/>
              </a:ext>
            </a:extLst>
          </p:cNvPr>
          <p:cNvSpPr/>
          <p:nvPr/>
        </p:nvSpPr>
        <p:spPr>
          <a:xfrm>
            <a:off x="14809622" y="3910120"/>
            <a:ext cx="1986204" cy="587298"/>
          </a:xfrm>
          <a:prstGeom prst="roundRect">
            <a:avLst/>
          </a:prstGeom>
          <a:solidFill>
            <a:srgbClr val="DAE8FC"/>
          </a:solidFill>
          <a:ln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dirty="0">
                <a:solidFill>
                  <a:srgbClr val="555555"/>
                </a:solidFill>
                <a:latin typeface="JetBrains Mono NL" panose="02000009000000000000" pitchFamily="49" charset="0"/>
                <a:ea typeface="JetBrainsMono NF" panose="02000009000000000000" pitchFamily="49" charset="0"/>
                <a:cs typeface="JetBrains Mono NL" panose="02000009000000000000" pitchFamily="49" charset="0"/>
              </a:rPr>
              <a:t>通信包含计算</a:t>
            </a:r>
            <a:endParaRPr kumimoji="1" lang="zh-CN" altLang="en-US" sz="2000" dirty="0">
              <a:solidFill>
                <a:srgbClr val="555555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8FE9FF41-E867-CE80-50FB-7589E029059D}"/>
              </a:ext>
            </a:extLst>
          </p:cNvPr>
          <p:cNvSpPr/>
          <p:nvPr/>
        </p:nvSpPr>
        <p:spPr>
          <a:xfrm>
            <a:off x="18195886" y="6653852"/>
            <a:ext cx="1869688" cy="587298"/>
          </a:xfrm>
          <a:prstGeom prst="roundRect">
            <a:avLst/>
          </a:prstGeom>
          <a:solidFill>
            <a:srgbClr val="DAE8FC"/>
          </a:solidFill>
          <a:ln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dirty="0">
                <a:solidFill>
                  <a:srgbClr val="555555"/>
                </a:solidFill>
                <a:latin typeface="JetBrains Mono NL" panose="02000009000000000000" pitchFamily="49" charset="0"/>
                <a:ea typeface="JetBrainsMono NF" panose="02000009000000000000" pitchFamily="49" charset="0"/>
                <a:cs typeface="JetBrains Mono NL" panose="02000009000000000000" pitchFamily="49" charset="0"/>
              </a:rPr>
              <a:t>需要同步</a:t>
            </a:r>
            <a:endParaRPr kumimoji="1" lang="zh-CN" altLang="en-US" sz="2000" dirty="0">
              <a:solidFill>
                <a:srgbClr val="555555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2E4A8D67-C28B-3CD6-1B8A-A1234EC5A624}"/>
              </a:ext>
            </a:extLst>
          </p:cNvPr>
          <p:cNvSpPr/>
          <p:nvPr/>
        </p:nvSpPr>
        <p:spPr>
          <a:xfrm>
            <a:off x="17122123" y="8348562"/>
            <a:ext cx="2023414" cy="587298"/>
          </a:xfrm>
          <a:prstGeom prst="roundRect">
            <a:avLst/>
          </a:prstGeom>
          <a:solidFill>
            <a:srgbClr val="F8CECC"/>
          </a:solidFill>
          <a:ln w="19050"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rgbClr val="55555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Comm-as-Op</a:t>
            </a:r>
            <a:endParaRPr kumimoji="1" lang="zh-CN" altLang="en-US" sz="2000" dirty="0">
              <a:solidFill>
                <a:srgbClr val="555555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CEED60D9-75F5-6EAF-310D-0EABBD461D19}"/>
              </a:ext>
            </a:extLst>
          </p:cNvPr>
          <p:cNvSpPr/>
          <p:nvPr/>
        </p:nvSpPr>
        <p:spPr>
          <a:xfrm>
            <a:off x="11770594" y="6653852"/>
            <a:ext cx="1800392" cy="587298"/>
          </a:xfrm>
          <a:prstGeom prst="roundRect">
            <a:avLst/>
          </a:prstGeom>
          <a:solidFill>
            <a:srgbClr val="DAE8FC"/>
          </a:solidFill>
          <a:ln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dirty="0">
                <a:solidFill>
                  <a:srgbClr val="555555"/>
                </a:solidFill>
                <a:latin typeface="JetBrains Mono NL" panose="02000009000000000000" pitchFamily="49" charset="0"/>
                <a:ea typeface="JetBrainsMono NF" panose="02000009000000000000" pitchFamily="49" charset="0"/>
                <a:cs typeface="JetBrains Mono NL" panose="02000009000000000000" pitchFamily="49" charset="0"/>
              </a:rPr>
              <a:t>寄存器足够</a:t>
            </a:r>
            <a:endParaRPr kumimoji="1" lang="zh-CN" altLang="en-US" sz="2000" dirty="0">
              <a:solidFill>
                <a:srgbClr val="555555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714BE22E-6D63-4BCF-1900-5BC68030EF97}"/>
              </a:ext>
            </a:extLst>
          </p:cNvPr>
          <p:cNvSpPr/>
          <p:nvPr/>
        </p:nvSpPr>
        <p:spPr>
          <a:xfrm>
            <a:off x="9503045" y="8348568"/>
            <a:ext cx="2605934" cy="587298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rgbClr val="55555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Warp</a:t>
            </a:r>
          </a:p>
          <a:p>
            <a:pPr algn="ctr"/>
            <a:r>
              <a:rPr kumimoji="1" lang="en-US" altLang="zh-CN" sz="2000" dirty="0">
                <a:solidFill>
                  <a:srgbClr val="55555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Specialization</a:t>
            </a:r>
            <a:endParaRPr kumimoji="1" lang="zh-CN" altLang="en-US" sz="2000" dirty="0">
              <a:solidFill>
                <a:srgbClr val="555555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8217FA20-B446-4FBD-5DC0-C594C69ECC22}"/>
              </a:ext>
            </a:extLst>
          </p:cNvPr>
          <p:cNvSpPr/>
          <p:nvPr/>
        </p:nvSpPr>
        <p:spPr>
          <a:xfrm>
            <a:off x="13715354" y="8348560"/>
            <a:ext cx="1800392" cy="587298"/>
          </a:xfrm>
          <a:prstGeom prst="roundRect">
            <a:avLst/>
          </a:prstGeom>
          <a:solidFill>
            <a:srgbClr val="DAE8FC"/>
          </a:solidFill>
          <a:ln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dirty="0">
                <a:solidFill>
                  <a:srgbClr val="555555"/>
                </a:solidFill>
                <a:latin typeface="JetBrains Mono NL" panose="02000009000000000000" pitchFamily="49" charset="0"/>
                <a:ea typeface="JetBrainsMono NF" panose="02000009000000000000" pitchFamily="49" charset="0"/>
                <a:cs typeface="JetBrains Mono NL" panose="02000009000000000000" pitchFamily="49" charset="0"/>
              </a:rPr>
              <a:t>算法复杂</a:t>
            </a:r>
            <a:endParaRPr kumimoji="1" lang="zh-CN" altLang="en-US" sz="2000" dirty="0">
              <a:solidFill>
                <a:srgbClr val="555555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D40385E0-D03C-DA3E-34AE-9DD8B2ED6950}"/>
              </a:ext>
            </a:extLst>
          </p:cNvPr>
          <p:cNvSpPr/>
          <p:nvPr/>
        </p:nvSpPr>
        <p:spPr>
          <a:xfrm>
            <a:off x="11770594" y="10022080"/>
            <a:ext cx="2315336" cy="587298"/>
          </a:xfrm>
          <a:prstGeom prst="roundRect">
            <a:avLst/>
          </a:prstGeom>
          <a:solidFill>
            <a:srgbClr val="EEEEEE"/>
          </a:solidFill>
          <a:ln w="19050"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rgbClr val="55555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Multi-Stream</a:t>
            </a:r>
            <a:endParaRPr kumimoji="1" lang="zh-CN" altLang="en-US" sz="2000" dirty="0">
              <a:solidFill>
                <a:srgbClr val="555555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8B2E63E1-AA87-9BD8-2E13-1D9D6831B5B9}"/>
              </a:ext>
            </a:extLst>
          </p:cNvPr>
          <p:cNvSpPr/>
          <p:nvPr/>
        </p:nvSpPr>
        <p:spPr>
          <a:xfrm>
            <a:off x="14953465" y="10022078"/>
            <a:ext cx="2569026" cy="587298"/>
          </a:xfrm>
          <a:prstGeom prst="roundRect">
            <a:avLst/>
          </a:prstGeom>
          <a:solidFill>
            <a:srgbClr val="CDEB8B"/>
          </a:solidFill>
          <a:ln w="19050"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rgbClr val="55555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SM</a:t>
            </a:r>
          </a:p>
          <a:p>
            <a:pPr algn="ctr"/>
            <a:r>
              <a:rPr kumimoji="1" lang="en-US" altLang="zh-CN" sz="2000" dirty="0">
                <a:solidFill>
                  <a:srgbClr val="55555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Specialization</a:t>
            </a:r>
            <a:endParaRPr kumimoji="1" lang="zh-CN" altLang="en-US" sz="2000" dirty="0">
              <a:solidFill>
                <a:srgbClr val="555555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cxnSp>
        <p:nvCxnSpPr>
          <p:cNvPr id="23" name="曲线连接符 22">
            <a:extLst>
              <a:ext uri="{FF2B5EF4-FFF2-40B4-BE49-F238E27FC236}">
                <a16:creationId xmlns:a16="http://schemas.microsoft.com/office/drawing/2014/main" id="{FA9E5DDF-979E-954B-CF95-0A2FEE89FF0D}"/>
              </a:ext>
            </a:extLst>
          </p:cNvPr>
          <p:cNvCxnSpPr>
            <a:stCxn id="5" idx="1"/>
            <a:endCxn id="6" idx="0"/>
          </p:cNvCxnSpPr>
          <p:nvPr/>
        </p:nvCxnSpPr>
        <p:spPr>
          <a:xfrm rot="10800000" flipV="1">
            <a:off x="6623623" y="2788629"/>
            <a:ext cx="3560670" cy="1121492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曲线连接符 23">
            <a:extLst>
              <a:ext uri="{FF2B5EF4-FFF2-40B4-BE49-F238E27FC236}">
                <a16:creationId xmlns:a16="http://schemas.microsoft.com/office/drawing/2014/main" id="{91416D67-983B-1936-A00A-C16CD6BFB529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 rot="5400000">
            <a:off x="4675078" y="3877465"/>
            <a:ext cx="1328588" cy="2568496"/>
          </a:xfrm>
          <a:prstGeom prst="bentConnector3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曲线连接符 26">
            <a:extLst>
              <a:ext uri="{FF2B5EF4-FFF2-40B4-BE49-F238E27FC236}">
                <a16:creationId xmlns:a16="http://schemas.microsoft.com/office/drawing/2014/main" id="{C765E9EF-6D21-FE82-6D54-C9A060CE7DA9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 rot="16200000" flipH="1">
            <a:off x="7114274" y="4006765"/>
            <a:ext cx="1328588" cy="2309896"/>
          </a:xfrm>
          <a:prstGeom prst="bentConnector3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曲线连接符 29">
            <a:extLst>
              <a:ext uri="{FF2B5EF4-FFF2-40B4-BE49-F238E27FC236}">
                <a16:creationId xmlns:a16="http://schemas.microsoft.com/office/drawing/2014/main" id="{751D1CD6-FB26-FC76-BCA5-E15891FF8F49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rot="5400000">
            <a:off x="7160349" y="6575390"/>
            <a:ext cx="1935254" cy="1611086"/>
          </a:xfrm>
          <a:prstGeom prst="bentConnector3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曲线连接符 32">
            <a:extLst>
              <a:ext uri="{FF2B5EF4-FFF2-40B4-BE49-F238E27FC236}">
                <a16:creationId xmlns:a16="http://schemas.microsoft.com/office/drawing/2014/main" id="{3A2D481C-1BB0-BFFF-FD13-9CE6E0747FC0}"/>
              </a:ext>
            </a:extLst>
          </p:cNvPr>
          <p:cNvCxnSpPr>
            <a:cxnSpLocks/>
            <a:stCxn id="5" idx="3"/>
            <a:endCxn id="11" idx="0"/>
          </p:cNvCxnSpPr>
          <p:nvPr/>
        </p:nvCxnSpPr>
        <p:spPr>
          <a:xfrm>
            <a:off x="12053979" y="2788630"/>
            <a:ext cx="3748746" cy="1121490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曲线连接符 35">
            <a:extLst>
              <a:ext uri="{FF2B5EF4-FFF2-40B4-BE49-F238E27FC236}">
                <a16:creationId xmlns:a16="http://schemas.microsoft.com/office/drawing/2014/main" id="{4BC416E9-8AF8-7735-25A5-C9CC77197C00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 rot="16200000" flipH="1">
            <a:off x="16388511" y="3911630"/>
            <a:ext cx="2156434" cy="3328006"/>
          </a:xfrm>
          <a:prstGeom prst="bentConnector3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曲线连接符 39">
            <a:extLst>
              <a:ext uri="{FF2B5EF4-FFF2-40B4-BE49-F238E27FC236}">
                <a16:creationId xmlns:a16="http://schemas.microsoft.com/office/drawing/2014/main" id="{1AB1801B-0553-4A30-EBD6-D1F142391F52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 rot="5400000">
            <a:off x="18078574" y="7296405"/>
            <a:ext cx="1107412" cy="996900"/>
          </a:xfrm>
          <a:prstGeom prst="bentConnector3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曲线连接符 45">
            <a:extLst>
              <a:ext uri="{FF2B5EF4-FFF2-40B4-BE49-F238E27FC236}">
                <a16:creationId xmlns:a16="http://schemas.microsoft.com/office/drawing/2014/main" id="{B7B9DD96-8106-619D-050C-4175D0281342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 rot="5400000">
            <a:off x="11184695" y="6862470"/>
            <a:ext cx="1107418" cy="1864778"/>
          </a:xfrm>
          <a:prstGeom prst="bentConnector3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曲线连接符 50">
            <a:extLst>
              <a:ext uri="{FF2B5EF4-FFF2-40B4-BE49-F238E27FC236}">
                <a16:creationId xmlns:a16="http://schemas.microsoft.com/office/drawing/2014/main" id="{B6DEB254-4DEA-A8AB-BF4C-D5676D0315F3}"/>
              </a:ext>
            </a:extLst>
          </p:cNvPr>
          <p:cNvCxnSpPr>
            <a:cxnSpLocks/>
            <a:stCxn id="14" idx="2"/>
            <a:endCxn id="17" idx="0"/>
          </p:cNvCxnSpPr>
          <p:nvPr/>
        </p:nvCxnSpPr>
        <p:spPr>
          <a:xfrm rot="16200000" flipH="1">
            <a:off x="13089467" y="6822473"/>
            <a:ext cx="1107410" cy="1944760"/>
          </a:xfrm>
          <a:prstGeom prst="bentConnector3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曲线连接符 53">
            <a:extLst>
              <a:ext uri="{FF2B5EF4-FFF2-40B4-BE49-F238E27FC236}">
                <a16:creationId xmlns:a16="http://schemas.microsoft.com/office/drawing/2014/main" id="{70E4A161-C247-7A8F-02CD-ACEFA07AC111}"/>
              </a:ext>
            </a:extLst>
          </p:cNvPr>
          <p:cNvCxnSpPr>
            <a:cxnSpLocks/>
            <a:stCxn id="17" idx="2"/>
            <a:endCxn id="18" idx="0"/>
          </p:cNvCxnSpPr>
          <p:nvPr/>
        </p:nvCxnSpPr>
        <p:spPr>
          <a:xfrm rot="5400000">
            <a:off x="13228797" y="8635323"/>
            <a:ext cx="1086222" cy="1687288"/>
          </a:xfrm>
          <a:prstGeom prst="bentConnector3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曲线连接符 56">
            <a:extLst>
              <a:ext uri="{FF2B5EF4-FFF2-40B4-BE49-F238E27FC236}">
                <a16:creationId xmlns:a16="http://schemas.microsoft.com/office/drawing/2014/main" id="{74688DB7-AAC3-C3A9-8250-527955D61F46}"/>
              </a:ext>
            </a:extLst>
          </p:cNvPr>
          <p:cNvCxnSpPr>
            <a:cxnSpLocks/>
            <a:stCxn id="17" idx="2"/>
            <a:endCxn id="19" idx="0"/>
          </p:cNvCxnSpPr>
          <p:nvPr/>
        </p:nvCxnSpPr>
        <p:spPr>
          <a:xfrm rot="16200000" flipH="1">
            <a:off x="14883654" y="8667753"/>
            <a:ext cx="1086220" cy="1622428"/>
          </a:xfrm>
          <a:prstGeom prst="bentConnector3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曲线连接符 61">
            <a:extLst>
              <a:ext uri="{FF2B5EF4-FFF2-40B4-BE49-F238E27FC236}">
                <a16:creationId xmlns:a16="http://schemas.microsoft.com/office/drawing/2014/main" id="{27E0B401-0412-AE78-A809-FBDFD36AE89B}"/>
              </a:ext>
            </a:extLst>
          </p:cNvPr>
          <p:cNvCxnSpPr>
            <a:cxnSpLocks/>
            <a:stCxn id="8" idx="3"/>
            <a:endCxn id="11" idx="1"/>
          </p:cNvCxnSpPr>
          <p:nvPr/>
        </p:nvCxnSpPr>
        <p:spPr>
          <a:xfrm flipV="1">
            <a:off x="10308566" y="4203769"/>
            <a:ext cx="4501056" cy="1915888"/>
          </a:xfrm>
          <a:prstGeom prst="bentConnector3">
            <a:avLst>
              <a:gd name="adj1" fmla="val 25194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曲线连接符 66">
            <a:extLst>
              <a:ext uri="{FF2B5EF4-FFF2-40B4-BE49-F238E27FC236}">
                <a16:creationId xmlns:a16="http://schemas.microsoft.com/office/drawing/2014/main" id="{68864FF3-BBBD-5D93-A2A4-CEB61086A5F7}"/>
              </a:ext>
            </a:extLst>
          </p:cNvPr>
          <p:cNvCxnSpPr>
            <a:cxnSpLocks/>
            <a:stCxn id="11" idx="2"/>
            <a:endCxn id="14" idx="0"/>
          </p:cNvCxnSpPr>
          <p:nvPr/>
        </p:nvCxnSpPr>
        <p:spPr>
          <a:xfrm rot="5400000">
            <a:off x="13158543" y="4009668"/>
            <a:ext cx="2156434" cy="3131934"/>
          </a:xfrm>
          <a:prstGeom prst="bentConnector3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本框 72">
            <a:extLst>
              <a:ext uri="{FF2B5EF4-FFF2-40B4-BE49-F238E27FC236}">
                <a16:creationId xmlns:a16="http://schemas.microsoft.com/office/drawing/2014/main" id="{45BD9FBF-59D2-1883-651A-48C7E7FFE7DC}"/>
              </a:ext>
            </a:extLst>
          </p:cNvPr>
          <p:cNvSpPr txBox="1"/>
          <p:nvPr/>
        </p:nvSpPr>
        <p:spPr>
          <a:xfrm>
            <a:off x="6151472" y="3087766"/>
            <a:ext cx="47160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200" dirty="0">
                <a:solidFill>
                  <a:srgbClr val="555555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JetBrains Mono NL" panose="02000009000000000000" pitchFamily="49" charset="0"/>
              </a:rPr>
              <a:t>是</a:t>
            </a: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8486FA78-D6A2-D577-B7E0-43D958D5F0A8}"/>
              </a:ext>
            </a:extLst>
          </p:cNvPr>
          <p:cNvSpPr txBox="1"/>
          <p:nvPr/>
        </p:nvSpPr>
        <p:spPr>
          <a:xfrm>
            <a:off x="15931350" y="3130460"/>
            <a:ext cx="47160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200" dirty="0">
                <a:solidFill>
                  <a:srgbClr val="555555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JetBrains Mono NL" panose="02000009000000000000" pitchFamily="49" charset="0"/>
              </a:rPr>
              <a:t>否</a:t>
            </a: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3CBF8573-5D93-7DCB-C70B-D2F21A10E338}"/>
              </a:ext>
            </a:extLst>
          </p:cNvPr>
          <p:cNvSpPr txBox="1"/>
          <p:nvPr/>
        </p:nvSpPr>
        <p:spPr>
          <a:xfrm>
            <a:off x="3493592" y="5266068"/>
            <a:ext cx="47160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200" dirty="0">
                <a:solidFill>
                  <a:srgbClr val="555555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JetBrains Mono NL" panose="02000009000000000000" pitchFamily="49" charset="0"/>
              </a:rPr>
              <a:t>是</a:t>
            </a: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A02160D5-3106-634D-02E3-608EB4DEE2DF}"/>
              </a:ext>
            </a:extLst>
          </p:cNvPr>
          <p:cNvSpPr txBox="1"/>
          <p:nvPr/>
        </p:nvSpPr>
        <p:spPr>
          <a:xfrm>
            <a:off x="8971206" y="5261868"/>
            <a:ext cx="47160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200" dirty="0">
                <a:solidFill>
                  <a:srgbClr val="555555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JetBrains Mono NL" panose="02000009000000000000" pitchFamily="49" charset="0"/>
              </a:rPr>
              <a:t>否</a:t>
            </a: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D0B2D5B8-678B-436E-4685-ABAB35AE8540}"/>
              </a:ext>
            </a:extLst>
          </p:cNvPr>
          <p:cNvSpPr txBox="1"/>
          <p:nvPr/>
        </p:nvSpPr>
        <p:spPr>
          <a:xfrm>
            <a:off x="10940480" y="4900102"/>
            <a:ext cx="47160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200" dirty="0">
                <a:solidFill>
                  <a:srgbClr val="555555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JetBrains Mono NL" panose="02000009000000000000" pitchFamily="49" charset="0"/>
              </a:rPr>
              <a:t>否</a:t>
            </a: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0A0C4EEE-D3E6-D2EF-65FB-1149309FAC91}"/>
              </a:ext>
            </a:extLst>
          </p:cNvPr>
          <p:cNvSpPr txBox="1"/>
          <p:nvPr/>
        </p:nvSpPr>
        <p:spPr>
          <a:xfrm>
            <a:off x="6842828" y="7814374"/>
            <a:ext cx="47160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200" dirty="0">
                <a:solidFill>
                  <a:srgbClr val="555555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JetBrains Mono NL" panose="02000009000000000000" pitchFamily="49" charset="0"/>
              </a:rPr>
              <a:t>是</a:t>
            </a: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7ADB9118-762C-7764-3577-5309060BE9DA}"/>
              </a:ext>
            </a:extLst>
          </p:cNvPr>
          <p:cNvSpPr txBox="1"/>
          <p:nvPr/>
        </p:nvSpPr>
        <p:spPr>
          <a:xfrm>
            <a:off x="19220656" y="5882428"/>
            <a:ext cx="47160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200" dirty="0">
                <a:solidFill>
                  <a:srgbClr val="555555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JetBrains Mono NL" panose="02000009000000000000" pitchFamily="49" charset="0"/>
              </a:rPr>
              <a:t>否</a:t>
            </a: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A213BA25-6798-F7D6-A447-7DA5779E85CA}"/>
              </a:ext>
            </a:extLst>
          </p:cNvPr>
          <p:cNvSpPr txBox="1"/>
          <p:nvPr/>
        </p:nvSpPr>
        <p:spPr>
          <a:xfrm>
            <a:off x="12122828" y="5953902"/>
            <a:ext cx="47160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200" dirty="0">
                <a:solidFill>
                  <a:srgbClr val="555555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JetBrains Mono NL" panose="02000009000000000000" pitchFamily="49" charset="0"/>
              </a:rPr>
              <a:t>是</a:t>
            </a: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CC5D4331-DA2E-33A4-8D1E-2D97EAAC211E}"/>
              </a:ext>
            </a:extLst>
          </p:cNvPr>
          <p:cNvSpPr txBox="1"/>
          <p:nvPr/>
        </p:nvSpPr>
        <p:spPr>
          <a:xfrm>
            <a:off x="10267514" y="7814374"/>
            <a:ext cx="47160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200" dirty="0">
                <a:solidFill>
                  <a:srgbClr val="555555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JetBrains Mono NL" panose="02000009000000000000" pitchFamily="49" charset="0"/>
              </a:rPr>
              <a:t>是</a:t>
            </a: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ED8521E2-A2C2-7396-B34F-599A5E70146D}"/>
              </a:ext>
            </a:extLst>
          </p:cNvPr>
          <p:cNvSpPr txBox="1"/>
          <p:nvPr/>
        </p:nvSpPr>
        <p:spPr>
          <a:xfrm>
            <a:off x="14679614" y="7814374"/>
            <a:ext cx="47160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200" dirty="0">
                <a:solidFill>
                  <a:srgbClr val="555555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JetBrains Mono NL" panose="02000009000000000000" pitchFamily="49" charset="0"/>
              </a:rPr>
              <a:t>否</a:t>
            </a: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45D5F716-3051-BD6E-7AA4-2DFBC426A9D2}"/>
              </a:ext>
            </a:extLst>
          </p:cNvPr>
          <p:cNvSpPr txBox="1"/>
          <p:nvPr/>
        </p:nvSpPr>
        <p:spPr>
          <a:xfrm>
            <a:off x="15676446" y="6442670"/>
            <a:ext cx="47160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200" dirty="0">
                <a:solidFill>
                  <a:srgbClr val="555555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JetBrains Mono NL" panose="02000009000000000000" pitchFamily="49" charset="0"/>
              </a:rPr>
              <a:t>是</a:t>
            </a: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78225481-700E-A6EF-AA7D-FA877E798E1F}"/>
              </a:ext>
            </a:extLst>
          </p:cNvPr>
          <p:cNvSpPr txBox="1"/>
          <p:nvPr/>
        </p:nvSpPr>
        <p:spPr>
          <a:xfrm>
            <a:off x="17467566" y="7787818"/>
            <a:ext cx="65146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200" dirty="0">
                <a:solidFill>
                  <a:srgbClr val="555555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JetBrains Mono NL" panose="02000009000000000000" pitchFamily="49" charset="0"/>
              </a:rPr>
              <a:t>否</a:t>
            </a: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E4CF558-C064-43E6-04CB-2F98CF3B3596}"/>
              </a:ext>
            </a:extLst>
          </p:cNvPr>
          <p:cNvSpPr txBox="1"/>
          <p:nvPr/>
        </p:nvSpPr>
        <p:spPr>
          <a:xfrm>
            <a:off x="12366728" y="9516196"/>
            <a:ext cx="47160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200" dirty="0">
                <a:solidFill>
                  <a:srgbClr val="555555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JetBrains Mono NL" panose="02000009000000000000" pitchFamily="49" charset="0"/>
              </a:rPr>
              <a:t>是</a:t>
            </a: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562F69C5-14F4-C045-749F-B111DA3BE570}"/>
              </a:ext>
            </a:extLst>
          </p:cNvPr>
          <p:cNvSpPr txBox="1"/>
          <p:nvPr/>
        </p:nvSpPr>
        <p:spPr>
          <a:xfrm>
            <a:off x="16340088" y="9533538"/>
            <a:ext cx="47160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200" dirty="0">
                <a:solidFill>
                  <a:srgbClr val="555555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JetBrains Mono NL" panose="02000009000000000000" pitchFamily="49" charset="0"/>
              </a:rPr>
              <a:t>否</a:t>
            </a:r>
          </a:p>
        </p:txBody>
      </p:sp>
      <p:cxnSp>
        <p:nvCxnSpPr>
          <p:cNvPr id="123" name="曲线连接符 122">
            <a:extLst>
              <a:ext uri="{FF2B5EF4-FFF2-40B4-BE49-F238E27FC236}">
                <a16:creationId xmlns:a16="http://schemas.microsoft.com/office/drawing/2014/main" id="{93A201FF-A375-B575-776E-B9A65287D717}"/>
              </a:ext>
            </a:extLst>
          </p:cNvPr>
          <p:cNvCxnSpPr>
            <a:cxnSpLocks/>
            <a:stCxn id="12" idx="1"/>
            <a:endCxn id="14" idx="3"/>
          </p:cNvCxnSpPr>
          <p:nvPr/>
        </p:nvCxnSpPr>
        <p:spPr>
          <a:xfrm rot="10800000">
            <a:off x="13570986" y="6947501"/>
            <a:ext cx="4624900" cy="25400"/>
          </a:xfrm>
          <a:prstGeom prst="curvedConnector3">
            <a:avLst>
              <a:gd name="adj1" fmla="val 50000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空白页面，自由制作">
            <a:extLst>
              <a:ext uri="{FF2B5EF4-FFF2-40B4-BE49-F238E27FC236}">
                <a16:creationId xmlns:a16="http://schemas.microsoft.com/office/drawing/2014/main" id="{CF546A9B-70D9-3DAF-4EDA-9FDAFFD7ABD7}"/>
              </a:ext>
            </a:extLst>
          </p:cNvPr>
          <p:cNvSpPr txBox="1"/>
          <p:nvPr/>
        </p:nvSpPr>
        <p:spPr>
          <a:xfrm>
            <a:off x="882105" y="590745"/>
            <a:ext cx="7584562" cy="913711"/>
          </a:xfrm>
          <a:prstGeom prst="rect">
            <a:avLst/>
          </a:prstGeom>
          <a:ln w="12700">
            <a:miter lim="400000"/>
          </a:ln>
        </p:spPr>
        <p:txBody>
          <a:bodyPr wrap="square" lIns="71437" tIns="71437" rIns="71437" bIns="71437" anchor="ctr">
            <a:spAutoFit/>
          </a:bodyPr>
          <a:lstStyle>
            <a:lvl1pPr>
              <a:defRPr sz="6000" b="0">
                <a:solidFill>
                  <a:srgbClr val="6C6C6C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pPr algn="l"/>
            <a:r>
              <a:rPr lang="zh-CN" altLang="en-US" sz="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场景决策图</a:t>
            </a:r>
            <a:endParaRPr sz="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981689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空白页面，自由制作">
            <a:extLst>
              <a:ext uri="{FF2B5EF4-FFF2-40B4-BE49-F238E27FC236}">
                <a16:creationId xmlns:a16="http://schemas.microsoft.com/office/drawing/2014/main" id="{8F306089-E3D9-650D-6867-62386337DEC6}"/>
              </a:ext>
            </a:extLst>
          </p:cNvPr>
          <p:cNvSpPr txBox="1"/>
          <p:nvPr/>
        </p:nvSpPr>
        <p:spPr>
          <a:xfrm>
            <a:off x="882105" y="590745"/>
            <a:ext cx="7584562" cy="913711"/>
          </a:xfrm>
          <a:prstGeom prst="rect">
            <a:avLst/>
          </a:prstGeom>
          <a:ln w="12700">
            <a:miter lim="400000"/>
          </a:ln>
        </p:spPr>
        <p:txBody>
          <a:bodyPr wrap="square" lIns="71437" tIns="71437" rIns="71437" bIns="71437" anchor="ctr">
            <a:spAutoFit/>
          </a:bodyPr>
          <a:lstStyle>
            <a:lvl1pPr>
              <a:defRPr sz="6000" b="0">
                <a:solidFill>
                  <a:srgbClr val="6C6C6C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pPr algn="l"/>
            <a:r>
              <a:rPr lang="en-US" altLang="zh-CN" sz="50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NVSwitch</a:t>
            </a:r>
            <a:r>
              <a:rPr lang="zh-CN" altLang="en-US" sz="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的妙用</a:t>
            </a:r>
            <a:endParaRPr sz="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5CD3884-C415-F420-226A-F5E8AD5654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899" y="2885440"/>
            <a:ext cx="23120202" cy="8903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3197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8BC307-880E-BC5B-FDBC-5D0EDB9CE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>
            <a:extLst>
              <a:ext uri="{FF2B5EF4-FFF2-40B4-BE49-F238E27FC236}">
                <a16:creationId xmlns:a16="http://schemas.microsoft.com/office/drawing/2014/main" id="{5B826857-F37A-ECCC-8415-D8D47157C089}"/>
              </a:ext>
            </a:extLst>
          </p:cNvPr>
          <p:cNvSpPr/>
          <p:nvPr/>
        </p:nvSpPr>
        <p:spPr>
          <a:xfrm>
            <a:off x="11111618" y="5902777"/>
            <a:ext cx="2160764" cy="1910446"/>
          </a:xfrm>
          <a:prstGeom prst="roundRect">
            <a:avLst/>
          </a:prstGeom>
          <a:solidFill>
            <a:srgbClr val="DAE8FC"/>
          </a:solidFill>
          <a:ln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 err="1">
                <a:solidFill>
                  <a:srgbClr val="55555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NVSwitch</a:t>
            </a:r>
            <a:endParaRPr kumimoji="1" lang="zh-CN" altLang="en-US" sz="2400" dirty="0">
              <a:solidFill>
                <a:srgbClr val="555555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5BDA438B-F59B-7682-3889-E6059A3D17DC}"/>
              </a:ext>
            </a:extLst>
          </p:cNvPr>
          <p:cNvSpPr/>
          <p:nvPr/>
        </p:nvSpPr>
        <p:spPr>
          <a:xfrm>
            <a:off x="8042716" y="3836031"/>
            <a:ext cx="1317852" cy="587298"/>
          </a:xfrm>
          <a:prstGeom prst="roundRect">
            <a:avLst/>
          </a:prstGeom>
          <a:solidFill>
            <a:srgbClr val="D5E8D4"/>
          </a:solidFill>
          <a:ln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rgbClr val="55555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GPU-0</a:t>
            </a:r>
            <a:endParaRPr kumimoji="1" lang="zh-CN" altLang="en-US" sz="2000" dirty="0">
              <a:solidFill>
                <a:srgbClr val="555555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B9DBB7A0-A4A9-D17C-C17A-AFDEDF0616B6}"/>
              </a:ext>
            </a:extLst>
          </p:cNvPr>
          <p:cNvSpPr/>
          <p:nvPr/>
        </p:nvSpPr>
        <p:spPr>
          <a:xfrm>
            <a:off x="15023436" y="3836029"/>
            <a:ext cx="1317852" cy="587298"/>
          </a:xfrm>
          <a:prstGeom prst="roundRect">
            <a:avLst/>
          </a:prstGeom>
          <a:solidFill>
            <a:srgbClr val="FFE6CC"/>
          </a:solidFill>
          <a:ln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rgbClr val="55555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GPU-1</a:t>
            </a:r>
            <a:endParaRPr kumimoji="1" lang="zh-CN" altLang="en-US" sz="2000" dirty="0">
              <a:solidFill>
                <a:srgbClr val="555555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DBCD5BC6-DAEE-CD8B-E5A9-E54F02573B3F}"/>
              </a:ext>
            </a:extLst>
          </p:cNvPr>
          <p:cNvSpPr/>
          <p:nvPr/>
        </p:nvSpPr>
        <p:spPr>
          <a:xfrm>
            <a:off x="15023436" y="9292677"/>
            <a:ext cx="1317852" cy="587298"/>
          </a:xfrm>
          <a:prstGeom prst="roundRect">
            <a:avLst/>
          </a:prstGeom>
          <a:solidFill>
            <a:srgbClr val="F8CECC"/>
          </a:solidFill>
          <a:ln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rgbClr val="55555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GPU-3</a:t>
            </a:r>
            <a:endParaRPr kumimoji="1" lang="zh-CN" altLang="en-US" sz="2000" dirty="0">
              <a:solidFill>
                <a:srgbClr val="555555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45D127A0-9205-9C7D-6C09-4D705499C9A6}"/>
              </a:ext>
            </a:extLst>
          </p:cNvPr>
          <p:cNvSpPr/>
          <p:nvPr/>
        </p:nvSpPr>
        <p:spPr>
          <a:xfrm>
            <a:off x="8035898" y="9292677"/>
            <a:ext cx="1317852" cy="587298"/>
          </a:xfrm>
          <a:prstGeom prst="roundRect">
            <a:avLst/>
          </a:prstGeom>
          <a:solidFill>
            <a:srgbClr val="EEEEEE"/>
          </a:solidFill>
          <a:ln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rgbClr val="55555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GPU-2</a:t>
            </a:r>
            <a:endParaRPr kumimoji="1" lang="zh-CN" altLang="en-US" sz="2000" dirty="0">
              <a:solidFill>
                <a:srgbClr val="555555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D501AEF1-26DA-94EC-57E3-B51D8BDD518F}"/>
              </a:ext>
            </a:extLst>
          </p:cNvPr>
          <p:cNvCxnSpPr/>
          <p:nvPr/>
        </p:nvCxnSpPr>
        <p:spPr>
          <a:xfrm>
            <a:off x="9353750" y="4423327"/>
            <a:ext cx="1757868" cy="1479450"/>
          </a:xfrm>
          <a:prstGeom prst="straightConnector1">
            <a:avLst/>
          </a:prstGeom>
          <a:ln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0F7E6065-F91B-4A68-5549-215CFBA703F5}"/>
              </a:ext>
            </a:extLst>
          </p:cNvPr>
          <p:cNvCxnSpPr>
            <a:cxnSpLocks/>
          </p:cNvCxnSpPr>
          <p:nvPr/>
        </p:nvCxnSpPr>
        <p:spPr>
          <a:xfrm flipH="1">
            <a:off x="13272383" y="4423324"/>
            <a:ext cx="1751054" cy="1479452"/>
          </a:xfrm>
          <a:prstGeom prst="straightConnector1">
            <a:avLst/>
          </a:prstGeom>
          <a:ln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94D2A491-C9FC-AA6B-F20E-B4F5BDF63F54}"/>
              </a:ext>
            </a:extLst>
          </p:cNvPr>
          <p:cNvCxnSpPr>
            <a:cxnSpLocks/>
          </p:cNvCxnSpPr>
          <p:nvPr/>
        </p:nvCxnSpPr>
        <p:spPr>
          <a:xfrm flipH="1" flipV="1">
            <a:off x="13272383" y="7813223"/>
            <a:ext cx="1751050" cy="1479454"/>
          </a:xfrm>
          <a:prstGeom prst="straightConnector1">
            <a:avLst/>
          </a:prstGeom>
          <a:ln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08E3B793-7811-D148-7532-36DF9AB7F6E3}"/>
              </a:ext>
            </a:extLst>
          </p:cNvPr>
          <p:cNvCxnSpPr>
            <a:cxnSpLocks/>
          </p:cNvCxnSpPr>
          <p:nvPr/>
        </p:nvCxnSpPr>
        <p:spPr>
          <a:xfrm flipV="1">
            <a:off x="9353750" y="7813223"/>
            <a:ext cx="1757868" cy="1479450"/>
          </a:xfrm>
          <a:prstGeom prst="straightConnector1">
            <a:avLst/>
          </a:prstGeom>
          <a:ln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线箭头连接符 46">
            <a:extLst>
              <a:ext uri="{FF2B5EF4-FFF2-40B4-BE49-F238E27FC236}">
                <a16:creationId xmlns:a16="http://schemas.microsoft.com/office/drawing/2014/main" id="{2F15DC65-A8A6-83E5-4676-BC9A0E7E71FA}"/>
              </a:ext>
            </a:extLst>
          </p:cNvPr>
          <p:cNvCxnSpPr>
            <a:cxnSpLocks/>
          </p:cNvCxnSpPr>
          <p:nvPr/>
        </p:nvCxnSpPr>
        <p:spPr>
          <a:xfrm rot="10800000">
            <a:off x="9466038" y="4319041"/>
            <a:ext cx="1757868" cy="1479450"/>
          </a:xfrm>
          <a:prstGeom prst="straightConnector1">
            <a:avLst/>
          </a:prstGeom>
          <a:ln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线箭头连接符 47">
            <a:extLst>
              <a:ext uri="{FF2B5EF4-FFF2-40B4-BE49-F238E27FC236}">
                <a16:creationId xmlns:a16="http://schemas.microsoft.com/office/drawing/2014/main" id="{3C5FCB22-2665-8429-FD8F-7CDC6FC3AE9B}"/>
              </a:ext>
            </a:extLst>
          </p:cNvPr>
          <p:cNvCxnSpPr>
            <a:cxnSpLocks/>
          </p:cNvCxnSpPr>
          <p:nvPr/>
        </p:nvCxnSpPr>
        <p:spPr>
          <a:xfrm rot="10800000">
            <a:off x="9265518" y="4575713"/>
            <a:ext cx="1757868" cy="1479450"/>
          </a:xfrm>
          <a:prstGeom prst="straightConnector1">
            <a:avLst/>
          </a:prstGeom>
          <a:ln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线箭头连接符 48">
            <a:extLst>
              <a:ext uri="{FF2B5EF4-FFF2-40B4-BE49-F238E27FC236}">
                <a16:creationId xmlns:a16="http://schemas.microsoft.com/office/drawing/2014/main" id="{F473EECB-5CD4-6FCE-1F82-EF0D5D100BFB}"/>
              </a:ext>
            </a:extLst>
          </p:cNvPr>
          <p:cNvCxnSpPr>
            <a:cxnSpLocks/>
          </p:cNvCxnSpPr>
          <p:nvPr/>
        </p:nvCxnSpPr>
        <p:spPr>
          <a:xfrm rot="10800000">
            <a:off x="9161232" y="4688001"/>
            <a:ext cx="1757868" cy="1479450"/>
          </a:xfrm>
          <a:prstGeom prst="straightConnector1">
            <a:avLst/>
          </a:prstGeom>
          <a:ln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线箭头连接符 49">
            <a:extLst>
              <a:ext uri="{FF2B5EF4-FFF2-40B4-BE49-F238E27FC236}">
                <a16:creationId xmlns:a16="http://schemas.microsoft.com/office/drawing/2014/main" id="{E8EA3F3B-3EF3-9A5B-F98D-9463DAE1D283}"/>
              </a:ext>
            </a:extLst>
          </p:cNvPr>
          <p:cNvCxnSpPr>
            <a:cxnSpLocks/>
          </p:cNvCxnSpPr>
          <p:nvPr/>
        </p:nvCxnSpPr>
        <p:spPr>
          <a:xfrm rot="10800000" flipH="1">
            <a:off x="13384671" y="4535614"/>
            <a:ext cx="1751054" cy="1479452"/>
          </a:xfrm>
          <a:prstGeom prst="straightConnector1">
            <a:avLst/>
          </a:prstGeom>
          <a:ln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线箭头连接符 51">
            <a:extLst>
              <a:ext uri="{FF2B5EF4-FFF2-40B4-BE49-F238E27FC236}">
                <a16:creationId xmlns:a16="http://schemas.microsoft.com/office/drawing/2014/main" id="{490EFC74-99D9-42CE-75D3-375EAAC6801E}"/>
              </a:ext>
            </a:extLst>
          </p:cNvPr>
          <p:cNvCxnSpPr>
            <a:cxnSpLocks/>
          </p:cNvCxnSpPr>
          <p:nvPr/>
        </p:nvCxnSpPr>
        <p:spPr>
          <a:xfrm rot="10800000" flipH="1">
            <a:off x="13160069" y="4311032"/>
            <a:ext cx="1751054" cy="1479452"/>
          </a:xfrm>
          <a:prstGeom prst="straightConnector1">
            <a:avLst/>
          </a:prstGeom>
          <a:ln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线箭头连接符 52">
            <a:extLst>
              <a:ext uri="{FF2B5EF4-FFF2-40B4-BE49-F238E27FC236}">
                <a16:creationId xmlns:a16="http://schemas.microsoft.com/office/drawing/2014/main" id="{DF839BBE-D08E-8EC1-F542-E46EBB76A93D}"/>
              </a:ext>
            </a:extLst>
          </p:cNvPr>
          <p:cNvCxnSpPr>
            <a:cxnSpLocks/>
          </p:cNvCxnSpPr>
          <p:nvPr/>
        </p:nvCxnSpPr>
        <p:spPr>
          <a:xfrm rot="10800000" flipH="1">
            <a:off x="13480635" y="4648194"/>
            <a:ext cx="1751054" cy="1479452"/>
          </a:xfrm>
          <a:prstGeom prst="straightConnector1">
            <a:avLst/>
          </a:prstGeom>
          <a:ln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线箭头连接符 54">
            <a:extLst>
              <a:ext uri="{FF2B5EF4-FFF2-40B4-BE49-F238E27FC236}">
                <a16:creationId xmlns:a16="http://schemas.microsoft.com/office/drawing/2014/main" id="{9C3F7D3F-643C-3432-321E-85DFA39DB171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13403757" y="7723873"/>
            <a:ext cx="1751050" cy="1479454"/>
          </a:xfrm>
          <a:prstGeom prst="straightConnector1">
            <a:avLst/>
          </a:prstGeom>
          <a:ln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线箭头连接符 55">
            <a:extLst>
              <a:ext uri="{FF2B5EF4-FFF2-40B4-BE49-F238E27FC236}">
                <a16:creationId xmlns:a16="http://schemas.microsoft.com/office/drawing/2014/main" id="{2F9AE1A7-F351-1B86-AF1F-04F5326823BF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13235595" y="7981375"/>
            <a:ext cx="1751050" cy="1479454"/>
          </a:xfrm>
          <a:prstGeom prst="straightConnector1">
            <a:avLst/>
          </a:prstGeom>
          <a:ln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线箭头连接符 57">
            <a:extLst>
              <a:ext uri="{FF2B5EF4-FFF2-40B4-BE49-F238E27FC236}">
                <a16:creationId xmlns:a16="http://schemas.microsoft.com/office/drawing/2014/main" id="{471DA0FE-FB0D-A3AA-609A-B242A58B18D2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13146247" y="8112749"/>
            <a:ext cx="1751050" cy="1479454"/>
          </a:xfrm>
          <a:prstGeom prst="straightConnector1">
            <a:avLst/>
          </a:prstGeom>
          <a:ln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线箭头连接符 58">
            <a:extLst>
              <a:ext uri="{FF2B5EF4-FFF2-40B4-BE49-F238E27FC236}">
                <a16:creationId xmlns:a16="http://schemas.microsoft.com/office/drawing/2014/main" id="{49627D1A-85CE-D6BE-83D2-3DF52EED9F3D}"/>
              </a:ext>
            </a:extLst>
          </p:cNvPr>
          <p:cNvCxnSpPr>
            <a:cxnSpLocks/>
          </p:cNvCxnSpPr>
          <p:nvPr/>
        </p:nvCxnSpPr>
        <p:spPr>
          <a:xfrm rot="10800000" flipV="1">
            <a:off x="9453592" y="7928831"/>
            <a:ext cx="1757868" cy="1479450"/>
          </a:xfrm>
          <a:prstGeom prst="straightConnector1">
            <a:avLst/>
          </a:prstGeom>
          <a:ln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线箭头连接符 59">
            <a:extLst>
              <a:ext uri="{FF2B5EF4-FFF2-40B4-BE49-F238E27FC236}">
                <a16:creationId xmlns:a16="http://schemas.microsoft.com/office/drawing/2014/main" id="{B3268113-B61C-9C99-EBF9-171B9E72D8E8}"/>
              </a:ext>
            </a:extLst>
          </p:cNvPr>
          <p:cNvCxnSpPr>
            <a:cxnSpLocks/>
          </p:cNvCxnSpPr>
          <p:nvPr/>
        </p:nvCxnSpPr>
        <p:spPr>
          <a:xfrm rot="10800000" flipV="1">
            <a:off x="9553436" y="8044445"/>
            <a:ext cx="1757868" cy="1479450"/>
          </a:xfrm>
          <a:prstGeom prst="straightConnector1">
            <a:avLst/>
          </a:prstGeom>
          <a:ln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线箭头连接符 60">
            <a:extLst>
              <a:ext uri="{FF2B5EF4-FFF2-40B4-BE49-F238E27FC236}">
                <a16:creationId xmlns:a16="http://schemas.microsoft.com/office/drawing/2014/main" id="{B46DA9FB-D111-7E0F-229F-43D5684AFA1B}"/>
              </a:ext>
            </a:extLst>
          </p:cNvPr>
          <p:cNvCxnSpPr>
            <a:cxnSpLocks/>
          </p:cNvCxnSpPr>
          <p:nvPr/>
        </p:nvCxnSpPr>
        <p:spPr>
          <a:xfrm rot="10800000" flipV="1">
            <a:off x="9227610" y="7702859"/>
            <a:ext cx="1757868" cy="1479450"/>
          </a:xfrm>
          <a:prstGeom prst="straightConnector1">
            <a:avLst/>
          </a:prstGeom>
          <a:ln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圆角矩形 62">
            <a:extLst>
              <a:ext uri="{FF2B5EF4-FFF2-40B4-BE49-F238E27FC236}">
                <a16:creationId xmlns:a16="http://schemas.microsoft.com/office/drawing/2014/main" id="{975792D7-EF37-C27A-6756-F0F0062B4F54}"/>
              </a:ext>
            </a:extLst>
          </p:cNvPr>
          <p:cNvSpPr/>
          <p:nvPr/>
        </p:nvSpPr>
        <p:spPr>
          <a:xfrm>
            <a:off x="7644159" y="9973555"/>
            <a:ext cx="2101330" cy="587298"/>
          </a:xfrm>
          <a:prstGeom prst="roundRect">
            <a:avLst/>
          </a:prstGeom>
          <a:solidFill>
            <a:srgbClr val="EEEEEE"/>
          </a:solidFill>
          <a:ln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rgbClr val="676767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A0+A1+</a:t>
            </a:r>
            <a:r>
              <a:rPr kumimoji="1" lang="en-US" altLang="zh-CN" sz="2000" dirty="0">
                <a:solidFill>
                  <a:srgbClr val="44444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A2</a:t>
            </a:r>
            <a:r>
              <a:rPr kumimoji="1" lang="en-US" altLang="zh-CN" sz="2000" dirty="0">
                <a:solidFill>
                  <a:srgbClr val="676767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+A3</a:t>
            </a:r>
            <a:endParaRPr kumimoji="1" lang="zh-CN" altLang="en-US" sz="2000" dirty="0">
              <a:solidFill>
                <a:srgbClr val="676767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4" name="圆角矩形 63">
            <a:extLst>
              <a:ext uri="{FF2B5EF4-FFF2-40B4-BE49-F238E27FC236}">
                <a16:creationId xmlns:a16="http://schemas.microsoft.com/office/drawing/2014/main" id="{3C7ADB87-C512-736C-08C4-E672C9FF0451}"/>
              </a:ext>
            </a:extLst>
          </p:cNvPr>
          <p:cNvSpPr/>
          <p:nvPr/>
        </p:nvSpPr>
        <p:spPr>
          <a:xfrm>
            <a:off x="14638517" y="9973555"/>
            <a:ext cx="2101330" cy="587298"/>
          </a:xfrm>
          <a:prstGeom prst="roundRect">
            <a:avLst/>
          </a:prstGeom>
          <a:solidFill>
            <a:srgbClr val="F8CECC"/>
          </a:solidFill>
          <a:ln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rgbClr val="676767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A0+A1+A2+</a:t>
            </a:r>
            <a:r>
              <a:rPr kumimoji="1" lang="en-US" altLang="zh-CN" sz="2000" dirty="0">
                <a:solidFill>
                  <a:srgbClr val="44444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A3</a:t>
            </a:r>
            <a:endParaRPr kumimoji="1" lang="zh-CN" altLang="en-US" sz="2000" dirty="0">
              <a:solidFill>
                <a:srgbClr val="444444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5" name="圆角矩形 64">
            <a:extLst>
              <a:ext uri="{FF2B5EF4-FFF2-40B4-BE49-F238E27FC236}">
                <a16:creationId xmlns:a16="http://schemas.microsoft.com/office/drawing/2014/main" id="{51B3FC76-FB40-9456-3EE9-671CEA395285}"/>
              </a:ext>
            </a:extLst>
          </p:cNvPr>
          <p:cNvSpPr/>
          <p:nvPr/>
        </p:nvSpPr>
        <p:spPr>
          <a:xfrm>
            <a:off x="7662323" y="3146363"/>
            <a:ext cx="2101330" cy="587298"/>
          </a:xfrm>
          <a:prstGeom prst="roundRect">
            <a:avLst/>
          </a:prstGeom>
          <a:solidFill>
            <a:srgbClr val="D5E8D4"/>
          </a:solidFill>
          <a:ln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rgbClr val="44444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A0</a:t>
            </a:r>
            <a:r>
              <a:rPr kumimoji="1" lang="en-US" altLang="zh-CN" sz="2000" dirty="0">
                <a:solidFill>
                  <a:srgbClr val="55555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+</a:t>
            </a:r>
            <a:r>
              <a:rPr kumimoji="1" lang="en-US" altLang="zh-CN" sz="2000" dirty="0">
                <a:solidFill>
                  <a:srgbClr val="676767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A1+A2+A3</a:t>
            </a:r>
            <a:endParaRPr kumimoji="1" lang="zh-CN" altLang="en-US" sz="2000" dirty="0">
              <a:solidFill>
                <a:srgbClr val="676767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6" name="圆角矩形 65">
            <a:extLst>
              <a:ext uri="{FF2B5EF4-FFF2-40B4-BE49-F238E27FC236}">
                <a16:creationId xmlns:a16="http://schemas.microsoft.com/office/drawing/2014/main" id="{0AB14AEA-0392-BD7D-951B-9B948977D989}"/>
              </a:ext>
            </a:extLst>
          </p:cNvPr>
          <p:cNvSpPr/>
          <p:nvPr/>
        </p:nvSpPr>
        <p:spPr>
          <a:xfrm>
            <a:off x="14631698" y="3136151"/>
            <a:ext cx="2101328" cy="587298"/>
          </a:xfrm>
          <a:prstGeom prst="roundRect">
            <a:avLst/>
          </a:prstGeom>
          <a:solidFill>
            <a:srgbClr val="FFE6CC"/>
          </a:solidFill>
          <a:ln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rgbClr val="676767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A0+</a:t>
            </a:r>
            <a:r>
              <a:rPr kumimoji="1" lang="en-US" altLang="zh-CN" sz="2000" dirty="0">
                <a:solidFill>
                  <a:srgbClr val="44444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A1</a:t>
            </a:r>
            <a:r>
              <a:rPr kumimoji="1" lang="en-US" altLang="zh-CN" sz="2000" dirty="0">
                <a:solidFill>
                  <a:srgbClr val="676767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+A2+A3</a:t>
            </a:r>
            <a:endParaRPr kumimoji="1" lang="zh-CN" altLang="en-US" sz="2000" dirty="0">
              <a:solidFill>
                <a:srgbClr val="676767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5" name="空白页面，自由制作">
            <a:extLst>
              <a:ext uri="{FF2B5EF4-FFF2-40B4-BE49-F238E27FC236}">
                <a16:creationId xmlns:a16="http://schemas.microsoft.com/office/drawing/2014/main" id="{25B21A01-5DA6-DEE9-A5EA-D6875506CC55}"/>
              </a:ext>
            </a:extLst>
          </p:cNvPr>
          <p:cNvSpPr txBox="1"/>
          <p:nvPr/>
        </p:nvSpPr>
        <p:spPr>
          <a:xfrm>
            <a:off x="882104" y="590745"/>
            <a:ext cx="8279127" cy="913711"/>
          </a:xfrm>
          <a:prstGeom prst="rect">
            <a:avLst/>
          </a:prstGeom>
          <a:ln w="12700">
            <a:miter lim="400000"/>
          </a:ln>
        </p:spPr>
        <p:txBody>
          <a:bodyPr wrap="square" lIns="71437" tIns="71437" rIns="71437" bIns="71437" anchor="ctr">
            <a:spAutoFit/>
          </a:bodyPr>
          <a:lstStyle>
            <a:lvl1pPr>
              <a:defRPr sz="6000" b="0">
                <a:solidFill>
                  <a:srgbClr val="6C6C6C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pPr algn="l"/>
            <a:r>
              <a:rPr lang="en-US" altLang="zh-CN" sz="50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AllReduce</a:t>
            </a:r>
            <a:r>
              <a:rPr lang="zh-CN" altLang="en-US" sz="50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r>
              <a:rPr lang="en-US" altLang="zh-CN" sz="50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NVSwitch</a:t>
            </a:r>
            <a:r>
              <a:rPr lang="zh-CN" altLang="en-US" sz="50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实现</a:t>
            </a:r>
            <a:endParaRPr sz="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空白页面，自由制作">
            <a:extLst>
              <a:ext uri="{FF2B5EF4-FFF2-40B4-BE49-F238E27FC236}">
                <a16:creationId xmlns:a16="http://schemas.microsoft.com/office/drawing/2014/main" id="{C23AD9AE-35ED-A649-2219-302FC57A69E2}"/>
              </a:ext>
            </a:extLst>
          </p:cNvPr>
          <p:cNvSpPr txBox="1"/>
          <p:nvPr/>
        </p:nvSpPr>
        <p:spPr>
          <a:xfrm>
            <a:off x="8527175" y="2091251"/>
            <a:ext cx="7584562" cy="759822"/>
          </a:xfrm>
          <a:prstGeom prst="rect">
            <a:avLst/>
          </a:prstGeom>
          <a:ln w="12700">
            <a:miter lim="400000"/>
          </a:ln>
        </p:spPr>
        <p:txBody>
          <a:bodyPr wrap="square" lIns="71437" tIns="71437" rIns="71437" bIns="71437" anchor="ctr">
            <a:spAutoFit/>
          </a:bodyPr>
          <a:lstStyle>
            <a:lvl1pPr>
              <a:defRPr sz="6000" b="0">
                <a:solidFill>
                  <a:srgbClr val="6C6C6C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r>
              <a:rPr lang="en-US" altLang="zh-CN" sz="40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One-Shot</a:t>
            </a:r>
            <a:r>
              <a:rPr lang="zh-CN" altLang="en-US" sz="40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r>
              <a:rPr lang="en-US" altLang="zh-CN" sz="40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AllReduce</a:t>
            </a:r>
            <a:endParaRPr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147938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>
            <a:extLst>
              <a:ext uri="{FF2B5EF4-FFF2-40B4-BE49-F238E27FC236}">
                <a16:creationId xmlns:a16="http://schemas.microsoft.com/office/drawing/2014/main" id="{15315EF4-2C8A-9998-F10B-E181D116C0B1}"/>
              </a:ext>
            </a:extLst>
          </p:cNvPr>
          <p:cNvSpPr/>
          <p:nvPr/>
        </p:nvSpPr>
        <p:spPr>
          <a:xfrm>
            <a:off x="5491516" y="5894769"/>
            <a:ext cx="2160764" cy="1910446"/>
          </a:xfrm>
          <a:prstGeom prst="roundRect">
            <a:avLst/>
          </a:prstGeom>
          <a:solidFill>
            <a:srgbClr val="DAE8FC"/>
          </a:solidFill>
          <a:ln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 err="1">
                <a:solidFill>
                  <a:srgbClr val="55555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NVSwitch</a:t>
            </a:r>
            <a:endParaRPr kumimoji="1" lang="zh-CN" altLang="en-US" sz="2400" dirty="0">
              <a:solidFill>
                <a:srgbClr val="555555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23F9B8FC-4F2D-2B81-4B80-C5942BB8CEAE}"/>
              </a:ext>
            </a:extLst>
          </p:cNvPr>
          <p:cNvSpPr/>
          <p:nvPr/>
        </p:nvSpPr>
        <p:spPr>
          <a:xfrm>
            <a:off x="2422614" y="3828023"/>
            <a:ext cx="1317852" cy="587298"/>
          </a:xfrm>
          <a:prstGeom prst="roundRect">
            <a:avLst/>
          </a:prstGeom>
          <a:solidFill>
            <a:srgbClr val="D5E8D4"/>
          </a:solidFill>
          <a:ln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rgbClr val="55555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GPU-0</a:t>
            </a:r>
            <a:endParaRPr kumimoji="1" lang="zh-CN" altLang="en-US" sz="2000" dirty="0">
              <a:solidFill>
                <a:srgbClr val="555555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3641DB04-2A39-D565-D442-DA51DA3EE8E2}"/>
              </a:ext>
            </a:extLst>
          </p:cNvPr>
          <p:cNvSpPr/>
          <p:nvPr/>
        </p:nvSpPr>
        <p:spPr>
          <a:xfrm>
            <a:off x="9403334" y="3828021"/>
            <a:ext cx="1317852" cy="587298"/>
          </a:xfrm>
          <a:prstGeom prst="roundRect">
            <a:avLst/>
          </a:prstGeom>
          <a:solidFill>
            <a:srgbClr val="FFE6CC"/>
          </a:solidFill>
          <a:ln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rgbClr val="55555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GPU-1</a:t>
            </a:r>
            <a:endParaRPr kumimoji="1" lang="zh-CN" altLang="en-US" sz="2000" dirty="0">
              <a:solidFill>
                <a:srgbClr val="555555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93846E5A-26C2-DDD7-C2AB-27AFBCDAF485}"/>
              </a:ext>
            </a:extLst>
          </p:cNvPr>
          <p:cNvSpPr/>
          <p:nvPr/>
        </p:nvSpPr>
        <p:spPr>
          <a:xfrm>
            <a:off x="9403334" y="9284669"/>
            <a:ext cx="1317852" cy="587298"/>
          </a:xfrm>
          <a:prstGeom prst="roundRect">
            <a:avLst/>
          </a:prstGeom>
          <a:solidFill>
            <a:srgbClr val="F8CECC"/>
          </a:solidFill>
          <a:ln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rgbClr val="55555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GPU-3</a:t>
            </a:r>
            <a:endParaRPr kumimoji="1" lang="zh-CN" altLang="en-US" sz="2000" dirty="0">
              <a:solidFill>
                <a:srgbClr val="555555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EB140BE5-D7B2-D23B-5D0C-B9242E696B1A}"/>
              </a:ext>
            </a:extLst>
          </p:cNvPr>
          <p:cNvSpPr/>
          <p:nvPr/>
        </p:nvSpPr>
        <p:spPr>
          <a:xfrm>
            <a:off x="2415796" y="9284669"/>
            <a:ext cx="1317852" cy="587298"/>
          </a:xfrm>
          <a:prstGeom prst="roundRect">
            <a:avLst/>
          </a:prstGeom>
          <a:solidFill>
            <a:srgbClr val="EEEEEE"/>
          </a:solidFill>
          <a:ln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rgbClr val="55555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GPU-2</a:t>
            </a:r>
            <a:endParaRPr kumimoji="1" lang="zh-CN" altLang="en-US" sz="2000" dirty="0">
              <a:solidFill>
                <a:srgbClr val="555555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4AB2DAE7-60EB-AA6F-FACD-DDA10559FCD1}"/>
              </a:ext>
            </a:extLst>
          </p:cNvPr>
          <p:cNvCxnSpPr>
            <a:cxnSpLocks/>
          </p:cNvCxnSpPr>
          <p:nvPr/>
        </p:nvCxnSpPr>
        <p:spPr>
          <a:xfrm rot="10800000">
            <a:off x="3733648" y="4415319"/>
            <a:ext cx="1757868" cy="1479450"/>
          </a:xfrm>
          <a:prstGeom prst="straightConnector1">
            <a:avLst/>
          </a:prstGeom>
          <a:ln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BA44000F-CFFD-1427-FEA6-F33708D99C2A}"/>
              </a:ext>
            </a:extLst>
          </p:cNvPr>
          <p:cNvCxnSpPr>
            <a:cxnSpLocks/>
          </p:cNvCxnSpPr>
          <p:nvPr/>
        </p:nvCxnSpPr>
        <p:spPr>
          <a:xfrm rot="10800000" flipH="1">
            <a:off x="7652281" y="4415316"/>
            <a:ext cx="1751054" cy="1479452"/>
          </a:xfrm>
          <a:prstGeom prst="straightConnector1">
            <a:avLst/>
          </a:prstGeom>
          <a:ln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B800E0A5-A563-2735-783E-EBFE71A365FD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7652281" y="7805215"/>
            <a:ext cx="1751050" cy="1479454"/>
          </a:xfrm>
          <a:prstGeom prst="straightConnector1">
            <a:avLst/>
          </a:prstGeom>
          <a:ln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4F55DF0B-E3CD-37F4-E348-09D4666C5CB7}"/>
              </a:ext>
            </a:extLst>
          </p:cNvPr>
          <p:cNvCxnSpPr>
            <a:cxnSpLocks/>
          </p:cNvCxnSpPr>
          <p:nvPr/>
        </p:nvCxnSpPr>
        <p:spPr>
          <a:xfrm rot="10800000" flipV="1">
            <a:off x="3733648" y="7805215"/>
            <a:ext cx="1757868" cy="1479450"/>
          </a:xfrm>
          <a:prstGeom prst="straightConnector1">
            <a:avLst/>
          </a:prstGeom>
          <a:ln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线箭头连接符 46">
            <a:extLst>
              <a:ext uri="{FF2B5EF4-FFF2-40B4-BE49-F238E27FC236}">
                <a16:creationId xmlns:a16="http://schemas.microsoft.com/office/drawing/2014/main" id="{77A5F68E-FA38-BCB0-224C-28963213872A}"/>
              </a:ext>
            </a:extLst>
          </p:cNvPr>
          <p:cNvCxnSpPr>
            <a:cxnSpLocks/>
          </p:cNvCxnSpPr>
          <p:nvPr/>
        </p:nvCxnSpPr>
        <p:spPr>
          <a:xfrm>
            <a:off x="3845936" y="4311033"/>
            <a:ext cx="1757868" cy="1479450"/>
          </a:xfrm>
          <a:prstGeom prst="straightConnector1">
            <a:avLst/>
          </a:prstGeom>
          <a:ln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线箭头连接符 47">
            <a:extLst>
              <a:ext uri="{FF2B5EF4-FFF2-40B4-BE49-F238E27FC236}">
                <a16:creationId xmlns:a16="http://schemas.microsoft.com/office/drawing/2014/main" id="{45E08139-DBAC-2CA6-2860-56973B41FC6F}"/>
              </a:ext>
            </a:extLst>
          </p:cNvPr>
          <p:cNvCxnSpPr>
            <a:cxnSpLocks/>
          </p:cNvCxnSpPr>
          <p:nvPr/>
        </p:nvCxnSpPr>
        <p:spPr>
          <a:xfrm>
            <a:off x="3645416" y="4567705"/>
            <a:ext cx="1757868" cy="1479450"/>
          </a:xfrm>
          <a:prstGeom prst="straightConnector1">
            <a:avLst/>
          </a:prstGeom>
          <a:ln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线箭头连接符 48">
            <a:extLst>
              <a:ext uri="{FF2B5EF4-FFF2-40B4-BE49-F238E27FC236}">
                <a16:creationId xmlns:a16="http://schemas.microsoft.com/office/drawing/2014/main" id="{B090155A-D98F-557C-50A3-BA7EE12997CE}"/>
              </a:ext>
            </a:extLst>
          </p:cNvPr>
          <p:cNvCxnSpPr>
            <a:cxnSpLocks/>
          </p:cNvCxnSpPr>
          <p:nvPr/>
        </p:nvCxnSpPr>
        <p:spPr>
          <a:xfrm>
            <a:off x="3541130" y="4679993"/>
            <a:ext cx="1757868" cy="1479450"/>
          </a:xfrm>
          <a:prstGeom prst="straightConnector1">
            <a:avLst/>
          </a:prstGeom>
          <a:ln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线箭头连接符 49">
            <a:extLst>
              <a:ext uri="{FF2B5EF4-FFF2-40B4-BE49-F238E27FC236}">
                <a16:creationId xmlns:a16="http://schemas.microsoft.com/office/drawing/2014/main" id="{EA984EF8-9162-A3BC-60A1-F4D28DB7139A}"/>
              </a:ext>
            </a:extLst>
          </p:cNvPr>
          <p:cNvCxnSpPr>
            <a:cxnSpLocks/>
          </p:cNvCxnSpPr>
          <p:nvPr/>
        </p:nvCxnSpPr>
        <p:spPr>
          <a:xfrm flipH="1">
            <a:off x="7764569" y="4527606"/>
            <a:ext cx="1751054" cy="1479452"/>
          </a:xfrm>
          <a:prstGeom prst="straightConnector1">
            <a:avLst/>
          </a:prstGeom>
          <a:ln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线箭头连接符 51">
            <a:extLst>
              <a:ext uri="{FF2B5EF4-FFF2-40B4-BE49-F238E27FC236}">
                <a16:creationId xmlns:a16="http://schemas.microsoft.com/office/drawing/2014/main" id="{8263BA13-8A9A-1610-4C43-A01DF5E07E58}"/>
              </a:ext>
            </a:extLst>
          </p:cNvPr>
          <p:cNvCxnSpPr>
            <a:cxnSpLocks/>
          </p:cNvCxnSpPr>
          <p:nvPr/>
        </p:nvCxnSpPr>
        <p:spPr>
          <a:xfrm flipH="1">
            <a:off x="7539967" y="4303024"/>
            <a:ext cx="1751054" cy="1479452"/>
          </a:xfrm>
          <a:prstGeom prst="straightConnector1">
            <a:avLst/>
          </a:prstGeom>
          <a:ln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线箭头连接符 52">
            <a:extLst>
              <a:ext uri="{FF2B5EF4-FFF2-40B4-BE49-F238E27FC236}">
                <a16:creationId xmlns:a16="http://schemas.microsoft.com/office/drawing/2014/main" id="{7190CA4D-AE20-C8F8-3218-FE1DEF9BC072}"/>
              </a:ext>
            </a:extLst>
          </p:cNvPr>
          <p:cNvCxnSpPr>
            <a:cxnSpLocks/>
          </p:cNvCxnSpPr>
          <p:nvPr/>
        </p:nvCxnSpPr>
        <p:spPr>
          <a:xfrm flipH="1">
            <a:off x="7860533" y="4640186"/>
            <a:ext cx="1751054" cy="1479452"/>
          </a:xfrm>
          <a:prstGeom prst="straightConnector1">
            <a:avLst/>
          </a:prstGeom>
          <a:ln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线箭头连接符 54">
            <a:extLst>
              <a:ext uri="{FF2B5EF4-FFF2-40B4-BE49-F238E27FC236}">
                <a16:creationId xmlns:a16="http://schemas.microsoft.com/office/drawing/2014/main" id="{129AD34D-4C00-8E3D-97FF-F68D37DAD134}"/>
              </a:ext>
            </a:extLst>
          </p:cNvPr>
          <p:cNvCxnSpPr>
            <a:cxnSpLocks/>
          </p:cNvCxnSpPr>
          <p:nvPr/>
        </p:nvCxnSpPr>
        <p:spPr>
          <a:xfrm flipH="1" flipV="1">
            <a:off x="7750099" y="7682309"/>
            <a:ext cx="1751050" cy="1479454"/>
          </a:xfrm>
          <a:prstGeom prst="straightConnector1">
            <a:avLst/>
          </a:prstGeom>
          <a:ln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线箭头连接符 55">
            <a:extLst>
              <a:ext uri="{FF2B5EF4-FFF2-40B4-BE49-F238E27FC236}">
                <a16:creationId xmlns:a16="http://schemas.microsoft.com/office/drawing/2014/main" id="{0C5B94D7-D64C-2398-E5E7-5AAA3B2A35BA}"/>
              </a:ext>
            </a:extLst>
          </p:cNvPr>
          <p:cNvCxnSpPr>
            <a:cxnSpLocks/>
          </p:cNvCxnSpPr>
          <p:nvPr/>
        </p:nvCxnSpPr>
        <p:spPr>
          <a:xfrm flipH="1" flipV="1">
            <a:off x="7565159" y="7923033"/>
            <a:ext cx="1751050" cy="1479454"/>
          </a:xfrm>
          <a:prstGeom prst="straightConnector1">
            <a:avLst/>
          </a:prstGeom>
          <a:ln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线箭头连接符 57">
            <a:extLst>
              <a:ext uri="{FF2B5EF4-FFF2-40B4-BE49-F238E27FC236}">
                <a16:creationId xmlns:a16="http://schemas.microsoft.com/office/drawing/2014/main" id="{8A576FF8-947E-FB7F-7ED4-767271843CAB}"/>
              </a:ext>
            </a:extLst>
          </p:cNvPr>
          <p:cNvCxnSpPr>
            <a:cxnSpLocks/>
          </p:cNvCxnSpPr>
          <p:nvPr/>
        </p:nvCxnSpPr>
        <p:spPr>
          <a:xfrm flipH="1" flipV="1">
            <a:off x="7492589" y="8054407"/>
            <a:ext cx="1751050" cy="1479454"/>
          </a:xfrm>
          <a:prstGeom prst="straightConnector1">
            <a:avLst/>
          </a:prstGeom>
          <a:ln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线箭头连接符 58">
            <a:extLst>
              <a:ext uri="{FF2B5EF4-FFF2-40B4-BE49-F238E27FC236}">
                <a16:creationId xmlns:a16="http://schemas.microsoft.com/office/drawing/2014/main" id="{2426448D-2C51-BAE9-6A73-B8F75B6261D9}"/>
              </a:ext>
            </a:extLst>
          </p:cNvPr>
          <p:cNvCxnSpPr>
            <a:cxnSpLocks/>
          </p:cNvCxnSpPr>
          <p:nvPr/>
        </p:nvCxnSpPr>
        <p:spPr>
          <a:xfrm flipV="1">
            <a:off x="3833490" y="7920823"/>
            <a:ext cx="1757868" cy="1479450"/>
          </a:xfrm>
          <a:prstGeom prst="straightConnector1">
            <a:avLst/>
          </a:prstGeom>
          <a:ln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线箭头连接符 59">
            <a:extLst>
              <a:ext uri="{FF2B5EF4-FFF2-40B4-BE49-F238E27FC236}">
                <a16:creationId xmlns:a16="http://schemas.microsoft.com/office/drawing/2014/main" id="{90E96E09-F698-7177-1676-10A81373AA9B}"/>
              </a:ext>
            </a:extLst>
          </p:cNvPr>
          <p:cNvCxnSpPr>
            <a:cxnSpLocks/>
          </p:cNvCxnSpPr>
          <p:nvPr/>
        </p:nvCxnSpPr>
        <p:spPr>
          <a:xfrm flipV="1">
            <a:off x="3933334" y="8036437"/>
            <a:ext cx="1757868" cy="1479450"/>
          </a:xfrm>
          <a:prstGeom prst="straightConnector1">
            <a:avLst/>
          </a:prstGeom>
          <a:ln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线箭头连接符 60">
            <a:extLst>
              <a:ext uri="{FF2B5EF4-FFF2-40B4-BE49-F238E27FC236}">
                <a16:creationId xmlns:a16="http://schemas.microsoft.com/office/drawing/2014/main" id="{F1CFBCB8-DFA1-7839-3D50-73D768D650AA}"/>
              </a:ext>
            </a:extLst>
          </p:cNvPr>
          <p:cNvCxnSpPr>
            <a:cxnSpLocks/>
          </p:cNvCxnSpPr>
          <p:nvPr/>
        </p:nvCxnSpPr>
        <p:spPr>
          <a:xfrm flipV="1">
            <a:off x="3607508" y="7694851"/>
            <a:ext cx="1757868" cy="1479450"/>
          </a:xfrm>
          <a:prstGeom prst="straightConnector1">
            <a:avLst/>
          </a:prstGeom>
          <a:ln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圆角矩形 62">
            <a:extLst>
              <a:ext uri="{FF2B5EF4-FFF2-40B4-BE49-F238E27FC236}">
                <a16:creationId xmlns:a16="http://schemas.microsoft.com/office/drawing/2014/main" id="{306CCBC7-6E3A-8D59-1803-B545489865C6}"/>
              </a:ext>
            </a:extLst>
          </p:cNvPr>
          <p:cNvSpPr/>
          <p:nvPr/>
        </p:nvSpPr>
        <p:spPr>
          <a:xfrm>
            <a:off x="2024057" y="9965547"/>
            <a:ext cx="2101330" cy="587298"/>
          </a:xfrm>
          <a:prstGeom prst="roundRect">
            <a:avLst/>
          </a:prstGeom>
          <a:solidFill>
            <a:srgbClr val="EEEEEE"/>
          </a:solidFill>
          <a:ln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rgbClr val="676767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C0+C1+</a:t>
            </a:r>
            <a:r>
              <a:rPr kumimoji="1" lang="en-US" altLang="zh-CN" sz="2000" dirty="0">
                <a:solidFill>
                  <a:srgbClr val="44444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C2</a:t>
            </a:r>
            <a:r>
              <a:rPr kumimoji="1" lang="en-US" altLang="zh-CN" sz="2000" dirty="0">
                <a:solidFill>
                  <a:srgbClr val="676767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+C3</a:t>
            </a:r>
            <a:endParaRPr kumimoji="1" lang="zh-CN" altLang="en-US" sz="2000" dirty="0">
              <a:solidFill>
                <a:srgbClr val="676767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4" name="圆角矩形 63">
            <a:extLst>
              <a:ext uri="{FF2B5EF4-FFF2-40B4-BE49-F238E27FC236}">
                <a16:creationId xmlns:a16="http://schemas.microsoft.com/office/drawing/2014/main" id="{43C54389-E4B4-9796-D566-4F0D39855D8F}"/>
              </a:ext>
            </a:extLst>
          </p:cNvPr>
          <p:cNvSpPr/>
          <p:nvPr/>
        </p:nvSpPr>
        <p:spPr>
          <a:xfrm>
            <a:off x="9018415" y="9965547"/>
            <a:ext cx="2101330" cy="587298"/>
          </a:xfrm>
          <a:prstGeom prst="roundRect">
            <a:avLst/>
          </a:prstGeom>
          <a:solidFill>
            <a:srgbClr val="F8CECC"/>
          </a:solidFill>
          <a:ln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rgbClr val="676767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D0+D1+D2+</a:t>
            </a:r>
            <a:r>
              <a:rPr kumimoji="1" lang="en-US" altLang="zh-CN" sz="2000" dirty="0">
                <a:solidFill>
                  <a:srgbClr val="44444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D3</a:t>
            </a:r>
            <a:endParaRPr kumimoji="1" lang="zh-CN" altLang="en-US" sz="2000" dirty="0">
              <a:solidFill>
                <a:srgbClr val="444444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5" name="圆角矩形 64">
            <a:extLst>
              <a:ext uri="{FF2B5EF4-FFF2-40B4-BE49-F238E27FC236}">
                <a16:creationId xmlns:a16="http://schemas.microsoft.com/office/drawing/2014/main" id="{29745CB5-84C9-04BB-ECC7-2D9F8B908B10}"/>
              </a:ext>
            </a:extLst>
          </p:cNvPr>
          <p:cNvSpPr/>
          <p:nvPr/>
        </p:nvSpPr>
        <p:spPr>
          <a:xfrm>
            <a:off x="2042221" y="3138355"/>
            <a:ext cx="2101330" cy="587298"/>
          </a:xfrm>
          <a:prstGeom prst="roundRect">
            <a:avLst/>
          </a:prstGeom>
          <a:solidFill>
            <a:srgbClr val="D5E8D4"/>
          </a:solidFill>
          <a:ln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rgbClr val="44444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A0</a:t>
            </a:r>
            <a:r>
              <a:rPr kumimoji="1" lang="en-US" altLang="zh-CN" sz="2000" dirty="0">
                <a:solidFill>
                  <a:srgbClr val="55555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+</a:t>
            </a:r>
            <a:r>
              <a:rPr kumimoji="1" lang="en-US" altLang="zh-CN" sz="2000" dirty="0">
                <a:solidFill>
                  <a:srgbClr val="676767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A1+A2+A3</a:t>
            </a:r>
            <a:endParaRPr kumimoji="1" lang="zh-CN" altLang="en-US" sz="2000" dirty="0">
              <a:solidFill>
                <a:srgbClr val="676767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6" name="圆角矩形 65">
            <a:extLst>
              <a:ext uri="{FF2B5EF4-FFF2-40B4-BE49-F238E27FC236}">
                <a16:creationId xmlns:a16="http://schemas.microsoft.com/office/drawing/2014/main" id="{1EA25246-222F-D9A1-0741-98B3A2B22E9B}"/>
              </a:ext>
            </a:extLst>
          </p:cNvPr>
          <p:cNvSpPr/>
          <p:nvPr/>
        </p:nvSpPr>
        <p:spPr>
          <a:xfrm>
            <a:off x="9011596" y="3128143"/>
            <a:ext cx="2101328" cy="587298"/>
          </a:xfrm>
          <a:prstGeom prst="roundRect">
            <a:avLst/>
          </a:prstGeom>
          <a:solidFill>
            <a:srgbClr val="FFE6CC"/>
          </a:solidFill>
          <a:ln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rgbClr val="676767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B0+</a:t>
            </a:r>
            <a:r>
              <a:rPr kumimoji="1" lang="en-US" altLang="zh-CN" sz="2000" dirty="0">
                <a:solidFill>
                  <a:srgbClr val="44444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B1</a:t>
            </a:r>
            <a:r>
              <a:rPr kumimoji="1" lang="en-US" altLang="zh-CN" sz="2000" dirty="0">
                <a:solidFill>
                  <a:srgbClr val="676767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+B2+B3</a:t>
            </a:r>
            <a:endParaRPr kumimoji="1" lang="zh-CN" altLang="en-US" sz="2000" dirty="0">
              <a:solidFill>
                <a:srgbClr val="676767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DF5B227B-3FC6-4F5A-9BF6-AD93A0D2E439}"/>
              </a:ext>
            </a:extLst>
          </p:cNvPr>
          <p:cNvSpPr/>
          <p:nvPr/>
        </p:nvSpPr>
        <p:spPr>
          <a:xfrm>
            <a:off x="2024055" y="2400587"/>
            <a:ext cx="2101330" cy="587298"/>
          </a:xfrm>
          <a:prstGeom prst="roundRect">
            <a:avLst/>
          </a:prstGeom>
          <a:solidFill>
            <a:srgbClr val="D5E8D4"/>
          </a:solidFill>
          <a:ln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rgbClr val="44444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A0,B0,C0,D0</a:t>
            </a:r>
            <a:endParaRPr kumimoji="1" lang="zh-CN" altLang="en-US" sz="2000" dirty="0">
              <a:solidFill>
                <a:srgbClr val="676767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B63E2716-9BDE-791F-1D65-06425A3E82DC}"/>
              </a:ext>
            </a:extLst>
          </p:cNvPr>
          <p:cNvSpPr/>
          <p:nvPr/>
        </p:nvSpPr>
        <p:spPr>
          <a:xfrm>
            <a:off x="9011596" y="2392579"/>
            <a:ext cx="2101328" cy="587298"/>
          </a:xfrm>
          <a:prstGeom prst="roundRect">
            <a:avLst/>
          </a:prstGeom>
          <a:solidFill>
            <a:srgbClr val="FFE6CC"/>
          </a:solidFill>
          <a:ln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rgbClr val="44444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A1,B1,C1,D1</a:t>
            </a:r>
            <a:endParaRPr kumimoji="1" lang="zh-CN" altLang="en-US" sz="2000" dirty="0">
              <a:solidFill>
                <a:srgbClr val="676767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E7ADE7B2-0BFD-DD8E-83C6-A435F7BF5F76}"/>
              </a:ext>
            </a:extLst>
          </p:cNvPr>
          <p:cNvSpPr/>
          <p:nvPr/>
        </p:nvSpPr>
        <p:spPr>
          <a:xfrm>
            <a:off x="2024053" y="10703315"/>
            <a:ext cx="2101330" cy="587298"/>
          </a:xfrm>
          <a:prstGeom prst="roundRect">
            <a:avLst/>
          </a:prstGeom>
          <a:solidFill>
            <a:srgbClr val="EEEEEE"/>
          </a:solidFill>
          <a:ln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rgbClr val="44444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A2</a:t>
            </a:r>
            <a:r>
              <a:rPr kumimoji="1" lang="en-US" altLang="zh-CN" sz="2000" dirty="0">
                <a:solidFill>
                  <a:srgbClr val="676767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</a:t>
            </a:r>
            <a:r>
              <a:rPr kumimoji="1" lang="en-US" altLang="zh-CN" sz="2000" dirty="0">
                <a:solidFill>
                  <a:srgbClr val="44444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B2,C2,D2</a:t>
            </a:r>
            <a:endParaRPr kumimoji="1" lang="zh-CN" altLang="en-US" sz="2000" dirty="0">
              <a:solidFill>
                <a:srgbClr val="444444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51EB1419-6D8B-244C-D6BD-D4A86C1D6FFC}"/>
              </a:ext>
            </a:extLst>
          </p:cNvPr>
          <p:cNvSpPr/>
          <p:nvPr/>
        </p:nvSpPr>
        <p:spPr>
          <a:xfrm>
            <a:off x="9011597" y="10704417"/>
            <a:ext cx="2101330" cy="587298"/>
          </a:xfrm>
          <a:prstGeom prst="roundRect">
            <a:avLst/>
          </a:prstGeom>
          <a:solidFill>
            <a:srgbClr val="F8CECC"/>
          </a:solidFill>
          <a:ln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rgbClr val="44444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A3,B3,C3,D3</a:t>
            </a:r>
            <a:endParaRPr kumimoji="1" lang="zh-CN" altLang="en-US" sz="2000" dirty="0">
              <a:solidFill>
                <a:srgbClr val="444444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6C9FC5C-B3F4-F96D-17FE-E1FA73AD8D45}"/>
              </a:ext>
            </a:extLst>
          </p:cNvPr>
          <p:cNvSpPr txBox="1"/>
          <p:nvPr/>
        </p:nvSpPr>
        <p:spPr>
          <a:xfrm>
            <a:off x="4863738" y="2539854"/>
            <a:ext cx="34163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solidFill>
                  <a:srgbClr val="55555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Step 1: </a:t>
            </a:r>
            <a:r>
              <a:rPr kumimoji="1" lang="en-US" altLang="zh-CN" sz="2000" dirty="0" err="1">
                <a:solidFill>
                  <a:srgbClr val="55555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ReduceScatter</a:t>
            </a:r>
            <a:endParaRPr kumimoji="1" lang="zh-CN" altLang="en-US" sz="2000" dirty="0">
              <a:solidFill>
                <a:srgbClr val="555555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428237D6-C7D0-6AA4-A26A-EDE20436CC7F}"/>
              </a:ext>
            </a:extLst>
          </p:cNvPr>
          <p:cNvSpPr/>
          <p:nvPr/>
        </p:nvSpPr>
        <p:spPr>
          <a:xfrm>
            <a:off x="16729304" y="5894769"/>
            <a:ext cx="2160764" cy="1910446"/>
          </a:xfrm>
          <a:prstGeom prst="roundRect">
            <a:avLst/>
          </a:prstGeom>
          <a:solidFill>
            <a:srgbClr val="DAE8FC"/>
          </a:solidFill>
          <a:ln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 err="1">
                <a:solidFill>
                  <a:srgbClr val="55555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NVSwitch</a:t>
            </a:r>
            <a:endParaRPr kumimoji="1" lang="zh-CN" altLang="en-US" sz="2400" dirty="0">
              <a:solidFill>
                <a:srgbClr val="555555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BB6D408A-45C7-8193-0379-ECCCF0439DD6}"/>
              </a:ext>
            </a:extLst>
          </p:cNvPr>
          <p:cNvSpPr/>
          <p:nvPr/>
        </p:nvSpPr>
        <p:spPr>
          <a:xfrm>
            <a:off x="13660402" y="3828023"/>
            <a:ext cx="1317852" cy="587298"/>
          </a:xfrm>
          <a:prstGeom prst="roundRect">
            <a:avLst/>
          </a:prstGeom>
          <a:solidFill>
            <a:srgbClr val="D5E8D4"/>
          </a:solidFill>
          <a:ln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rgbClr val="55555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GPU-0</a:t>
            </a:r>
            <a:endParaRPr kumimoji="1" lang="zh-CN" altLang="en-US" sz="2000" dirty="0">
              <a:solidFill>
                <a:srgbClr val="555555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D5C833D5-17CF-55DE-B69F-30B52DB90CEC}"/>
              </a:ext>
            </a:extLst>
          </p:cNvPr>
          <p:cNvSpPr/>
          <p:nvPr/>
        </p:nvSpPr>
        <p:spPr>
          <a:xfrm>
            <a:off x="20641122" y="3828021"/>
            <a:ext cx="1317852" cy="587298"/>
          </a:xfrm>
          <a:prstGeom prst="roundRect">
            <a:avLst/>
          </a:prstGeom>
          <a:solidFill>
            <a:srgbClr val="FFE6CC"/>
          </a:solidFill>
          <a:ln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rgbClr val="55555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GPU-1</a:t>
            </a:r>
            <a:endParaRPr kumimoji="1" lang="zh-CN" altLang="en-US" sz="2000" dirty="0">
              <a:solidFill>
                <a:srgbClr val="555555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C5369A72-D4C8-1F56-BE3F-818735815BE5}"/>
              </a:ext>
            </a:extLst>
          </p:cNvPr>
          <p:cNvSpPr/>
          <p:nvPr/>
        </p:nvSpPr>
        <p:spPr>
          <a:xfrm>
            <a:off x="20641122" y="9284669"/>
            <a:ext cx="1317852" cy="587298"/>
          </a:xfrm>
          <a:prstGeom prst="roundRect">
            <a:avLst/>
          </a:prstGeom>
          <a:solidFill>
            <a:srgbClr val="F8CECC"/>
          </a:solidFill>
          <a:ln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rgbClr val="55555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GPU-3</a:t>
            </a:r>
            <a:endParaRPr kumimoji="1" lang="zh-CN" altLang="en-US" sz="2000" dirty="0">
              <a:solidFill>
                <a:srgbClr val="555555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09FDD03F-97EF-E254-2A3C-EFE48B864E06}"/>
              </a:ext>
            </a:extLst>
          </p:cNvPr>
          <p:cNvSpPr/>
          <p:nvPr/>
        </p:nvSpPr>
        <p:spPr>
          <a:xfrm>
            <a:off x="13653584" y="9284669"/>
            <a:ext cx="1317852" cy="587298"/>
          </a:xfrm>
          <a:prstGeom prst="roundRect">
            <a:avLst/>
          </a:prstGeom>
          <a:solidFill>
            <a:srgbClr val="EEEEEE"/>
          </a:solidFill>
          <a:ln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rgbClr val="55555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GPU-2</a:t>
            </a:r>
            <a:endParaRPr kumimoji="1" lang="zh-CN" altLang="en-US" sz="2000" dirty="0">
              <a:solidFill>
                <a:srgbClr val="555555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AC241B46-24C5-647A-D705-C64B188D808B}"/>
              </a:ext>
            </a:extLst>
          </p:cNvPr>
          <p:cNvCxnSpPr>
            <a:cxnSpLocks/>
          </p:cNvCxnSpPr>
          <p:nvPr/>
        </p:nvCxnSpPr>
        <p:spPr>
          <a:xfrm>
            <a:off x="14971436" y="4415319"/>
            <a:ext cx="1757868" cy="1479450"/>
          </a:xfrm>
          <a:prstGeom prst="straightConnector1">
            <a:avLst/>
          </a:prstGeom>
          <a:ln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D4B639CD-0855-67B1-E698-206798D51461}"/>
              </a:ext>
            </a:extLst>
          </p:cNvPr>
          <p:cNvCxnSpPr>
            <a:cxnSpLocks/>
          </p:cNvCxnSpPr>
          <p:nvPr/>
        </p:nvCxnSpPr>
        <p:spPr>
          <a:xfrm flipH="1">
            <a:off x="18890069" y="4415316"/>
            <a:ext cx="1751054" cy="1479452"/>
          </a:xfrm>
          <a:prstGeom prst="straightConnector1">
            <a:avLst/>
          </a:prstGeom>
          <a:ln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5C5DF44A-3F7E-BBFA-A6B3-B53AFB76D62C}"/>
              </a:ext>
            </a:extLst>
          </p:cNvPr>
          <p:cNvCxnSpPr>
            <a:cxnSpLocks/>
          </p:cNvCxnSpPr>
          <p:nvPr/>
        </p:nvCxnSpPr>
        <p:spPr>
          <a:xfrm flipH="1" flipV="1">
            <a:off x="18890069" y="7805215"/>
            <a:ext cx="1751050" cy="1479454"/>
          </a:xfrm>
          <a:prstGeom prst="straightConnector1">
            <a:avLst/>
          </a:prstGeom>
          <a:ln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B0CF5DF1-C1F2-A146-5986-5633E49BE662}"/>
              </a:ext>
            </a:extLst>
          </p:cNvPr>
          <p:cNvCxnSpPr>
            <a:cxnSpLocks/>
          </p:cNvCxnSpPr>
          <p:nvPr/>
        </p:nvCxnSpPr>
        <p:spPr>
          <a:xfrm flipV="1">
            <a:off x="14971436" y="7805215"/>
            <a:ext cx="1757868" cy="1479450"/>
          </a:xfrm>
          <a:prstGeom prst="straightConnector1">
            <a:avLst/>
          </a:prstGeom>
          <a:ln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957BD059-2686-7ADA-6EDE-463342FB8A00}"/>
              </a:ext>
            </a:extLst>
          </p:cNvPr>
          <p:cNvCxnSpPr>
            <a:cxnSpLocks/>
          </p:cNvCxnSpPr>
          <p:nvPr/>
        </p:nvCxnSpPr>
        <p:spPr>
          <a:xfrm rot="10800000">
            <a:off x="15083724" y="4311033"/>
            <a:ext cx="1757868" cy="1479450"/>
          </a:xfrm>
          <a:prstGeom prst="straightConnector1">
            <a:avLst/>
          </a:prstGeom>
          <a:ln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3500E78B-E221-3F37-FBFB-8A6E7C724484}"/>
              </a:ext>
            </a:extLst>
          </p:cNvPr>
          <p:cNvCxnSpPr>
            <a:cxnSpLocks/>
          </p:cNvCxnSpPr>
          <p:nvPr/>
        </p:nvCxnSpPr>
        <p:spPr>
          <a:xfrm rot="10800000">
            <a:off x="14883204" y="4567705"/>
            <a:ext cx="1757868" cy="1479450"/>
          </a:xfrm>
          <a:prstGeom prst="straightConnector1">
            <a:avLst/>
          </a:prstGeom>
          <a:ln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箭头连接符 24">
            <a:extLst>
              <a:ext uri="{FF2B5EF4-FFF2-40B4-BE49-F238E27FC236}">
                <a16:creationId xmlns:a16="http://schemas.microsoft.com/office/drawing/2014/main" id="{6A93C1DF-DEA5-5472-BCE1-EFCCFA03ACD3}"/>
              </a:ext>
            </a:extLst>
          </p:cNvPr>
          <p:cNvCxnSpPr>
            <a:cxnSpLocks/>
          </p:cNvCxnSpPr>
          <p:nvPr/>
        </p:nvCxnSpPr>
        <p:spPr>
          <a:xfrm rot="10800000">
            <a:off x="14778918" y="4679993"/>
            <a:ext cx="1757868" cy="1479450"/>
          </a:xfrm>
          <a:prstGeom prst="straightConnector1">
            <a:avLst/>
          </a:prstGeom>
          <a:ln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467DDF14-32D5-7FA9-4F15-AFC44D6A9203}"/>
              </a:ext>
            </a:extLst>
          </p:cNvPr>
          <p:cNvCxnSpPr>
            <a:cxnSpLocks/>
          </p:cNvCxnSpPr>
          <p:nvPr/>
        </p:nvCxnSpPr>
        <p:spPr>
          <a:xfrm rot="10800000" flipH="1">
            <a:off x="19002357" y="4527606"/>
            <a:ext cx="1751054" cy="1479452"/>
          </a:xfrm>
          <a:prstGeom prst="straightConnector1">
            <a:avLst/>
          </a:prstGeom>
          <a:ln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8147F845-A3DF-A581-BE4E-6036E602BE0B}"/>
              </a:ext>
            </a:extLst>
          </p:cNvPr>
          <p:cNvCxnSpPr>
            <a:cxnSpLocks/>
          </p:cNvCxnSpPr>
          <p:nvPr/>
        </p:nvCxnSpPr>
        <p:spPr>
          <a:xfrm rot="10800000" flipH="1">
            <a:off x="18777755" y="4303024"/>
            <a:ext cx="1751054" cy="1479452"/>
          </a:xfrm>
          <a:prstGeom prst="straightConnector1">
            <a:avLst/>
          </a:prstGeom>
          <a:ln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40E06843-0A0D-A0E1-59B2-8108E54AA4C8}"/>
              </a:ext>
            </a:extLst>
          </p:cNvPr>
          <p:cNvCxnSpPr>
            <a:cxnSpLocks/>
          </p:cNvCxnSpPr>
          <p:nvPr/>
        </p:nvCxnSpPr>
        <p:spPr>
          <a:xfrm rot="10800000" flipH="1">
            <a:off x="19098321" y="4640186"/>
            <a:ext cx="1751054" cy="1479452"/>
          </a:xfrm>
          <a:prstGeom prst="straightConnector1">
            <a:avLst/>
          </a:prstGeom>
          <a:ln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线箭头连接符 29">
            <a:extLst>
              <a:ext uri="{FF2B5EF4-FFF2-40B4-BE49-F238E27FC236}">
                <a16:creationId xmlns:a16="http://schemas.microsoft.com/office/drawing/2014/main" id="{13377E3A-04A3-04E5-7826-4F80DA8752E4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18987887" y="7682309"/>
            <a:ext cx="1751050" cy="1479454"/>
          </a:xfrm>
          <a:prstGeom prst="straightConnector1">
            <a:avLst/>
          </a:prstGeom>
          <a:ln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1AEDAC01-05B1-5975-660B-4253C0826B6C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18802947" y="7923033"/>
            <a:ext cx="1751050" cy="1479454"/>
          </a:xfrm>
          <a:prstGeom prst="straightConnector1">
            <a:avLst/>
          </a:prstGeom>
          <a:ln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线箭头连接符 32">
            <a:extLst>
              <a:ext uri="{FF2B5EF4-FFF2-40B4-BE49-F238E27FC236}">
                <a16:creationId xmlns:a16="http://schemas.microsoft.com/office/drawing/2014/main" id="{4D7651BE-F00C-D8A3-EFA2-0E6C830CA6E3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18730377" y="8054407"/>
            <a:ext cx="1751050" cy="1479454"/>
          </a:xfrm>
          <a:prstGeom prst="straightConnector1">
            <a:avLst/>
          </a:prstGeom>
          <a:ln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线箭头连接符 33">
            <a:extLst>
              <a:ext uri="{FF2B5EF4-FFF2-40B4-BE49-F238E27FC236}">
                <a16:creationId xmlns:a16="http://schemas.microsoft.com/office/drawing/2014/main" id="{D66D859C-9B6F-D78A-6A51-EA50AD110C55}"/>
              </a:ext>
            </a:extLst>
          </p:cNvPr>
          <p:cNvCxnSpPr>
            <a:cxnSpLocks/>
          </p:cNvCxnSpPr>
          <p:nvPr/>
        </p:nvCxnSpPr>
        <p:spPr>
          <a:xfrm rot="10800000" flipV="1">
            <a:off x="15071278" y="7920823"/>
            <a:ext cx="1757868" cy="1479450"/>
          </a:xfrm>
          <a:prstGeom prst="straightConnector1">
            <a:avLst/>
          </a:prstGeom>
          <a:ln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线箭头连接符 34">
            <a:extLst>
              <a:ext uri="{FF2B5EF4-FFF2-40B4-BE49-F238E27FC236}">
                <a16:creationId xmlns:a16="http://schemas.microsoft.com/office/drawing/2014/main" id="{52FBE50A-D59B-73E8-1405-7F2787C95974}"/>
              </a:ext>
            </a:extLst>
          </p:cNvPr>
          <p:cNvCxnSpPr>
            <a:cxnSpLocks/>
          </p:cNvCxnSpPr>
          <p:nvPr/>
        </p:nvCxnSpPr>
        <p:spPr>
          <a:xfrm rot="10800000" flipV="1">
            <a:off x="15171122" y="8036437"/>
            <a:ext cx="1757868" cy="1479450"/>
          </a:xfrm>
          <a:prstGeom prst="straightConnector1">
            <a:avLst/>
          </a:prstGeom>
          <a:ln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线箭头连接符 35">
            <a:extLst>
              <a:ext uri="{FF2B5EF4-FFF2-40B4-BE49-F238E27FC236}">
                <a16:creationId xmlns:a16="http://schemas.microsoft.com/office/drawing/2014/main" id="{0A32B40A-D313-E319-58F3-2D0883F2E4FE}"/>
              </a:ext>
            </a:extLst>
          </p:cNvPr>
          <p:cNvCxnSpPr>
            <a:cxnSpLocks/>
          </p:cNvCxnSpPr>
          <p:nvPr/>
        </p:nvCxnSpPr>
        <p:spPr>
          <a:xfrm rot="10800000" flipV="1">
            <a:off x="14845296" y="7694851"/>
            <a:ext cx="1757868" cy="1479450"/>
          </a:xfrm>
          <a:prstGeom prst="straightConnector1">
            <a:avLst/>
          </a:prstGeom>
          <a:ln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圆角矩形 36">
            <a:extLst>
              <a:ext uri="{FF2B5EF4-FFF2-40B4-BE49-F238E27FC236}">
                <a16:creationId xmlns:a16="http://schemas.microsoft.com/office/drawing/2014/main" id="{29DBD807-2B32-9EC5-1B80-9C4815EC20E0}"/>
              </a:ext>
            </a:extLst>
          </p:cNvPr>
          <p:cNvSpPr/>
          <p:nvPr/>
        </p:nvSpPr>
        <p:spPr>
          <a:xfrm>
            <a:off x="13176410" y="9982333"/>
            <a:ext cx="2272196" cy="1325066"/>
          </a:xfrm>
          <a:prstGeom prst="roundRect">
            <a:avLst/>
          </a:prstGeom>
          <a:solidFill>
            <a:srgbClr val="EEEEEE"/>
          </a:solidFill>
          <a:ln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rgbClr val="676767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A0+A1+A2+A3</a:t>
            </a:r>
          </a:p>
          <a:p>
            <a:pPr algn="ctr"/>
            <a:r>
              <a:rPr kumimoji="1" lang="en-US" altLang="zh-CN" sz="2000" dirty="0">
                <a:solidFill>
                  <a:srgbClr val="676767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B0+B1+B2+B3</a:t>
            </a:r>
          </a:p>
          <a:p>
            <a:pPr algn="ctr"/>
            <a:r>
              <a:rPr kumimoji="1" lang="en-US" altLang="zh-CN" sz="2000" dirty="0">
                <a:solidFill>
                  <a:srgbClr val="676767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C0+C1+C2+C3</a:t>
            </a:r>
          </a:p>
          <a:p>
            <a:pPr algn="ctr"/>
            <a:r>
              <a:rPr kumimoji="1" lang="en-US" altLang="zh-CN" sz="2000" dirty="0">
                <a:solidFill>
                  <a:srgbClr val="676767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D0+D1+D2+D3</a:t>
            </a:r>
            <a:endParaRPr kumimoji="1" lang="zh-CN" altLang="en-US" sz="2000" dirty="0">
              <a:solidFill>
                <a:srgbClr val="676767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025116AA-7682-135C-D4DE-F50C0A934B95}"/>
              </a:ext>
            </a:extLst>
          </p:cNvPr>
          <p:cNvSpPr/>
          <p:nvPr/>
        </p:nvSpPr>
        <p:spPr>
          <a:xfrm>
            <a:off x="20163950" y="9994871"/>
            <a:ext cx="2272196" cy="1325066"/>
          </a:xfrm>
          <a:prstGeom prst="roundRect">
            <a:avLst/>
          </a:prstGeom>
          <a:solidFill>
            <a:srgbClr val="F8CECC"/>
          </a:solidFill>
          <a:ln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rgbClr val="676767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A0+A1+A2+A3</a:t>
            </a:r>
          </a:p>
          <a:p>
            <a:pPr algn="ctr"/>
            <a:r>
              <a:rPr kumimoji="1" lang="en-US" altLang="zh-CN" sz="2000" dirty="0">
                <a:solidFill>
                  <a:srgbClr val="676767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B0+B1+B2+B3</a:t>
            </a:r>
          </a:p>
          <a:p>
            <a:pPr algn="ctr"/>
            <a:r>
              <a:rPr kumimoji="1" lang="en-US" altLang="zh-CN" sz="2000" dirty="0">
                <a:solidFill>
                  <a:srgbClr val="676767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C0+C1+C2+C3</a:t>
            </a:r>
          </a:p>
          <a:p>
            <a:pPr algn="ctr"/>
            <a:r>
              <a:rPr kumimoji="1" lang="en-US" altLang="zh-CN" sz="2000" dirty="0">
                <a:solidFill>
                  <a:srgbClr val="676767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D0+D1+D2+D3</a:t>
            </a:r>
            <a:endParaRPr kumimoji="1" lang="zh-CN" altLang="en-US" sz="2000" dirty="0">
              <a:solidFill>
                <a:srgbClr val="676767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9" name="圆角矩形 38">
            <a:extLst>
              <a:ext uri="{FF2B5EF4-FFF2-40B4-BE49-F238E27FC236}">
                <a16:creationId xmlns:a16="http://schemas.microsoft.com/office/drawing/2014/main" id="{C417DAC7-6423-F4D1-00F4-F3CE1AF2C824}"/>
              </a:ext>
            </a:extLst>
          </p:cNvPr>
          <p:cNvSpPr/>
          <p:nvPr/>
        </p:nvSpPr>
        <p:spPr>
          <a:xfrm>
            <a:off x="13176410" y="2392578"/>
            <a:ext cx="2272196" cy="1333076"/>
          </a:xfrm>
          <a:prstGeom prst="roundRect">
            <a:avLst/>
          </a:prstGeom>
          <a:solidFill>
            <a:srgbClr val="D5E8D4"/>
          </a:solidFill>
          <a:ln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rgbClr val="44444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A0</a:t>
            </a:r>
            <a:r>
              <a:rPr kumimoji="1" lang="en-US" altLang="zh-CN" sz="2000" dirty="0">
                <a:solidFill>
                  <a:srgbClr val="55555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+</a:t>
            </a:r>
            <a:r>
              <a:rPr kumimoji="1" lang="en-US" altLang="zh-CN" sz="2000" dirty="0">
                <a:solidFill>
                  <a:srgbClr val="676767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A1+A2+A3</a:t>
            </a:r>
          </a:p>
          <a:p>
            <a:pPr algn="ctr"/>
            <a:r>
              <a:rPr kumimoji="1" lang="en-US" altLang="zh-CN" sz="2000" dirty="0">
                <a:solidFill>
                  <a:srgbClr val="44444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B0</a:t>
            </a:r>
            <a:r>
              <a:rPr kumimoji="1" lang="en-US" altLang="zh-CN" sz="2000" dirty="0">
                <a:solidFill>
                  <a:srgbClr val="676767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+B1+B2+B3</a:t>
            </a:r>
            <a:endParaRPr kumimoji="1" lang="zh-CN" altLang="en-US" sz="2000" dirty="0">
              <a:solidFill>
                <a:srgbClr val="676767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  <a:p>
            <a:pPr algn="ctr"/>
            <a:r>
              <a:rPr kumimoji="1" lang="en-US" altLang="zh-CN" sz="2000" dirty="0">
                <a:solidFill>
                  <a:srgbClr val="44444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C0</a:t>
            </a:r>
            <a:r>
              <a:rPr kumimoji="1" lang="en-US" altLang="zh-CN" sz="2000" dirty="0">
                <a:solidFill>
                  <a:srgbClr val="676767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+C1+C2+C3</a:t>
            </a:r>
            <a:endParaRPr kumimoji="1" lang="zh-CN" altLang="en-US" sz="2000" dirty="0">
              <a:solidFill>
                <a:srgbClr val="676767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  <a:p>
            <a:pPr algn="ctr"/>
            <a:r>
              <a:rPr kumimoji="1" lang="en-US" altLang="zh-CN" sz="2000" dirty="0">
                <a:solidFill>
                  <a:srgbClr val="444444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D0</a:t>
            </a:r>
            <a:r>
              <a:rPr kumimoji="1" lang="en-US" altLang="zh-CN" sz="2000" dirty="0">
                <a:solidFill>
                  <a:srgbClr val="676767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+D1+D2+D3</a:t>
            </a:r>
            <a:endParaRPr kumimoji="1" lang="zh-CN" altLang="en-US" sz="2000" dirty="0">
              <a:solidFill>
                <a:srgbClr val="676767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CE21AE2E-DF59-C3B0-6914-073A5B356CB9}"/>
              </a:ext>
            </a:extLst>
          </p:cNvPr>
          <p:cNvSpPr/>
          <p:nvPr/>
        </p:nvSpPr>
        <p:spPr>
          <a:xfrm>
            <a:off x="20163950" y="2382364"/>
            <a:ext cx="2272196" cy="1333076"/>
          </a:xfrm>
          <a:prstGeom prst="roundRect">
            <a:avLst/>
          </a:prstGeom>
          <a:solidFill>
            <a:srgbClr val="FFE6CC"/>
          </a:solidFill>
          <a:ln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rgbClr val="676767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A0+A1+A2+A3</a:t>
            </a:r>
          </a:p>
          <a:p>
            <a:pPr algn="ctr"/>
            <a:r>
              <a:rPr kumimoji="1" lang="en-US" altLang="zh-CN" sz="2000" dirty="0">
                <a:solidFill>
                  <a:srgbClr val="676767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B0+B1+B2+B3</a:t>
            </a:r>
          </a:p>
          <a:p>
            <a:pPr algn="ctr"/>
            <a:r>
              <a:rPr kumimoji="1" lang="en-US" altLang="zh-CN" sz="2000" dirty="0">
                <a:solidFill>
                  <a:srgbClr val="676767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C0+C1+C2+C3</a:t>
            </a:r>
          </a:p>
          <a:p>
            <a:pPr algn="ctr"/>
            <a:r>
              <a:rPr kumimoji="1" lang="en-US" altLang="zh-CN" sz="2000" dirty="0">
                <a:solidFill>
                  <a:srgbClr val="676767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D0+D1+D2+D3</a:t>
            </a:r>
            <a:endParaRPr kumimoji="1" lang="zh-CN" altLang="en-US" sz="2000" dirty="0">
              <a:solidFill>
                <a:srgbClr val="676767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B8225352-E896-8C1E-51B8-F2E280EF7737}"/>
              </a:ext>
            </a:extLst>
          </p:cNvPr>
          <p:cNvSpPr txBox="1"/>
          <p:nvPr/>
        </p:nvSpPr>
        <p:spPr>
          <a:xfrm>
            <a:off x="16405894" y="2554236"/>
            <a:ext cx="28007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solidFill>
                  <a:srgbClr val="55555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Step 2: </a:t>
            </a:r>
            <a:r>
              <a:rPr kumimoji="1" lang="en-US" altLang="zh-CN" sz="2000" dirty="0" err="1">
                <a:solidFill>
                  <a:srgbClr val="55555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AllGather</a:t>
            </a:r>
            <a:endParaRPr kumimoji="1" lang="zh-CN" altLang="en-US" sz="2000" dirty="0">
              <a:solidFill>
                <a:srgbClr val="555555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2CD0D8D3-75D6-9408-A48C-0C18A0E04032}"/>
              </a:ext>
            </a:extLst>
          </p:cNvPr>
          <p:cNvSpPr txBox="1"/>
          <p:nvPr/>
        </p:nvSpPr>
        <p:spPr>
          <a:xfrm>
            <a:off x="5355146" y="3065760"/>
            <a:ext cx="24064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 err="1">
                <a:solidFill>
                  <a:srgbClr val="55555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multimem.ld_reduce</a:t>
            </a:r>
            <a:endParaRPr kumimoji="1" lang="zh-CN" altLang="en-US" sz="1600" dirty="0">
              <a:solidFill>
                <a:srgbClr val="555555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6B35D340-156F-E59E-6BBC-6AFFA905DF9C}"/>
              </a:ext>
            </a:extLst>
          </p:cNvPr>
          <p:cNvSpPr txBox="1"/>
          <p:nvPr/>
        </p:nvSpPr>
        <p:spPr>
          <a:xfrm>
            <a:off x="17082177" y="3046678"/>
            <a:ext cx="15424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 err="1">
                <a:solidFill>
                  <a:srgbClr val="555555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multimem.st</a:t>
            </a:r>
            <a:endParaRPr kumimoji="1" lang="zh-CN" altLang="en-US" sz="1600" dirty="0">
              <a:solidFill>
                <a:srgbClr val="555555"/>
              </a:solidFill>
              <a:latin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1" name="空白页面，自由制作">
            <a:extLst>
              <a:ext uri="{FF2B5EF4-FFF2-40B4-BE49-F238E27FC236}">
                <a16:creationId xmlns:a16="http://schemas.microsoft.com/office/drawing/2014/main" id="{BE4E067E-8042-8FA0-34F8-0274492505C2}"/>
              </a:ext>
            </a:extLst>
          </p:cNvPr>
          <p:cNvSpPr txBox="1"/>
          <p:nvPr/>
        </p:nvSpPr>
        <p:spPr>
          <a:xfrm>
            <a:off x="8640096" y="1474551"/>
            <a:ext cx="7584562" cy="759822"/>
          </a:xfrm>
          <a:prstGeom prst="rect">
            <a:avLst/>
          </a:prstGeom>
          <a:ln w="12700">
            <a:miter lim="400000"/>
          </a:ln>
        </p:spPr>
        <p:txBody>
          <a:bodyPr wrap="square" lIns="71437" tIns="71437" rIns="71437" bIns="71437" anchor="ctr">
            <a:spAutoFit/>
          </a:bodyPr>
          <a:lstStyle>
            <a:lvl1pPr>
              <a:defRPr sz="6000" b="0">
                <a:solidFill>
                  <a:srgbClr val="6C6C6C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r>
              <a:rPr lang="en-US" altLang="zh-CN" sz="40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Two-Shot</a:t>
            </a:r>
            <a:r>
              <a:rPr lang="zh-CN" altLang="en-US" sz="40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r>
              <a:rPr lang="en-US" altLang="zh-CN" sz="40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AllReduce</a:t>
            </a:r>
            <a:endParaRPr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51437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09FE651-9BA6-8515-AF81-DEAAEB7503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461" y="2865101"/>
            <a:ext cx="22561077" cy="8508490"/>
          </a:xfrm>
          <a:prstGeom prst="rect">
            <a:avLst/>
          </a:prstGeom>
        </p:spPr>
      </p:pic>
      <p:sp>
        <p:nvSpPr>
          <p:cNvPr id="6" name="空白页面，自由制作">
            <a:extLst>
              <a:ext uri="{FF2B5EF4-FFF2-40B4-BE49-F238E27FC236}">
                <a16:creationId xmlns:a16="http://schemas.microsoft.com/office/drawing/2014/main" id="{1537681B-EB8E-FB34-ADA4-2F3729627B89}"/>
              </a:ext>
            </a:extLst>
          </p:cNvPr>
          <p:cNvSpPr txBox="1"/>
          <p:nvPr/>
        </p:nvSpPr>
        <p:spPr>
          <a:xfrm>
            <a:off x="882105" y="590745"/>
            <a:ext cx="7584562" cy="913711"/>
          </a:xfrm>
          <a:prstGeom prst="rect">
            <a:avLst/>
          </a:prstGeom>
          <a:ln w="12700">
            <a:miter lim="400000"/>
          </a:ln>
        </p:spPr>
        <p:txBody>
          <a:bodyPr wrap="square" lIns="71437" tIns="71437" rIns="71437" bIns="71437" anchor="ctr">
            <a:spAutoFit/>
          </a:bodyPr>
          <a:lstStyle>
            <a:lvl1pPr>
              <a:defRPr sz="6000" b="0">
                <a:solidFill>
                  <a:srgbClr val="6C6C6C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pPr algn="l"/>
            <a:r>
              <a:rPr lang="zh-CN" altLang="en-US" sz="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不同通信算法比较</a:t>
            </a:r>
            <a:endParaRPr sz="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007707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D57A18-58B2-7ADE-3AC3-6830063E5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空白页面，自由制作">
            <a:extLst>
              <a:ext uri="{FF2B5EF4-FFF2-40B4-BE49-F238E27FC236}">
                <a16:creationId xmlns:a16="http://schemas.microsoft.com/office/drawing/2014/main" id="{CC077AFB-2744-DAE8-E2BB-C2DEC8E3FF19}"/>
              </a:ext>
            </a:extLst>
          </p:cNvPr>
          <p:cNvSpPr txBox="1"/>
          <p:nvPr/>
        </p:nvSpPr>
        <p:spPr>
          <a:xfrm>
            <a:off x="882105" y="590745"/>
            <a:ext cx="7584562" cy="913711"/>
          </a:xfrm>
          <a:prstGeom prst="rect">
            <a:avLst/>
          </a:prstGeom>
          <a:ln w="12700">
            <a:miter lim="400000"/>
          </a:ln>
        </p:spPr>
        <p:txBody>
          <a:bodyPr wrap="square" lIns="71437" tIns="71437" rIns="71437" bIns="71437" anchor="ctr">
            <a:spAutoFit/>
          </a:bodyPr>
          <a:lstStyle>
            <a:lvl1pPr>
              <a:defRPr sz="6000" b="0">
                <a:solidFill>
                  <a:srgbClr val="6C6C6C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pPr algn="l"/>
            <a:r>
              <a:rPr lang="zh-CN" altLang="en-US" sz="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未来展望</a:t>
            </a:r>
            <a:endParaRPr sz="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空白页面，自由制作">
            <a:extLst>
              <a:ext uri="{FF2B5EF4-FFF2-40B4-BE49-F238E27FC236}">
                <a16:creationId xmlns:a16="http://schemas.microsoft.com/office/drawing/2014/main" id="{FB5D75EB-30D0-74B8-2521-B5436106D77A}"/>
              </a:ext>
            </a:extLst>
          </p:cNvPr>
          <p:cNvSpPr txBox="1"/>
          <p:nvPr/>
        </p:nvSpPr>
        <p:spPr>
          <a:xfrm>
            <a:off x="8466667" y="3195136"/>
            <a:ext cx="9249171" cy="5684247"/>
          </a:xfrm>
          <a:prstGeom prst="rect">
            <a:avLst/>
          </a:prstGeom>
          <a:ln w="12700">
            <a:miter lim="400000"/>
          </a:ln>
        </p:spPr>
        <p:txBody>
          <a:bodyPr wrap="square" lIns="71437" tIns="71437" rIns="71437" bIns="71437" anchor="ctr">
            <a:spAutoFit/>
          </a:bodyPr>
          <a:lstStyle>
            <a:lvl1pPr>
              <a:defRPr sz="6000" b="0">
                <a:solidFill>
                  <a:srgbClr val="6C6C6C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pPr marL="742950" indent="-742950" algn="l">
              <a:buAutoNum type="arabicPeriod"/>
            </a:pPr>
            <a:r>
              <a:rPr lang="zh-CN" altLang="en-US" sz="4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下一代架构</a:t>
            </a:r>
            <a:r>
              <a:rPr lang="en-US" altLang="zh-CN" sz="4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(Blackwell/Rubin)</a:t>
            </a:r>
          </a:p>
          <a:p>
            <a:pPr marL="742950" indent="-742950" algn="l">
              <a:buAutoNum type="arabicPeriod"/>
            </a:pPr>
            <a:endParaRPr lang="en-US" sz="40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indent="-742950" algn="l">
              <a:buAutoNum type="arabicPeriod"/>
            </a:pPr>
            <a:r>
              <a:rPr lang="en-US" altLang="zh-CN" sz="4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TP/EP</a:t>
            </a:r>
            <a:r>
              <a:rPr lang="zh-CN" altLang="en-US" sz="4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等场景的通算融合</a:t>
            </a:r>
            <a:endParaRPr lang="en-US" altLang="zh-CN" sz="40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indent="-742950" algn="l">
              <a:buAutoNum type="arabicPeriod"/>
            </a:pPr>
            <a:endParaRPr lang="en-US" sz="40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indent="-742950" algn="l">
              <a:buAutoNum type="arabicPeriod"/>
            </a:pPr>
            <a:r>
              <a:rPr lang="zh-CN" altLang="en-US" sz="4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结合</a:t>
            </a:r>
            <a:r>
              <a:rPr lang="en-US" altLang="zh-CN" sz="4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FP8</a:t>
            </a:r>
            <a:r>
              <a:rPr lang="zh-CN" altLang="en-US" sz="4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4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GEMM</a:t>
            </a:r>
            <a:r>
              <a:rPr lang="zh-CN" altLang="en-US" sz="4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的通算融合</a:t>
            </a:r>
            <a:endParaRPr lang="en-US" altLang="zh-CN" sz="40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indent="-742950" algn="l">
              <a:buAutoNum type="arabicPeriod"/>
            </a:pPr>
            <a:endParaRPr lang="en-US" altLang="zh-CN" sz="40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indent="-742950" algn="l">
              <a:buAutoNum type="arabicPeriod"/>
            </a:pPr>
            <a:r>
              <a:rPr lang="en-US" altLang="zh-CN" sz="4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Scale-Out</a:t>
            </a:r>
            <a:r>
              <a:rPr lang="zh-CN" altLang="en-US" sz="4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域的通算融合</a:t>
            </a:r>
            <a:endParaRPr lang="en-US" altLang="zh-CN" sz="40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indent="-742950" algn="l">
              <a:buAutoNum type="arabicPeriod"/>
            </a:pPr>
            <a:endParaRPr lang="en-US" altLang="zh-CN" sz="40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indent="-742950" algn="l">
              <a:buAutoNum type="arabicPeriod"/>
            </a:pPr>
            <a:r>
              <a:rPr lang="en-US" altLang="zh-CN" sz="4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FA++?</a:t>
            </a:r>
          </a:p>
        </p:txBody>
      </p:sp>
    </p:spTree>
    <p:extLst>
      <p:ext uri="{BB962C8B-B14F-4D97-AF65-F5344CB8AC3E}">
        <p14:creationId xmlns:p14="http://schemas.microsoft.com/office/powerpoint/2010/main" val="24276512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HANKS"/>
          <p:cNvSpPr txBox="1"/>
          <p:nvPr/>
        </p:nvSpPr>
        <p:spPr>
          <a:xfrm>
            <a:off x="2036149" y="5651400"/>
            <a:ext cx="11685027" cy="2413200"/>
          </a:xfrm>
          <a:prstGeom prst="rect">
            <a:avLst/>
          </a:prstGeom>
          <a:ln w="12700">
            <a:miter lim="400000"/>
          </a:ln>
        </p:spPr>
        <p:txBody>
          <a:bodyPr lIns="71437" tIns="71437" rIns="71437" bIns="71437" anchor="ctr">
            <a:spAutoFit/>
          </a:bodyPr>
          <a:lstStyle>
            <a:lvl1pPr algn="l">
              <a:lnSpc>
                <a:spcPct val="70000"/>
              </a:lnSpc>
              <a:defRPr sz="16000" spc="-800">
                <a:solidFill>
                  <a:srgbClr val="323232"/>
                </a:solidFill>
                <a:latin typeface="Arial" panose="020B0704020202090204"/>
                <a:ea typeface="Arial" panose="020B0704020202090204"/>
                <a:cs typeface="Arial" panose="020B0704020202090204"/>
                <a:sym typeface="Arial" panose="020B0704020202090204"/>
              </a:defRPr>
            </a:lvl1pPr>
          </a:lstStyle>
          <a:p>
            <a:r>
              <a:t>THANKS</a:t>
            </a:r>
          </a:p>
        </p:txBody>
      </p:sp>
      <p:pic>
        <p:nvPicPr>
          <p:cNvPr id="151" name="logo-黑色.png" descr="logo-黑色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67655" y="12086919"/>
            <a:ext cx="2243998" cy="844073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Black">
  <a:themeElements>
    <a:clrScheme name="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0A89D"/>
      </a:accent2>
      <a:accent3>
        <a:srgbClr val="1DB100"/>
      </a:accent3>
      <a:accent4>
        <a:srgbClr val="F8BA00"/>
      </a:accent4>
      <a:accent5>
        <a:srgbClr val="EE220C"/>
      </a:accent5>
      <a:accent6>
        <a:srgbClr val="CB297B"/>
      </a:accent6>
      <a:hlink>
        <a:srgbClr val="0000FF"/>
      </a:hlink>
      <a:folHlink>
        <a:srgbClr val="FF00FF"/>
      </a:folHlink>
    </a:clrScheme>
    <a:fontScheme name="Black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lumOff val="13529"/>
          </a:schemeClr>
        </a:solidFill>
        <a:ln w="12700" cap="flat">
          <a:noFill/>
          <a:miter lim="400000"/>
        </a:ln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05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 panose="020005030000000200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05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1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" panose="02000503000000020004"/>
            <a:ea typeface="Helvetica Neue" panose="02000503000000020004"/>
            <a:cs typeface="Helvetica Neue" panose="02000503000000020004"/>
            <a:sym typeface="Helvetica Neue" panose="020005030000000200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lack">
  <a:themeElements>
    <a:clrScheme name="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0A89D"/>
      </a:accent2>
      <a:accent3>
        <a:srgbClr val="1DB100"/>
      </a:accent3>
      <a:accent4>
        <a:srgbClr val="F8BA00"/>
      </a:accent4>
      <a:accent5>
        <a:srgbClr val="EE220C"/>
      </a:accent5>
      <a:accent6>
        <a:srgbClr val="CB297B"/>
      </a:accent6>
      <a:hlink>
        <a:srgbClr val="0000FF"/>
      </a:hlink>
      <a:folHlink>
        <a:srgbClr val="FF00FF"/>
      </a:folHlink>
    </a:clrScheme>
    <a:fontScheme name="Black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lumOff val="13529"/>
          </a:schemeClr>
        </a:solidFill>
        <a:ln w="12700" cap="flat">
          <a:noFill/>
          <a:miter lim="400000"/>
        </a:ln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05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 panose="020005030000000200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05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1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" panose="02000503000000020004"/>
            <a:ea typeface="Helvetica Neue" panose="02000503000000020004"/>
            <a:cs typeface="Helvetica Neue" panose="02000503000000020004"/>
            <a:sym typeface="Helvetica Neue" panose="020005030000000200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1699</TotalTime>
  <Words>1028</Words>
  <Application>Microsoft Macintosh PowerPoint</Application>
  <PresentationFormat>自定义</PresentationFormat>
  <Paragraphs>343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1" baseType="lpstr">
      <vt:lpstr>DengXian</vt:lpstr>
      <vt:lpstr>微软雅黑</vt:lpstr>
      <vt:lpstr>Arial</vt:lpstr>
      <vt:lpstr>Cambria Math</vt:lpstr>
      <vt:lpstr>Helvetica Neue</vt:lpstr>
      <vt:lpstr>Helvetica Neue Light</vt:lpstr>
      <vt:lpstr>Helvetica Neue Medium</vt:lpstr>
      <vt:lpstr>JetBrains Mono Medium</vt:lpstr>
      <vt:lpstr>JetBrains Mono NL</vt:lpstr>
      <vt:lpstr>Black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Microsoft Office User</cp:lastModifiedBy>
  <cp:revision>197</cp:revision>
  <dcterms:created xsi:type="dcterms:W3CDTF">2020-09-22T06:13:12Z</dcterms:created>
  <dcterms:modified xsi:type="dcterms:W3CDTF">2026-03-13T09:28:14Z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1033-2.5.0.4070</vt:lpwstr>
  </property>
</Properties>
</file>